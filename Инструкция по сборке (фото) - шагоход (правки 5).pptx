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304" r:id="rId56"/>
    <p:sldId id="271" r:id="rId22"/>
    <p:sldId id="305" r:id="rId57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5" roundtripDataSignature="AMtx7mh2vXBypDoUZn2EDBrwGhJX3yow3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8" name="Школа Изобретателей Эра Инженеров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7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customschemas.google.com/relationships/presentationmetadata" Target="metadata"/><Relationship Id="rId56" Type="http://schemas.openxmlformats.org/officeDocument/2006/relationships/slide" Target="slides/slide16.xml"/><Relationship Id="rId57" Type="http://schemas.openxmlformats.org/officeDocument/2006/relationships/slide" Target="slides/slide18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10-06T07:12:44.419">
    <p:pos x="6000" y="0"/>
    <p:text>меняем в основном тексте длину винтов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IOBfFoc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10-06T07:13:28.142">
    <p:pos x="230" y="2718"/>
    <p:text>меняем комментарий на слайде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IOBfFog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10-06T07:15:27.054">
    <p:pos x="6000" y="0"/>
    <p:text>вставить фото или нарисовать 2 провода как этап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IOBfFok"/>
      </p:ext>
    </p:extLst>
  </p:cm>
  <p:cm authorId="0" idx="4" dt="2026-10-06T07:15:42.062">
    <p:pos x="6000" y="100"/>
    <p:text>перед этим слайдом вставить ТБ со стриппером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IOBfFoo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6-10-06T07:16:02.781">
    <p:pos x="6000" y="0"/>
    <p:text>над этим слайдом должен быть слайд с ТБ паяльником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IOBfFow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6" dt="2026-10-06T07:19:15.307">
    <p:pos x="201" y="449"/>
    <p:text>офрмляем по примеру ниже слайд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IOBfFo4"/>
      </p:ext>
    </p:extLst>
  </p:cm>
  <p:cm authorId="0" idx="7" dt="2026-10-06T07:20:56.759">
    <p:pos x="201" y="549"/>
    <p:text>все эти комментарии должны быть в слайдах подправлены. В уроках номера слайдов другие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IOBfFpA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8" dt="2026-10-06T07:24:12.869">
    <p:pos x="2966" y="1347"/>
    <p:text>шрифт мелкий, можно сделать больше 14-18. Обычно размер 18, если места хватает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IOBfFpI"/>
      </p:ext>
    </p:extLs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207" name="Google Shape;20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220" name="Google Shape;22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Цель слайда:</a:t>
            </a:r>
          </a:p>
          <a:p/>
          <a:p/>
          <a:p>
            <a:r>
              <a:t>Текст:</a:t>
            </a:r>
          </a:p>
          <a:p>
            <a:r>
              <a:t>	Устанавливаем винт, с другой стороны накручиваем гайку и отверткой закручиваем. Там где будет отвертка, мы плотно закручиваем.</a:t>
            </a:r>
          </a:p>
          <a:p/>
          <a:p>
            <a:r>
              <a:t>Примечания:</a:t>
            </a:r>
          </a:p>
          <a:p/>
          <a:p>
            <a:r>
              <a:t>В этом шаге используются винты М3х16 - 2 шт.</a:t>
            </a:r>
          </a:p>
        </p:txBody>
      </p:sp>
      <p:sp>
        <p:nvSpPr>
          <p:cNvPr id="236" name="Google Shape;23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249" name="Google Shape;24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261" name="Google Shape;26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h58a166da900a7e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269" name="Google Shape;269;h58a166da900a7e00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h58a166da900a7e0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281" name="Google Shape;281;h58a166da900a7e00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287" name="Google Shape;287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Неплотно фиксируем гайками. Необходимо чтобы вращались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294" name="Google Shape;294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Стенки расположены зеркально!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03" name="Google Shape;303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Цель слайда:</a:t>
            </a:r>
          </a:p>
          <a:p/>
          <a:p/>
          <a:p>
            <a:r>
              <a:t>Текст:</a:t>
            </a:r>
          </a:p>
          <a:p/>
          <a:p/>
          <a:p>
            <a:r>
              <a:t>Примечания:</a:t>
            </a:r>
          </a:p>
          <a:p/>
          <a:p>
            <a:r>
              <a:t>В этом шаге используются винты М3х16 - 2 шт.</a:t>
            </a:r>
          </a:p>
        </p:txBody>
      </p:sp>
      <p:sp>
        <p:nvSpPr>
          <p:cNvPr id="312" name="Google Shape;312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21" name="Google Shape;321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Фиксируем гайки клеем, чтобы они не раскручивались.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27" name="Google Shape;327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h58a166da900a7e00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h58a166da900a7e00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Цель слайда: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Показать, как подготовить два провода перед пайкой.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Текст: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Нарезаем два провода по 12-16 см, зачищаем концы на 5 мм и проверяем жилы.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Примечания: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Перед этим слайдом идёт техника безопасности со стриппером (съемником изоляции), после - техника безопасности с паяльником. Длина проводов указана прямо на слайде, без ссылок на другие номера слайдов.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Цель слайда: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Показать начало пайки: два провода, кнопка и плата.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Текст: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Паяем схему, как показано на фото.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Примечания: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Перед этим слайдом идёт техника безопасности с паяльником. Провода подготовлены на предыдущем слайде, длина 12-16 см. Ссылки на номера слайдов не давать - в уроках нумерация другая.</a:t>
            </a:r>
          </a:p>
        </p:txBody>
      </p:sp>
      <p:sp>
        <p:nvSpPr>
          <p:cNvPr id="343" name="Google Shape;343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53" name="Google Shape;353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60" name="Google Shape;360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h58a166da900a7e00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67" name="Google Shape;367;h58a166da900a7e00_0_2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74" name="Google Shape;374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81" name="Google Shape;381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87" name="Google Shape;387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93" name="Google Shape;393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99" name="Google Shape;399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Цель слайда: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Показать установку электроники в корпус.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Текст: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Электроника ставится так же, как кнопка и схема на слайде «Начнем пайку».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Примечания: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Раньше здесь была ссылка без номера - ребенок не понимал, куда смотреть. Теперь ссылка дана названием слайда: номера слайдов в уроках отличаются, поэтому в тексте номера не указываем. Рядом добавлено фото.</a:t>
            </a:r>
          </a:p>
        </p:txBody>
      </p:sp>
      <p:sp>
        <p:nvSpPr>
          <p:cNvPr id="405" name="Google Shape;405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Цель слайда: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Дать ребенку заранее подготовить все детали на занятие 2.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Текст: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Список деталей перед началом занятия.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Примечания: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Оформление - по образцу следующего слайда («Начинаем сборку!»). Итого гаек М3 нужно 10 шт.: стенка - 2, детали с винтами - 2, корпус - 3, вторая деталь - 3. На слайде «Начинаем сборку!» указано 8 гаек - там не посчитаны 2 гайки для деталей с винтами. Номера слайдов в тексте не указываем: в уроках нумерация другая.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h58a166da900a7e00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h58a166da900a7e00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35" name="Google Shape;435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41" name="Google Shape;441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49" name="Google Shape;449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55" name="Google Shape;455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62" name="Google Shape;462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69" name="Google Shape;469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76" name="Google Shape;476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82" name="Google Shape;482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Приклеиваем гайки к винту, НЕ К КОРПУСУ!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89" name="Google Shape;489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98" name="Google Shape;498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504" name="Google Shape;504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Приклеиваем гайки к винту, НЕ К КОРПУСУ!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511" name="Google Shape;511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h58a166da900a7e00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520" name="Google Shape;520;h58a166da900a7e00_0_4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h58a166da900a7e00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Приклеиваем гайки к винту, НЕ К КОРПУСУ!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527" name="Google Shape;527;h58a166da900a7e00_0_4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h571b35902b684027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Цель слайда: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Показать готовый результат - как шагоход ходит.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Текст: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Гифка работы шагохода.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Примечания: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Гифка (1,7 МБ) уже вставлена в слайд - подпись «Добавить гифку работы» была незакрытой задачей, заменена на название слайда.</a:t>
            </a:r>
          </a:p>
        </p:txBody>
      </p:sp>
      <p:sp>
        <p:nvSpPr>
          <p:cNvPr id="533" name="Google Shape;533;h571b35902b684027_0_1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9" name="Google Shape;539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Цель слайда: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Показать порядок поиска неисправности, чтобы не гадать.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0"/>
              <a:buChar char="●"/>
            </a:pPr>
            <a:r>
              <a:rPr b="1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Текст: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Пять проверок: питание, кнопка, провода, крепления, шайбы.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0"/>
              <a:buChar char="●"/>
            </a:pPr>
            <a:r>
              <a:rPr b="1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Примечания: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Попросите ребёнка называть каждый пункт вслух и отмечать выполненный. Чаще всего шагоход не едет из-за батареек, кнопки или ослабшей гайки.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9" name="Google Shape;549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Цель слайда: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Научить узнавать типовые неисправности по симптому.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0"/>
              <a:buChar char="●"/>
            </a:pPr>
            <a:r>
              <a:rPr b="1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Текст: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Шесть самых частых жалоб и что делать в каждом случае.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0"/>
              <a:buChar char="●"/>
            </a:pPr>
            <a:r>
              <a:rPr b="1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Примечания: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Таблицу можно распечатать и держать на рабочем столе при сборке.</a:t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3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" name="Google Shape;563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Цель слайда: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Показать готовые узлы, которые проверяем перед первым запуском.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Текст: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Четыре фото из инструкции с короткими подписями.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Примечания: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Фото взяты из других слайдов этой же инструкции (электроника, приклеивание, стенка, шайбы). Можно использовать как памятку - распечатать отдельно. Номера слайдов не указываем: в уроках нумерация другая.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Цель слайда: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Провести правила безопасности перед подготовкой проводов.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Текст: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Пять простых правил работы со стриппером (съемником изоляции).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Примечания: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Стриппер в этом проекте заменяет нож: снимает изоляцию с проводов 12-16 см. Следующий слайд - подготовка двух проводов. Правила короткие - назвать их вслух и показать движение руки.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Цель слайда: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Провести правила безопасности перед пайкой.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Текст: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Пять правил работы с паяльником и что делать при ожоге.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Примечания: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Паяльник применяется на слайде «Начнем пайку». Показать держатель, проверить, что волосы и рукава не свисают, проветрить комнату. При ожоге - холодная вода и взрослый.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info@obraz.pro" TargetMode="External"/><Relationship Id="rId5" Type="http://schemas.openxmlformats.org/officeDocument/2006/relationships/hyperlink" Target="mailto:info@obraz.pro" TargetMode="Externa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info@obraz.pro" TargetMode="External"/><Relationship Id="rId5" Type="http://schemas.openxmlformats.org/officeDocument/2006/relationships/hyperlink" Target="mailto:info@obraz.pro" TargetMode="Externa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4_1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1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4850" y="93616"/>
            <a:ext cx="3568444" cy="140338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43"/>
          <p:cNvSpPr/>
          <p:nvPr/>
        </p:nvSpPr>
        <p:spPr>
          <a:xfrm>
            <a:off x="6533344" y="1479547"/>
            <a:ext cx="25410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Сеть школ изобретателей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«Эра Инженеров»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43"/>
          <p:cNvSpPr txBox="1"/>
          <p:nvPr/>
        </p:nvSpPr>
        <p:spPr>
          <a:xfrm>
            <a:off x="6940596" y="1977092"/>
            <a:ext cx="20292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era.obraz.pro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info@obraz.pro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8 495 748 00 67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43"/>
          <p:cNvSpPr txBox="1"/>
          <p:nvPr>
            <p:ph type="title"/>
          </p:nvPr>
        </p:nvSpPr>
        <p:spPr>
          <a:xfrm>
            <a:off x="1616850" y="1546550"/>
            <a:ext cx="24840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A621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3"/>
          <p:cNvSpPr txBox="1"/>
          <p:nvPr>
            <p:ph idx="1" type="subTitle"/>
          </p:nvPr>
        </p:nvSpPr>
        <p:spPr>
          <a:xfrm>
            <a:off x="1359100" y="2108800"/>
            <a:ext cx="29994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3"/>
          <p:cNvSpPr txBox="1"/>
          <p:nvPr>
            <p:ph idx="2" type="subTitle"/>
          </p:nvPr>
        </p:nvSpPr>
        <p:spPr>
          <a:xfrm>
            <a:off x="6725225" y="4669700"/>
            <a:ext cx="22443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43"/>
          <p:cNvSpPr txBox="1"/>
          <p:nvPr>
            <p:ph idx="3" type="subTitle"/>
          </p:nvPr>
        </p:nvSpPr>
        <p:spPr>
          <a:xfrm>
            <a:off x="7639100" y="3878900"/>
            <a:ext cx="1330500" cy="85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ВЕДЕНИЕ">
  <p:cSld name="CUSTOM_2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4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4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4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44"/>
          <p:cNvSpPr txBox="1"/>
          <p:nvPr>
            <p:ph idx="1" type="subTitle"/>
          </p:nvPr>
        </p:nvSpPr>
        <p:spPr>
          <a:xfrm>
            <a:off x="4273700" y="772775"/>
            <a:ext cx="4534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A621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44"/>
          <p:cNvSpPr txBox="1"/>
          <p:nvPr>
            <p:ph idx="2" type="body"/>
          </p:nvPr>
        </p:nvSpPr>
        <p:spPr>
          <a:xfrm>
            <a:off x="4273700" y="1238950"/>
            <a:ext cx="3951000" cy="30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1" name="Google Shape;21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4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5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5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ВЕДЕНИЕ 1 1">
  <p:cSld name="CUSTOM_2_1_1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6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6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6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31" name="Google Shape;31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6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пасибо за занятие">
  <p:cSld name="CUSTOM_4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1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4850" y="93616"/>
            <a:ext cx="3568444" cy="1403389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7"/>
          <p:cNvSpPr/>
          <p:nvPr/>
        </p:nvSpPr>
        <p:spPr>
          <a:xfrm>
            <a:off x="1347394" y="1333688"/>
            <a:ext cx="3151800" cy="22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ru" sz="27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ЖДЕМ НА ЗАНЯТИЯХ В ШКОЛАХ ЭРЫ ИНЖЕНЕРОВ!!</a:t>
            </a:r>
            <a:endParaRPr b="0" i="0" sz="27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7"/>
          <p:cNvSpPr/>
          <p:nvPr/>
        </p:nvSpPr>
        <p:spPr>
          <a:xfrm>
            <a:off x="6533344" y="1479547"/>
            <a:ext cx="25410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Сеть школ изобретателей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«Эра Инженеров»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7"/>
          <p:cNvSpPr txBox="1"/>
          <p:nvPr/>
        </p:nvSpPr>
        <p:spPr>
          <a:xfrm>
            <a:off x="6940596" y="1977092"/>
            <a:ext cx="20292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era.obraz.pro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info@obraz.pro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8 495 748 00 67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ВЕДЕНИЕ 1">
  <p:cSld name="CUSTOM_2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8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8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8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48"/>
          <p:cNvSpPr txBox="1"/>
          <p:nvPr>
            <p:ph idx="1" type="subTitle"/>
          </p:nvPr>
        </p:nvSpPr>
        <p:spPr>
          <a:xfrm>
            <a:off x="4273700" y="772775"/>
            <a:ext cx="4534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48"/>
          <p:cNvSpPr txBox="1"/>
          <p:nvPr>
            <p:ph idx="2" type="body"/>
          </p:nvPr>
        </p:nvSpPr>
        <p:spPr>
          <a:xfrm>
            <a:off x="4273700" y="1238950"/>
            <a:ext cx="3951000" cy="30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45" name="Google Shape;45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8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">
  <p:cSld name="TITLE_2_3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49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49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9"/>
          <p:cNvSpPr txBox="1"/>
          <p:nvPr/>
        </p:nvSpPr>
        <p:spPr>
          <a:xfrm>
            <a:off x="933298" y="18380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РЕПЕТИЦИЯ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9"/>
          <p:cNvSpPr/>
          <p:nvPr/>
        </p:nvSpPr>
        <p:spPr>
          <a:xfrm flipH="1" rot="10800000">
            <a:off x="1085475" y="3118750"/>
            <a:ext cx="68619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9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49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">
  <p:cSld name="TITLE_3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0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0"/>
          <p:cNvSpPr txBox="1"/>
          <p:nvPr>
            <p:ph type="title"/>
          </p:nvPr>
        </p:nvSpPr>
        <p:spPr>
          <a:xfrm>
            <a:off x="1580550" y="886775"/>
            <a:ext cx="5982900" cy="16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50"/>
          <p:cNvSpPr txBox="1"/>
          <p:nvPr>
            <p:ph idx="1" type="subTitle"/>
          </p:nvPr>
        </p:nvSpPr>
        <p:spPr>
          <a:xfrm>
            <a:off x="1586400" y="2530475"/>
            <a:ext cx="59712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50"/>
          <p:cNvSpPr txBox="1"/>
          <p:nvPr>
            <p:ph idx="2" type="body"/>
          </p:nvPr>
        </p:nvSpPr>
        <p:spPr>
          <a:xfrm>
            <a:off x="0" y="4694100"/>
            <a:ext cx="64914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60" name="Google Shape;60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50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">
  <p:cSld name="TITLE_2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51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9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1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1"/>
          <p:cNvSpPr txBox="1"/>
          <p:nvPr/>
        </p:nvSpPr>
        <p:spPr>
          <a:xfrm>
            <a:off x="933298" y="18380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ПЕРЕРЫВ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51"/>
          <p:cNvSpPr/>
          <p:nvPr/>
        </p:nvSpPr>
        <p:spPr>
          <a:xfrm flipH="1" rot="10800000">
            <a:off x="1836964" y="3118757"/>
            <a:ext cx="52743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1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" name="Google Shape;6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51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">
  <p:cSld name="TITLE_2_3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52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52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2"/>
          <p:cNvSpPr txBox="1"/>
          <p:nvPr/>
        </p:nvSpPr>
        <p:spPr>
          <a:xfrm>
            <a:off x="933298" y="18380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ВИКТОРИНА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52"/>
          <p:cNvSpPr/>
          <p:nvPr/>
        </p:nvSpPr>
        <p:spPr>
          <a:xfrm flipH="1" rot="10800000">
            <a:off x="1206075" y="3118750"/>
            <a:ext cx="66390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2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52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 2">
  <p:cSld name="TITLE_2_3_1_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53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53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3"/>
          <p:cNvSpPr txBox="1"/>
          <p:nvPr/>
        </p:nvSpPr>
        <p:spPr>
          <a:xfrm>
            <a:off x="530725" y="1838100"/>
            <a:ext cx="80619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ЧТО ДАЛЬШЕ?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53"/>
          <p:cNvSpPr/>
          <p:nvPr/>
        </p:nvSpPr>
        <p:spPr>
          <a:xfrm flipH="1" rot="10800000">
            <a:off x="627225" y="3118750"/>
            <a:ext cx="77184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3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53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 1">
  <p:cSld name="TITLE_2_3_1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4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4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4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ПОВТОРЕНИЕ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54"/>
          <p:cNvSpPr/>
          <p:nvPr/>
        </p:nvSpPr>
        <p:spPr>
          <a:xfrm flipH="1" rot="10800000">
            <a:off x="844300" y="3118750"/>
            <a:ext cx="74469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4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54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 1 1">
  <p:cSld name="TITLE_2_3_1_1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55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55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5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ЗАЩИТА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5"/>
          <p:cNvSpPr/>
          <p:nvPr/>
        </p:nvSpPr>
        <p:spPr>
          <a:xfrm flipH="1" rot="10800000">
            <a:off x="2255275" y="3118750"/>
            <a:ext cx="46431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5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55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 1 1 1">
  <p:cSld name="TITLE_2_3_1_1_1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56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56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6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ПРАКТИКА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6"/>
          <p:cNvSpPr/>
          <p:nvPr/>
        </p:nvSpPr>
        <p:spPr>
          <a:xfrm flipH="1" rot="10800000">
            <a:off x="1718625" y="3118750"/>
            <a:ext cx="57165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6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56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 1 1 1 1">
  <p:cSld name="TITLE_2_3_1_1_1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57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7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7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ТЕОРИЯ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7"/>
          <p:cNvSpPr/>
          <p:nvPr/>
        </p:nvSpPr>
        <p:spPr>
          <a:xfrm flipH="1" rot="10800000">
            <a:off x="2255275" y="3118750"/>
            <a:ext cx="46431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7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7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ОРЕВНОВАНИЯ">
  <p:cSld name="CUSTOM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58"/>
          <p:cNvPicPr preferRelativeResize="0"/>
          <p:nvPr/>
        </p:nvPicPr>
        <p:blipFill rotWithShape="1">
          <a:blip r:embed="rId2">
            <a:alphaModFix/>
          </a:blip>
          <a:srcRect b="907" l="0" r="0" t="15609"/>
          <a:stretch/>
        </p:blipFill>
        <p:spPr>
          <a:xfrm>
            <a:off x="-9450" y="0"/>
            <a:ext cx="9153450" cy="508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8"/>
          <p:cNvSpPr/>
          <p:nvPr/>
        </p:nvSpPr>
        <p:spPr>
          <a:xfrm>
            <a:off x="-14215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8"/>
          <p:cNvSpPr txBox="1"/>
          <p:nvPr/>
        </p:nvSpPr>
        <p:spPr>
          <a:xfrm>
            <a:off x="89119" y="1838081"/>
            <a:ext cx="89178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ru" sz="72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СОРЕВНОВАНИЯ</a:t>
            </a:r>
            <a:endParaRPr b="0" i="0" sz="72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8"/>
          <p:cNvSpPr/>
          <p:nvPr/>
        </p:nvSpPr>
        <p:spPr>
          <a:xfrm flipH="1" rot="10800000">
            <a:off x="700238" y="2942156"/>
            <a:ext cx="77535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8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58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годня на занятии 1">
  <p:cSld name="CUSTOM_1_1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9"/>
          <p:cNvSpPr/>
          <p:nvPr/>
        </p:nvSpPr>
        <p:spPr>
          <a:xfrm>
            <a:off x="262584" y="747211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9"/>
          <p:cNvSpPr/>
          <p:nvPr/>
        </p:nvSpPr>
        <p:spPr>
          <a:xfrm>
            <a:off x="260521" y="2406827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1166" y="845017"/>
            <a:ext cx="338788" cy="33878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9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605" y="2496156"/>
            <a:ext cx="361254" cy="36125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59"/>
          <p:cNvSpPr/>
          <p:nvPr/>
        </p:nvSpPr>
        <p:spPr>
          <a:xfrm>
            <a:off x="260559" y="1553586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344" y="1654361"/>
            <a:ext cx="338367" cy="338367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9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9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6" name="Google Shape;136;p59"/>
          <p:cNvSpPr txBox="1"/>
          <p:nvPr>
            <p:ph idx="1" type="body"/>
          </p:nvPr>
        </p:nvSpPr>
        <p:spPr>
          <a:xfrm>
            <a:off x="995875" y="3210300"/>
            <a:ext cx="5101200" cy="13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7" name="Google Shape;137;p59"/>
          <p:cNvSpPr txBox="1"/>
          <p:nvPr>
            <p:ph idx="2" type="subTitle"/>
          </p:nvPr>
        </p:nvSpPr>
        <p:spPr>
          <a:xfrm>
            <a:off x="995875" y="744425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8" name="Google Shape;138;p59"/>
          <p:cNvSpPr txBox="1"/>
          <p:nvPr>
            <p:ph idx="3" type="subTitle"/>
          </p:nvPr>
        </p:nvSpPr>
        <p:spPr>
          <a:xfrm>
            <a:off x="995875" y="1589688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9" name="Google Shape;139;p59"/>
          <p:cNvSpPr txBox="1"/>
          <p:nvPr>
            <p:ph idx="4" type="subTitle"/>
          </p:nvPr>
        </p:nvSpPr>
        <p:spPr>
          <a:xfrm>
            <a:off x="995875" y="2434963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40" name="Google Shape;140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59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годня на занятии 1 2">
  <p:cSld name="CUSTOM_1_1_1_4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0"/>
          <p:cNvSpPr/>
          <p:nvPr/>
        </p:nvSpPr>
        <p:spPr>
          <a:xfrm>
            <a:off x="262584" y="747211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1166" y="845017"/>
            <a:ext cx="338788" cy="3387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0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0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0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" name="Google Shape;148;p60"/>
          <p:cNvSpPr txBox="1"/>
          <p:nvPr>
            <p:ph idx="1" type="body"/>
          </p:nvPr>
        </p:nvSpPr>
        <p:spPr>
          <a:xfrm>
            <a:off x="995875" y="1589700"/>
            <a:ext cx="5101200" cy="29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9" name="Google Shape;149;p60"/>
          <p:cNvSpPr txBox="1"/>
          <p:nvPr>
            <p:ph idx="2" type="subTitle"/>
          </p:nvPr>
        </p:nvSpPr>
        <p:spPr>
          <a:xfrm>
            <a:off x="995875" y="744425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50" name="Google Shape;15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0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годня на занятии 1 1">
  <p:cSld name="CUSTOM_1_1_1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1"/>
          <p:cNvSpPr/>
          <p:nvPr/>
        </p:nvSpPr>
        <p:spPr>
          <a:xfrm>
            <a:off x="262584" y="747211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1166" y="845017"/>
            <a:ext cx="338788" cy="338788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61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1"/>
          <p:cNvSpPr/>
          <p:nvPr/>
        </p:nvSpPr>
        <p:spPr>
          <a:xfrm>
            <a:off x="260559" y="1553586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344" y="1654361"/>
            <a:ext cx="338367" cy="338367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61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1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0" name="Google Shape;160;p61"/>
          <p:cNvSpPr txBox="1"/>
          <p:nvPr>
            <p:ph idx="1" type="body"/>
          </p:nvPr>
        </p:nvSpPr>
        <p:spPr>
          <a:xfrm>
            <a:off x="995875" y="2434975"/>
            <a:ext cx="5101200" cy="20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1" name="Google Shape;161;p61"/>
          <p:cNvSpPr txBox="1"/>
          <p:nvPr>
            <p:ph idx="2" type="subTitle"/>
          </p:nvPr>
        </p:nvSpPr>
        <p:spPr>
          <a:xfrm>
            <a:off x="995875" y="744425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p61"/>
          <p:cNvSpPr txBox="1"/>
          <p:nvPr>
            <p:ph idx="3" type="subTitle"/>
          </p:nvPr>
        </p:nvSpPr>
        <p:spPr>
          <a:xfrm>
            <a:off x="995875" y="1589688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63" name="Google Shape;163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61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2"/>
          <p:cNvSpPr/>
          <p:nvPr/>
        </p:nvSpPr>
        <p:spPr>
          <a:xfrm flipH="1" rot="10800000">
            <a:off x="4162568" y="-72"/>
            <a:ext cx="4981500" cy="1063200"/>
          </a:xfrm>
          <a:prstGeom prst="triangle">
            <a:avLst>
              <a:gd fmla="val 78693" name="adj"/>
            </a:avLst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2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2"/>
          <p:cNvSpPr/>
          <p:nvPr/>
        </p:nvSpPr>
        <p:spPr>
          <a:xfrm flipH="1" rot="10800000">
            <a:off x="-26" y="509100"/>
            <a:ext cx="8295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2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0" name="Google Shape;170;p62"/>
          <p:cNvSpPr txBox="1"/>
          <p:nvPr>
            <p:ph idx="1" type="body"/>
          </p:nvPr>
        </p:nvSpPr>
        <p:spPr>
          <a:xfrm>
            <a:off x="4603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71" name="Google Shape;171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62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 1">
  <p:cSld name="OBJECT_2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3"/>
          <p:cNvSpPr/>
          <p:nvPr/>
        </p:nvSpPr>
        <p:spPr>
          <a:xfrm flipH="1" rot="-5400000">
            <a:off x="5963525" y="1981200"/>
            <a:ext cx="5216400" cy="1181100"/>
          </a:xfrm>
          <a:prstGeom prst="triangle">
            <a:avLst>
              <a:gd fmla="val 78693" name="adj"/>
            </a:avLst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3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3"/>
          <p:cNvSpPr/>
          <p:nvPr/>
        </p:nvSpPr>
        <p:spPr>
          <a:xfrm flipH="1" rot="10800000">
            <a:off x="-25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3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8" name="Google Shape;178;p63"/>
          <p:cNvSpPr txBox="1"/>
          <p:nvPr>
            <p:ph idx="1" type="body"/>
          </p:nvPr>
        </p:nvSpPr>
        <p:spPr>
          <a:xfrm>
            <a:off x="4603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79" name="Google Shape;179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7257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63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колонки">
  <p:cSld name="OBJECT_1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4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4"/>
          <p:cNvSpPr/>
          <p:nvPr/>
        </p:nvSpPr>
        <p:spPr>
          <a:xfrm flipH="1" rot="10800000">
            <a:off x="-25" y="509100"/>
            <a:ext cx="91389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4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5" name="Google Shape;185;p64"/>
          <p:cNvSpPr txBox="1"/>
          <p:nvPr>
            <p:ph idx="1" type="body"/>
          </p:nvPr>
        </p:nvSpPr>
        <p:spPr>
          <a:xfrm>
            <a:off x="48037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6" name="Google Shape;186;p64"/>
          <p:cNvSpPr txBox="1"/>
          <p:nvPr>
            <p:ph idx="2" type="body"/>
          </p:nvPr>
        </p:nvSpPr>
        <p:spPr>
          <a:xfrm>
            <a:off x="4603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87" name="Google Shape;187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64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дача наборов">
  <p:cSld name="CUSTOM_3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65"/>
          <p:cNvPicPr preferRelativeResize="0"/>
          <p:nvPr/>
        </p:nvPicPr>
        <p:blipFill rotWithShape="1">
          <a:blip r:embed="rId2">
            <a:alphaModFix/>
          </a:blip>
          <a:srcRect b="10915" l="0" r="0" t="5873"/>
          <a:stretch/>
        </p:blipFill>
        <p:spPr>
          <a:xfrm>
            <a:off x="-141168" y="-1"/>
            <a:ext cx="9310994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65"/>
          <p:cNvSpPr/>
          <p:nvPr/>
        </p:nvSpPr>
        <p:spPr>
          <a:xfrm>
            <a:off x="-141168" y="-20362"/>
            <a:ext cx="9311100" cy="5172600"/>
          </a:xfrm>
          <a:prstGeom prst="rect">
            <a:avLst/>
          </a:prstGeom>
          <a:solidFill>
            <a:schemeClr val="lt1">
              <a:alpha val="89804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5"/>
          <p:cNvSpPr/>
          <p:nvPr/>
        </p:nvSpPr>
        <p:spPr>
          <a:xfrm flipH="1" rot="10800000">
            <a:off x="-139826" y="5115113"/>
            <a:ext cx="9309600" cy="573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5"/>
          <p:cNvSpPr txBox="1"/>
          <p:nvPr/>
        </p:nvSpPr>
        <p:spPr>
          <a:xfrm>
            <a:off x="-141167" y="1947734"/>
            <a:ext cx="9428700" cy="11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ru" sz="72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СДАЧА НАБОРОВ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5"/>
          <p:cNvSpPr/>
          <p:nvPr/>
        </p:nvSpPr>
        <p:spPr>
          <a:xfrm flipH="1" rot="10800000">
            <a:off x="717284" y="3087943"/>
            <a:ext cx="76818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65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1.xml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0.png"/><Relationship Id="rId4" Type="http://schemas.openxmlformats.org/officeDocument/2006/relationships/image" Target="../media/image49.png"/><Relationship Id="rId5" Type="http://schemas.openxmlformats.org/officeDocument/2006/relationships/image" Target="../media/image52.png"/><Relationship Id="rId6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comments" Target="../comments/comment2.xml"/><Relationship Id="rId4" Type="http://schemas.openxmlformats.org/officeDocument/2006/relationships/image" Target="../media/image23.png"/><Relationship Id="rId5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comments" Target="../comments/commen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comments" Target="../comments/comment4.xml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Relationship Id="rId4" Type="http://schemas.openxmlformats.org/officeDocument/2006/relationships/image" Target="../media/image2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9.png"/><Relationship Id="rId4" Type="http://schemas.openxmlformats.org/officeDocument/2006/relationships/image" Target="../media/image2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5.png"/><Relationship Id="rId4" Type="http://schemas.openxmlformats.org/officeDocument/2006/relationships/image" Target="../media/image26.png"/><Relationship Id="rId5" Type="http://schemas.openxmlformats.org/officeDocument/2006/relationships/slide" Target="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comments" Target="../comments/comment5.xml"/><Relationship Id="rId4" Type="http://schemas.openxmlformats.org/officeDocument/2006/relationships/image" Target="../media/image3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8.png"/><Relationship Id="rId4" Type="http://schemas.openxmlformats.org/officeDocument/2006/relationships/image" Target="../media/image1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9.png"/><Relationship Id="rId4" Type="http://schemas.openxmlformats.org/officeDocument/2006/relationships/image" Target="../media/image4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7.png"/><Relationship Id="rId4" Type="http://schemas.openxmlformats.org/officeDocument/2006/relationships/image" Target="../media/image4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7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7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3.gif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comments" Target="../comments/comment6.xml"/><Relationship Id="rId4" Type="http://schemas.openxmlformats.org/officeDocument/2006/relationships/image" Target="../media/image32.png"/><Relationship Id="rId5" Type="http://schemas.openxmlformats.org/officeDocument/2006/relationships/image" Target="../media/image35.png"/><Relationship Id="rId6" Type="http://schemas.openxmlformats.org/officeDocument/2006/relationships/image" Target="../media/image40.png"/><Relationship Id="rId7" Type="http://schemas.openxmlformats.org/officeDocument/2006/relationships/image" Target="../media/image46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"/>
          <p:cNvSpPr txBox="1"/>
          <p:nvPr>
            <p:ph type="title"/>
          </p:nvPr>
        </p:nvSpPr>
        <p:spPr>
          <a:xfrm>
            <a:off x="1136100" y="1663200"/>
            <a:ext cx="3435900" cy="9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/>
              <a:t>Шагоход</a:t>
            </a:r>
            <a:endParaRPr/>
          </a:p>
        </p:txBody>
      </p:sp>
      <p:sp>
        <p:nvSpPr>
          <p:cNvPr id="202" name="Google Shape;202;p1"/>
          <p:cNvSpPr txBox="1"/>
          <p:nvPr>
            <p:ph idx="1" type="subTitle"/>
          </p:nvPr>
        </p:nvSpPr>
        <p:spPr>
          <a:xfrm>
            <a:off x="1354350" y="2469650"/>
            <a:ext cx="2999400" cy="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ru"/>
              <a:t>инструкция по сборке</a:t>
            </a:r>
            <a:endParaRPr/>
          </a:p>
        </p:txBody>
      </p:sp>
      <p:sp>
        <p:nvSpPr>
          <p:cNvPr id="203" name="Google Shape;203;p1"/>
          <p:cNvSpPr txBox="1"/>
          <p:nvPr>
            <p:ph idx="2" type="subTitle"/>
          </p:nvPr>
        </p:nvSpPr>
        <p:spPr>
          <a:xfrm>
            <a:off x="6725225" y="4669700"/>
            <a:ext cx="22443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/>
              <a:t>5,5-7 лет</a:t>
            </a:r>
            <a:endParaRPr/>
          </a:p>
        </p:txBody>
      </p:sp>
      <p:sp>
        <p:nvSpPr>
          <p:cNvPr id="204" name="Google Shape;204;p1"/>
          <p:cNvSpPr txBox="1"/>
          <p:nvPr>
            <p:ph idx="3" type="subTitle"/>
          </p:nvPr>
        </p:nvSpPr>
        <p:spPr>
          <a:xfrm>
            <a:off x="7478275" y="3878900"/>
            <a:ext cx="1491300" cy="85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/>
              <a:t>Начальная школа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"/>
          <p:cNvSpPr/>
          <p:nvPr/>
        </p:nvSpPr>
        <p:spPr>
          <a:xfrm>
            <a:off x="1106625" y="1157250"/>
            <a:ext cx="2501700" cy="28290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"/>
          <p:cNvSpPr/>
          <p:nvPr/>
        </p:nvSpPr>
        <p:spPr>
          <a:xfrm>
            <a:off x="1303725" y="1357650"/>
            <a:ext cx="2107500" cy="2428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"/>
          <p:cNvSpPr/>
          <p:nvPr/>
        </p:nvSpPr>
        <p:spPr>
          <a:xfrm>
            <a:off x="1745675" y="1570275"/>
            <a:ext cx="1324836" cy="2026242"/>
          </a:xfrm>
          <a:prstGeom prst="lightningBolt">
            <a:avLst/>
          </a:prstGeom>
          <a:solidFill>
            <a:srgbClr val="FFFF00"/>
          </a:solidFill>
          <a:ln cap="flat" cmpd="sng" w="28575">
            <a:solidFill>
              <a:srgbClr val="FEA6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"/>
          <p:cNvSpPr txBox="1"/>
          <p:nvPr/>
        </p:nvSpPr>
        <p:spPr>
          <a:xfrm>
            <a:off x="4644725" y="2002825"/>
            <a:ext cx="3997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Таким значком помечаются моменты в сборке, на которых лучше задержаться и внимательно проверить себя и детей.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3" name="Google Shape;213;p2"/>
          <p:cNvGrpSpPr/>
          <p:nvPr/>
        </p:nvGrpSpPr>
        <p:grpSpPr>
          <a:xfrm>
            <a:off x="8549125" y="269225"/>
            <a:ext cx="537900" cy="599700"/>
            <a:chOff x="8549125" y="269225"/>
            <a:chExt cx="537900" cy="599700"/>
          </a:xfrm>
        </p:grpSpPr>
        <p:sp>
          <p:nvSpPr>
            <p:cNvPr id="214" name="Google Shape;214;p2"/>
            <p:cNvSpPr/>
            <p:nvPr/>
          </p:nvSpPr>
          <p:spPr>
            <a:xfrm>
              <a:off x="8549125" y="269225"/>
              <a:ext cx="537900" cy="5997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190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8591498" y="311714"/>
              <a:ext cx="453000" cy="514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8686510" y="356795"/>
              <a:ext cx="284796" cy="429624"/>
            </a:xfrm>
            <a:prstGeom prst="lightningBolt">
              <a:avLst/>
            </a:prstGeom>
            <a:solidFill>
              <a:srgbClr val="FFFF00"/>
            </a:solidFill>
            <a:ln cap="flat" cmpd="sng" w="19050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7" name="Google Shape;217;p2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Важные и сложные моменты сборки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"/>
          <p:cNvSpPr txBox="1"/>
          <p:nvPr/>
        </p:nvSpPr>
        <p:spPr>
          <a:xfrm>
            <a:off x="4514125" y="2032950"/>
            <a:ext cx="3997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Таким значком помечаются места, где есть комментарии к слайдам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"/>
          <p:cNvSpPr/>
          <p:nvPr/>
        </p:nvSpPr>
        <p:spPr>
          <a:xfrm>
            <a:off x="504100" y="1432550"/>
            <a:ext cx="3341700" cy="22956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FEA6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"/>
          <p:cNvSpPr/>
          <p:nvPr/>
        </p:nvSpPr>
        <p:spPr>
          <a:xfrm>
            <a:off x="823750" y="1681250"/>
            <a:ext cx="2702400" cy="17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FEA6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0"/>
              <a:buFont typeface="Arial"/>
              <a:buNone/>
            </a:pPr>
            <a:r>
              <a:rPr b="1" i="0" lang="ru" sz="125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т</a:t>
            </a:r>
            <a:endParaRPr b="1" i="0" sz="125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5" name="Google Shape;225;p3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226" name="Google Shape;226;p3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ru" sz="2400" u="none" cap="none" strike="noStrike">
                  <a:solidFill>
                    <a:srgbClr val="FEA621"/>
                  </a:solidFill>
                  <a:latin typeface="Arial"/>
                  <a:ea typeface="Arial"/>
                  <a:cs typeface="Arial"/>
                  <a:sym typeface="Arial"/>
                </a:rPr>
                <a:t>т</a:t>
              </a:r>
              <a:endParaRPr b="1" i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8" name="Google Shape;228;p3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Комментарии по сборке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"/>
          <p:cNvSpPr txBox="1"/>
          <p:nvPr/>
        </p:nvSpPr>
        <p:spPr>
          <a:xfrm>
            <a:off x="0" y="2248500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1" lang="ru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Занятие 1</a:t>
            </a:r>
            <a:endParaRPr b="1" i="1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5"/>
          <p:cNvPicPr preferRelativeResize="0"/>
          <p:nvPr/>
        </p:nvPicPr>
        <p:blipFill rotWithShape="1">
          <a:blip r:embed="rId4">
            <a:alphaModFix/>
          </a:blip>
          <a:srcRect b="44489" l="16793" r="26723" t="16233"/>
          <a:stretch/>
        </p:blipFill>
        <p:spPr>
          <a:xfrm>
            <a:off x="581000" y="880300"/>
            <a:ext cx="3927924" cy="3641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5"/>
          <p:cNvPicPr preferRelativeResize="0"/>
          <p:nvPr/>
        </p:nvPicPr>
        <p:blipFill rotWithShape="1">
          <a:blip r:embed="rId5">
            <a:alphaModFix/>
          </a:blip>
          <a:srcRect b="15030" l="20510" r="17769" t="46112"/>
          <a:stretch/>
        </p:blipFill>
        <p:spPr>
          <a:xfrm rot="10800000">
            <a:off x="4572000" y="880299"/>
            <a:ext cx="4057075" cy="3405501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5"/>
          <p:cNvSpPr txBox="1"/>
          <p:nvPr/>
        </p:nvSpPr>
        <p:spPr>
          <a:xfrm>
            <a:off x="3837775" y="631763"/>
            <a:ext cx="327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Винты М3х16 - 2шт.</a:t>
            </a:r>
            <a:endParaRPr b="1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Гайки М3 - 2шт.</a:t>
            </a:r>
            <a:endParaRPr b="1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1" name="Google Shape;241;p5"/>
          <p:cNvPicPr preferRelativeResize="0"/>
          <p:nvPr/>
        </p:nvPicPr>
        <p:blipFill rotWithShape="1">
          <a:blip r:embed="rId6">
            <a:alphaModFix/>
          </a:blip>
          <a:srcRect b="3408" l="0" r="0" t="2457"/>
          <a:stretch/>
        </p:blipFill>
        <p:spPr>
          <a:xfrm>
            <a:off x="3759513" y="3502125"/>
            <a:ext cx="1624976" cy="15297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2" name="Google Shape;242;p5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243" name="Google Shape;243;p5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5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ru" sz="2400" u="none" cap="none" strike="noStrike">
                  <a:solidFill>
                    <a:srgbClr val="FEA621"/>
                  </a:solidFill>
                  <a:latin typeface="Arial"/>
                  <a:ea typeface="Arial"/>
                  <a:cs typeface="Arial"/>
                  <a:sym typeface="Arial"/>
                </a:rPr>
                <a:t>т</a:t>
              </a:r>
              <a:endParaRPr b="1" i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5" name="Google Shape;245;p5"/>
          <p:cNvSpPr txBox="1"/>
          <p:nvPr>
            <p:ph type="title"/>
          </p:nvPr>
        </p:nvSpPr>
        <p:spPr>
          <a:xfrm>
            <a:off x="0" y="0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Возьмем корпус и установим винты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6"/>
          <p:cNvPicPr preferRelativeResize="0"/>
          <p:nvPr/>
        </p:nvPicPr>
        <p:blipFill rotWithShape="1">
          <a:blip r:embed="rId3">
            <a:alphaModFix/>
          </a:blip>
          <a:srcRect b="31444" l="53421" r="22486" t="35170"/>
          <a:stretch/>
        </p:blipFill>
        <p:spPr>
          <a:xfrm rot="-5400000">
            <a:off x="296001" y="1631301"/>
            <a:ext cx="1985274" cy="2063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6"/>
          <p:cNvPicPr preferRelativeResize="0"/>
          <p:nvPr/>
        </p:nvPicPr>
        <p:blipFill rotWithShape="1">
          <a:blip r:embed="rId4">
            <a:alphaModFix/>
          </a:blip>
          <a:srcRect b="39580" l="49434" r="30892" t="33767"/>
          <a:stretch/>
        </p:blipFill>
        <p:spPr>
          <a:xfrm>
            <a:off x="3662525" y="1742525"/>
            <a:ext cx="1811802" cy="1840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6"/>
          <p:cNvPicPr preferRelativeResize="0"/>
          <p:nvPr/>
        </p:nvPicPr>
        <p:blipFill rotWithShape="1">
          <a:blip r:embed="rId5">
            <a:alphaModFix/>
          </a:blip>
          <a:srcRect b="51677" l="30274" r="34751" t="24930"/>
          <a:stretch/>
        </p:blipFill>
        <p:spPr>
          <a:xfrm>
            <a:off x="6816550" y="1657900"/>
            <a:ext cx="2254176" cy="20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6"/>
          <p:cNvSpPr/>
          <p:nvPr/>
        </p:nvSpPr>
        <p:spPr>
          <a:xfrm>
            <a:off x="2586900" y="2344813"/>
            <a:ext cx="916500" cy="63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E599"/>
          </a:solidFill>
          <a:ln cap="flat" cmpd="sng" w="38100">
            <a:solidFill>
              <a:srgbClr val="FEA6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5900050" y="2344813"/>
            <a:ext cx="916500" cy="63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E599"/>
          </a:solidFill>
          <a:ln cap="flat" cmpd="sng" w="38100">
            <a:solidFill>
              <a:srgbClr val="FEA6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6"/>
          <p:cNvSpPr txBox="1"/>
          <p:nvPr/>
        </p:nvSpPr>
        <p:spPr>
          <a:xfrm>
            <a:off x="782150" y="761313"/>
            <a:ext cx="327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Винты </a:t>
            </a:r>
            <a:r>
              <a:rPr b="1" i="1" lang="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М3х20 </a:t>
            </a:r>
            <a:r>
              <a:rPr b="1" i="1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- 1шт.</a:t>
            </a:r>
            <a:endParaRPr b="1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Гайки М3 - 1шт.</a:t>
            </a:r>
            <a:endParaRPr b="1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7" name="Google Shape;257;p6"/>
          <p:cNvPicPr preferRelativeResize="0"/>
          <p:nvPr/>
        </p:nvPicPr>
        <p:blipFill rotWithShape="1">
          <a:blip r:embed="rId6">
            <a:alphaModFix/>
          </a:blip>
          <a:srcRect b="3408" l="0" r="0" t="2457"/>
          <a:stretch/>
        </p:blipFill>
        <p:spPr>
          <a:xfrm>
            <a:off x="3601400" y="3487350"/>
            <a:ext cx="1624976" cy="1529726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6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Собираем крепление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7"/>
          <p:cNvPicPr preferRelativeResize="0"/>
          <p:nvPr/>
        </p:nvPicPr>
        <p:blipFill rotWithShape="1">
          <a:blip r:embed="rId3">
            <a:alphaModFix/>
          </a:blip>
          <a:srcRect b="42805" l="25581" r="24853" t="29139"/>
          <a:stretch/>
        </p:blipFill>
        <p:spPr>
          <a:xfrm>
            <a:off x="2623275" y="1014525"/>
            <a:ext cx="4126601" cy="3114426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7"/>
          <p:cNvSpPr txBox="1"/>
          <p:nvPr/>
        </p:nvSpPr>
        <p:spPr>
          <a:xfrm>
            <a:off x="782150" y="761313"/>
            <a:ext cx="327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Винты </a:t>
            </a:r>
            <a:r>
              <a:rPr b="1" i="1" lang="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М3х20 </a:t>
            </a:r>
            <a:r>
              <a:rPr b="1" i="1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- 3шт.</a:t>
            </a:r>
            <a:endParaRPr b="1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Гайки М3 - 3шт.</a:t>
            </a:r>
            <a:endParaRPr b="1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5" name="Google Shape;265;p7"/>
          <p:cNvPicPr preferRelativeResize="0"/>
          <p:nvPr/>
        </p:nvPicPr>
        <p:blipFill rotWithShape="1">
          <a:blip r:embed="rId4">
            <a:alphaModFix/>
          </a:blip>
          <a:srcRect b="3408" l="0" r="0" t="2457"/>
          <a:stretch/>
        </p:blipFill>
        <p:spPr>
          <a:xfrm>
            <a:off x="6903375" y="1398900"/>
            <a:ext cx="1624976" cy="1529726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7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Собираем еще три таких детали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h58a166da900a7e00_0_0"/>
          <p:cNvPicPr preferRelativeResize="0"/>
          <p:nvPr/>
        </p:nvPicPr>
        <p:blipFill rotWithShape="1">
          <a:blip r:embed="rId3">
            <a:alphaModFix/>
          </a:blip>
          <a:srcRect b="47996" l="30629" r="41690" t="30962"/>
          <a:stretch/>
        </p:blipFill>
        <p:spPr>
          <a:xfrm>
            <a:off x="72125" y="1130200"/>
            <a:ext cx="2617776" cy="2653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h58a166da900a7e00_0_0"/>
          <p:cNvPicPr preferRelativeResize="0"/>
          <p:nvPr/>
        </p:nvPicPr>
        <p:blipFill rotWithShape="1">
          <a:blip r:embed="rId4">
            <a:alphaModFix/>
          </a:blip>
          <a:srcRect b="41824" l="28404" r="38116" t="37695"/>
          <a:stretch/>
        </p:blipFill>
        <p:spPr>
          <a:xfrm>
            <a:off x="3481250" y="1457450"/>
            <a:ext cx="2617776" cy="2135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h58a166da900a7e00_0_0"/>
          <p:cNvPicPr preferRelativeResize="0"/>
          <p:nvPr/>
        </p:nvPicPr>
        <p:blipFill rotWithShape="1">
          <a:blip r:embed="rId5">
            <a:alphaModFix/>
          </a:blip>
          <a:srcRect b="43519" l="33228" r="36696" t="35914"/>
          <a:stretch/>
        </p:blipFill>
        <p:spPr>
          <a:xfrm>
            <a:off x="6471125" y="1363030"/>
            <a:ext cx="2399249" cy="2187526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h58a166da900a7e00_0_0"/>
          <p:cNvSpPr/>
          <p:nvPr/>
        </p:nvSpPr>
        <p:spPr>
          <a:xfrm>
            <a:off x="2586900" y="2344813"/>
            <a:ext cx="916500" cy="63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E599"/>
          </a:solidFill>
          <a:ln cap="flat" cmpd="sng" w="38100">
            <a:solidFill>
              <a:srgbClr val="FEA6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h58a166da900a7e00_0_0"/>
          <p:cNvSpPr/>
          <p:nvPr/>
        </p:nvSpPr>
        <p:spPr>
          <a:xfrm>
            <a:off x="5754625" y="2344813"/>
            <a:ext cx="916500" cy="63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E599"/>
          </a:solidFill>
          <a:ln cap="flat" cmpd="sng" w="38100">
            <a:solidFill>
              <a:srgbClr val="FEA6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h58a166da900a7e00_0_0"/>
          <p:cNvSpPr txBox="1"/>
          <p:nvPr/>
        </p:nvSpPr>
        <p:spPr>
          <a:xfrm>
            <a:off x="782150" y="761313"/>
            <a:ext cx="327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 sz="1800"/>
              <a:t>Винты М3х20 - 2шт.</a:t>
            </a:r>
            <a:endParaRPr b="1" i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 sz="1800"/>
              <a:t>Гайки М3 - 2шт.</a:t>
            </a:r>
            <a:endParaRPr b="1" i="1" sz="1800"/>
          </a:p>
        </p:txBody>
      </p:sp>
      <p:pic>
        <p:nvPicPr>
          <p:cNvPr id="277" name="Google Shape;277;h58a166da900a7e00_0_0"/>
          <p:cNvPicPr preferRelativeResize="0"/>
          <p:nvPr/>
        </p:nvPicPr>
        <p:blipFill rotWithShape="1">
          <a:blip r:embed="rId6">
            <a:alphaModFix/>
          </a:blip>
          <a:srcRect b="3408" l="0" r="0" t="2457"/>
          <a:stretch/>
        </p:blipFill>
        <p:spPr>
          <a:xfrm>
            <a:off x="4658300" y="3402800"/>
            <a:ext cx="1624976" cy="1529726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h58a166da900a7e00_0_0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Собираем еще два крепления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h58a166da900a7e00_0_11"/>
          <p:cNvPicPr preferRelativeResize="0"/>
          <p:nvPr/>
        </p:nvPicPr>
        <p:blipFill rotWithShape="1">
          <a:blip r:embed="rId3">
            <a:alphaModFix/>
          </a:blip>
          <a:srcRect b="39999" l="21280" r="22423" t="29280"/>
          <a:stretch/>
        </p:blipFill>
        <p:spPr>
          <a:xfrm>
            <a:off x="1817325" y="748450"/>
            <a:ext cx="5277950" cy="3840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h58a166da900a7e00_0_11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Вот что у нас получилось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8"/>
          <p:cNvPicPr preferRelativeResize="0"/>
          <p:nvPr/>
        </p:nvPicPr>
        <p:blipFill rotWithShape="1">
          <a:blip r:embed="rId3">
            <a:alphaModFix/>
          </a:blip>
          <a:srcRect b="31018" l="10620" r="21302" t="24652"/>
          <a:stretch/>
        </p:blipFill>
        <p:spPr>
          <a:xfrm>
            <a:off x="229700" y="896250"/>
            <a:ext cx="3859999" cy="3351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8"/>
          <p:cNvPicPr preferRelativeResize="0"/>
          <p:nvPr/>
        </p:nvPicPr>
        <p:blipFill rotWithShape="1">
          <a:blip r:embed="rId4">
            <a:alphaModFix/>
          </a:blip>
          <a:srcRect b="33270" l="6707" r="9877" t="26891"/>
          <a:stretch/>
        </p:blipFill>
        <p:spPr>
          <a:xfrm>
            <a:off x="4235100" y="896250"/>
            <a:ext cx="4138750" cy="2635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8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Устанавливаем крепления на винты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9"/>
          <p:cNvPicPr preferRelativeResize="0"/>
          <p:nvPr/>
        </p:nvPicPr>
        <p:blipFill rotWithShape="1">
          <a:blip r:embed="rId3">
            <a:alphaModFix/>
          </a:blip>
          <a:srcRect b="39158" l="5934" r="12884" t="23248"/>
          <a:stretch/>
        </p:blipFill>
        <p:spPr>
          <a:xfrm>
            <a:off x="1968825" y="730275"/>
            <a:ext cx="5490024" cy="3390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7" name="Google Shape;297;p9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298" name="Google Shape;298;p9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9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ru" sz="2400" u="none" cap="none" strike="noStrike">
                  <a:solidFill>
                    <a:srgbClr val="FEA621"/>
                  </a:solidFill>
                  <a:latin typeface="Arial"/>
                  <a:ea typeface="Arial"/>
                  <a:cs typeface="Arial"/>
                  <a:sym typeface="Arial"/>
                </a:rPr>
                <a:t>т</a:t>
              </a:r>
              <a:endParaRPr b="1" i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0" name="Google Shape;300;p9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Неплотно фиксируем гайками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10"/>
          <p:cNvPicPr preferRelativeResize="0"/>
          <p:nvPr/>
        </p:nvPicPr>
        <p:blipFill rotWithShape="1">
          <a:blip r:embed="rId3">
            <a:alphaModFix/>
          </a:blip>
          <a:srcRect b="4763" l="29377" r="33441" t="1840"/>
          <a:stretch/>
        </p:blipFill>
        <p:spPr>
          <a:xfrm rot="5400000">
            <a:off x="2542588" y="-913188"/>
            <a:ext cx="3613226" cy="680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6" name="Google Shape;306;p10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307" name="Google Shape;307;p10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10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ru" sz="2400" u="none" cap="none" strike="noStrike">
                  <a:solidFill>
                    <a:srgbClr val="FEA621"/>
                  </a:solidFill>
                  <a:latin typeface="Arial"/>
                  <a:ea typeface="Arial"/>
                  <a:cs typeface="Arial"/>
                  <a:sym typeface="Arial"/>
                </a:rPr>
                <a:t>т</a:t>
              </a:r>
              <a:endParaRPr b="1" i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9" name="Google Shape;309;p10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Начинаем сборку второй внутренней стенки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11"/>
          <p:cNvPicPr preferRelativeResize="0"/>
          <p:nvPr/>
        </p:nvPicPr>
        <p:blipFill rotWithShape="1">
          <a:blip r:embed="rId4">
            <a:alphaModFix/>
          </a:blip>
          <a:srcRect b="40982" l="0" r="4589" t="23010"/>
          <a:stretch/>
        </p:blipFill>
        <p:spPr>
          <a:xfrm>
            <a:off x="1049425" y="653825"/>
            <a:ext cx="6713474" cy="3378099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1"/>
          <p:cNvSpPr txBox="1"/>
          <p:nvPr/>
        </p:nvSpPr>
        <p:spPr>
          <a:xfrm>
            <a:off x="1049425" y="3446688"/>
            <a:ext cx="327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Винты М3х16 - 2шт.</a:t>
            </a:r>
            <a:endParaRPr b="1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Гайки М3 - 2шт.</a:t>
            </a:r>
            <a:endParaRPr b="1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6" name="Google Shape;316;p11"/>
          <p:cNvPicPr preferRelativeResize="0"/>
          <p:nvPr/>
        </p:nvPicPr>
        <p:blipFill rotWithShape="1">
          <a:blip r:embed="rId5">
            <a:alphaModFix/>
          </a:blip>
          <a:srcRect b="3408" l="0" r="0" t="2457"/>
          <a:stretch/>
        </p:blipFill>
        <p:spPr>
          <a:xfrm>
            <a:off x="7600350" y="763025"/>
            <a:ext cx="1508974" cy="1420526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1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Подготавливаем детали для установки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12"/>
          <p:cNvPicPr preferRelativeResize="0"/>
          <p:nvPr/>
        </p:nvPicPr>
        <p:blipFill rotWithShape="1">
          <a:blip r:embed="rId3">
            <a:alphaModFix/>
          </a:blip>
          <a:srcRect b="42642" l="13234" r="10575" t="20420"/>
          <a:stretch/>
        </p:blipFill>
        <p:spPr>
          <a:xfrm>
            <a:off x="1548675" y="679112"/>
            <a:ext cx="5855976" cy="3785274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2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Устанавливаем и фиксируем гайками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3"/>
          <p:cNvSpPr/>
          <p:nvPr/>
        </p:nvSpPr>
        <p:spPr>
          <a:xfrm>
            <a:off x="92550" y="558475"/>
            <a:ext cx="65874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Капаем клеем и фиксируем гайки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0" name="Google Shape;330;p13"/>
          <p:cNvPicPr preferRelativeResize="0"/>
          <p:nvPr/>
        </p:nvPicPr>
        <p:blipFill rotWithShape="1">
          <a:blip r:embed="rId3">
            <a:alphaModFix/>
          </a:blip>
          <a:srcRect b="40443" l="11690" r="10222" t="20659"/>
          <a:stretch/>
        </p:blipFill>
        <p:spPr>
          <a:xfrm>
            <a:off x="4442575" y="1031625"/>
            <a:ext cx="4499400" cy="298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13"/>
          <p:cNvPicPr preferRelativeResize="0"/>
          <p:nvPr/>
        </p:nvPicPr>
        <p:blipFill rotWithShape="1">
          <a:blip r:embed="rId3">
            <a:alphaModFix/>
          </a:blip>
          <a:srcRect b="40443" l="11690" r="10222" t="20659"/>
          <a:stretch/>
        </p:blipFill>
        <p:spPr>
          <a:xfrm flipH="1">
            <a:off x="92551" y="1077475"/>
            <a:ext cx="4396699" cy="2988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2" name="Google Shape;332;p13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333" name="Google Shape;333;p13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13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ru" sz="2400" u="none" cap="none" strike="noStrike">
                  <a:solidFill>
                    <a:srgbClr val="FEA621"/>
                  </a:solidFill>
                  <a:latin typeface="Arial"/>
                  <a:ea typeface="Arial"/>
                  <a:cs typeface="Arial"/>
                  <a:sym typeface="Arial"/>
                </a:rPr>
                <a:t>т</a:t>
              </a:r>
              <a:endParaRPr b="1" i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5" name="Google Shape;335;p13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Собираем еще два крепления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Техника безопасности: стриппер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603504"/>
            <a:ext cx="8412480" cy="530352"/>
          </a:xfrm>
          <a:prstGeom prst="roundRect">
            <a:avLst>
              <a:gd name="adj" fmla="val 14000"/>
            </a:avLst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Стриппер снимает только изоляцию - держи провод пальцами позади лезвия.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5669280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FEA621"/>
              </a:buClr>
              <a:buSzPct val="80000"/>
              <a:buFont typeface="Arial"/>
              <a:buChar char="●"/>
            </a:pPr>
            <a:r>
              <a:rPr sz="1700" b="0">
                <a:solidFill>
                  <a:srgbClr val="212121"/>
                </a:solidFill>
                <a:latin typeface="Arial"/>
              </a:rPr>
              <a:t>Работаем за столом - не на коленях и не на ходу.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FEA621"/>
              </a:buClr>
              <a:buSzPct val="80000"/>
              <a:buFont typeface="Arial"/>
              <a:buChar char="●"/>
            </a:pPr>
            <a:r>
              <a:rPr sz="1700" b="0">
                <a:solidFill>
                  <a:srgbClr val="212121"/>
                </a:solidFill>
                <a:latin typeface="Arial"/>
              </a:rPr>
              <a:t>Провод держим пальцами позади лезвия, а не перед ним.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FEA621"/>
              </a:buClr>
              <a:buSzPct val="80000"/>
              <a:buFont typeface="Arial"/>
              <a:buChar char="●"/>
            </a:pPr>
            <a:r>
              <a:rPr sz="1700" b="0">
                <a:solidFill>
                  <a:srgbClr val="212121"/>
                </a:solidFill>
                <a:latin typeface="Arial"/>
              </a:rPr>
              <a:t>Направляй стриппер от себя и снимай только изоляцию - жилу не режь.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FEA621"/>
              </a:buClr>
              <a:buSzPct val="80000"/>
              <a:buFont typeface="Arial"/>
              <a:buChar char="●"/>
            </a:pPr>
            <a:r>
              <a:rPr sz="1700" b="0">
                <a:solidFill>
                  <a:srgbClr val="212121"/>
                </a:solidFill>
                <a:latin typeface="Arial"/>
              </a:rPr>
              <a:t>Проверь конец после зачистки: жилы целые и блестят.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FEA621"/>
              </a:buClr>
              <a:buSzPct val="80000"/>
              <a:buFont typeface="Arial"/>
              <a:buChar char="●"/>
            </a:pPr>
            <a:r>
              <a:rPr sz="1700" b="0">
                <a:solidFill>
                  <a:srgbClr val="212121"/>
                </a:solidFill>
                <a:latin typeface="Arial"/>
              </a:rPr>
              <a:t>После работы убери стриппер на место, лезвие закрыто.</a:t>
            </a:r>
          </a:p>
        </p:txBody>
      </p:sp>
      <p:sp>
        <p:nvSpPr>
          <p:cNvPr id="5" name="Isosceles Triangle 4"/>
          <p:cNvSpPr/>
          <p:nvPr/>
        </p:nvSpPr>
        <p:spPr>
          <a:xfrm>
            <a:off x="6492240" y="1417320"/>
            <a:ext cx="1920240" cy="1691640"/>
          </a:xfrm>
          <a:prstGeom prst="triangle">
            <a:avLst/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320040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F5F5F"/>
                </a:solidFill>
                <a:latin typeface="Arial"/>
              </a:rPr>
              <a:t>Осторожно: лезвие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4160520"/>
            <a:ext cx="8412480" cy="548640"/>
          </a:xfrm>
          <a:prstGeom prst="roundRect">
            <a:avLst>
              <a:gd name="adj" fmla="val 14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Без взрослого стриппер не берем - и никогда не режем на весу.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h58a166da900a7e00_0_208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Готовим два провода длиной 12-16 см</a:t>
            </a:r>
            <a:endParaRPr/>
          </a:p>
        </p:txBody>
      </p:sp>
      <p:cxnSp>
        <p:nvCxnSpPr>
          <p:cNvPr id="341" name="Connector 340"/>
          <p:cNvCxnSpPr/>
          <p:nvPr/>
        </p:nvCxnSpPr>
        <p:spPr>
          <a:xfrm>
            <a:off x="822960" y="1417320"/>
            <a:ext cx="7086600" cy="0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>
            <a:off x="822960" y="1325880"/>
            <a:ext cx="0" cy="182880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7909560" y="1325880"/>
            <a:ext cx="0" cy="182880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4" name="Rounded Rectangle 343"/>
          <p:cNvSpPr/>
          <p:nvPr/>
        </p:nvSpPr>
        <p:spPr>
          <a:xfrm>
            <a:off x="3200400" y="118872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EA621"/>
                </a:solidFill>
                <a:latin typeface="Arial"/>
              </a:rPr>
              <a:t>12-16 см</a:t>
            </a:r>
          </a:p>
        </p:txBody>
      </p:sp>
      <p:sp>
        <p:nvSpPr>
          <p:cNvPr id="345" name="Rounded Rectangle 344"/>
          <p:cNvSpPr/>
          <p:nvPr/>
        </p:nvSpPr>
        <p:spPr>
          <a:xfrm>
            <a:off x="822960" y="1920240"/>
            <a:ext cx="6492240" cy="237744"/>
          </a:xfrm>
          <a:prstGeom prst="roundRect">
            <a:avLst>
              <a:gd name="adj" fmla="val 50000"/>
            </a:avLst>
          </a:prstGeom>
          <a:solidFill>
            <a:srgbClr val="D93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7315200" y="1984248"/>
            <a:ext cx="594360" cy="109728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365760" y="1883664"/>
            <a:ext cx="310896" cy="310896"/>
          </a:xfrm>
          <a:prstGeom prst="ellipse">
            <a:avLst/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48" name="Rounded Rectangle 347"/>
          <p:cNvSpPr/>
          <p:nvPr/>
        </p:nvSpPr>
        <p:spPr>
          <a:xfrm>
            <a:off x="822960" y="2834640"/>
            <a:ext cx="6492240" cy="237744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7315200" y="2898648"/>
            <a:ext cx="594360" cy="109728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365760" y="2798064"/>
            <a:ext cx="310896" cy="310896"/>
          </a:xfrm>
          <a:prstGeom prst="ellipse">
            <a:avLst/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51" name="Rounded Rectangle 350"/>
          <p:cNvSpPr/>
          <p:nvPr/>
        </p:nvSpPr>
        <p:spPr>
          <a:xfrm>
            <a:off x="457200" y="3520440"/>
            <a:ext cx="8229600" cy="868680"/>
          </a:xfrm>
          <a:prstGeom prst="roundRect">
            <a:avLst>
              <a:gd name="adj" fmla="val 10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212121"/>
                </a:solidFill>
                <a:latin typeface="Arial"/>
              </a:rPr>
              <a:t>Концы зачисти на 5 мм с каждой стороны: жилы целые и блестят.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5F5F5F"/>
                </a:solidFill>
                <a:latin typeface="Arial"/>
              </a:rPr>
              <a:t>Оба провода одинаковой длины - оба пойдут на двигатель.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Техника безопасности: паяльник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603504"/>
            <a:ext cx="8412480" cy="530352"/>
          </a:xfrm>
          <a:prstGeom prst="roundRect">
            <a:avLst>
              <a:gd name="adj" fmla="val 14000"/>
            </a:avLst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Жало паяльника нагревается до 300-400 градусов - трогать нельзя!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5669280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FEA621"/>
              </a:buClr>
              <a:buSzPct val="80000"/>
              <a:buFont typeface="Arial"/>
              <a:buChar char="●"/>
            </a:pPr>
            <a:r>
              <a:rPr sz="1700" b="0">
                <a:solidFill>
                  <a:srgbClr val="212121"/>
                </a:solidFill>
                <a:latin typeface="Arial"/>
              </a:rPr>
              <a:t>Паяльник ставим только в держатель - не на стол и не на бумагу.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FEA621"/>
              </a:buClr>
              <a:buSzPct val="80000"/>
              <a:buFont typeface="Arial"/>
              <a:buChar char="●"/>
            </a:pPr>
            <a:r>
              <a:rPr sz="1700" b="0">
                <a:solidFill>
                  <a:srgbClr val="212121"/>
                </a:solidFill>
                <a:latin typeface="Arial"/>
              </a:rPr>
              <a:t>Подноси провод к жалу, а не жало к руке; волосы и рукава убраны.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FEA621"/>
              </a:buClr>
              <a:buSzPct val="80000"/>
              <a:buFont typeface="Arial"/>
              <a:buChar char="●"/>
            </a:pPr>
            <a:r>
              <a:rPr sz="1700" b="0">
                <a:solidFill>
                  <a:srgbClr val="212121"/>
                </a:solidFill>
                <a:latin typeface="Arial"/>
              </a:rPr>
              <a:t>Дым от припоя не вдыхай - работай в проветриваемой комнате.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FEA621"/>
              </a:buClr>
              <a:buSzPct val="80000"/>
              <a:buFont typeface="Arial"/>
              <a:buChar char="●"/>
            </a:pPr>
            <a:r>
              <a:rPr sz="1700" b="0">
                <a:solidFill>
                  <a:srgbClr val="212121"/>
                </a:solidFill>
                <a:latin typeface="Arial"/>
              </a:rPr>
              <a:t>Отпаял - выключи из розетки и убери в держатель.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FEA621"/>
              </a:buClr>
              <a:buSzPct val="80000"/>
              <a:buFont typeface="Arial"/>
              <a:buChar char="●"/>
            </a:pPr>
            <a:r>
              <a:rPr sz="1700" b="0">
                <a:solidFill>
                  <a:srgbClr val="212121"/>
                </a:solidFill>
                <a:latin typeface="Arial"/>
              </a:rPr>
              <a:t>Жало горячее еще 10 минут после выключения - не трогай.</a:t>
            </a:r>
          </a:p>
        </p:txBody>
      </p:sp>
      <p:sp>
        <p:nvSpPr>
          <p:cNvPr id="5" name="Isosceles Triangle 4"/>
          <p:cNvSpPr/>
          <p:nvPr/>
        </p:nvSpPr>
        <p:spPr>
          <a:xfrm>
            <a:off x="6492240" y="1417320"/>
            <a:ext cx="1920240" cy="1691640"/>
          </a:xfrm>
          <a:prstGeom prst="triangle">
            <a:avLst/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320040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F5F5F"/>
                </a:solidFill>
                <a:latin typeface="Arial"/>
              </a:rPr>
              <a:t>Ожог! 300-400 градусов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4160520"/>
            <a:ext cx="8412480" cy="548640"/>
          </a:xfrm>
          <a:prstGeom prst="roundRect">
            <a:avLst>
              <a:gd name="adj" fmla="val 14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Обжегся - подержи руку под холодной водой и скажи взрослому.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14"/>
          <p:cNvPicPr preferRelativeResize="0"/>
          <p:nvPr/>
        </p:nvPicPr>
        <p:blipFill rotWithShape="1">
          <a:blip r:embed="rId4">
            <a:alphaModFix/>
          </a:blip>
          <a:srcRect b="12110" l="20151" r="7047" t="1393"/>
          <a:stretch/>
        </p:blipFill>
        <p:spPr>
          <a:xfrm>
            <a:off x="378888" y="703500"/>
            <a:ext cx="4193100" cy="3736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346" name="Google Shape;34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68475" y="687825"/>
            <a:ext cx="3074025" cy="3656326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4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Начнем пайку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48" name="Google Shape;348;p14"/>
          <p:cNvSpPr txBox="1"/>
          <p:nvPr/>
        </p:nvSpPr>
        <p:spPr>
          <a:xfrm>
            <a:off x="4450425" y="4188825"/>
            <a:ext cx="2520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Эти провода длиной 12-16 см</a:t>
            </a:r>
            <a:endParaRPr b="1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9" name="Google Shape;349;p14"/>
          <p:cNvCxnSpPr>
            <a:stCxn id="348" idx="1"/>
          </p:cNvCxnSpPr>
          <p:nvPr/>
        </p:nvCxnSpPr>
        <p:spPr>
          <a:xfrm rot="10800000">
            <a:off x="2793825" y="3913275"/>
            <a:ext cx="1656600" cy="645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0" name="Google Shape;350;p14"/>
          <p:cNvCxnSpPr/>
          <p:nvPr/>
        </p:nvCxnSpPr>
        <p:spPr>
          <a:xfrm rot="10800000">
            <a:off x="1862025" y="4308075"/>
            <a:ext cx="2588400" cy="402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15"/>
          <p:cNvPicPr preferRelativeResize="0"/>
          <p:nvPr/>
        </p:nvPicPr>
        <p:blipFill rotWithShape="1">
          <a:blip r:embed="rId3">
            <a:alphaModFix/>
          </a:blip>
          <a:srcRect b="35551" l="39190" r="16597" t="24617"/>
          <a:stretch/>
        </p:blipFill>
        <p:spPr>
          <a:xfrm>
            <a:off x="780350" y="1046450"/>
            <a:ext cx="2408100" cy="2892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356" name="Google Shape;356;p15"/>
          <p:cNvPicPr preferRelativeResize="0"/>
          <p:nvPr/>
        </p:nvPicPr>
        <p:blipFill rotWithShape="1">
          <a:blip r:embed="rId4">
            <a:alphaModFix/>
          </a:blip>
          <a:srcRect b="21773" l="18689" r="16552" t="9757"/>
          <a:stretch/>
        </p:blipFill>
        <p:spPr>
          <a:xfrm>
            <a:off x="4572000" y="1013900"/>
            <a:ext cx="3729900" cy="295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357" name="Google Shape;357;p15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Устанавливаем кнопку и спаиваем схему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16"/>
          <p:cNvPicPr preferRelativeResize="0"/>
          <p:nvPr/>
        </p:nvPicPr>
        <p:blipFill rotWithShape="1">
          <a:blip r:embed="rId3">
            <a:alphaModFix/>
          </a:blip>
          <a:srcRect b="0" l="0" r="0" t="18341"/>
          <a:stretch/>
        </p:blipFill>
        <p:spPr>
          <a:xfrm rot="1332464">
            <a:off x="870050" y="1568375"/>
            <a:ext cx="4367099" cy="267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4125" y="842275"/>
            <a:ext cx="3236050" cy="32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6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Изолируем оголенные части клеем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h58a166da900a7e00_0_214"/>
          <p:cNvPicPr preferRelativeResize="0"/>
          <p:nvPr/>
        </p:nvPicPr>
        <p:blipFill rotWithShape="1">
          <a:blip r:embed="rId3">
            <a:alphaModFix/>
          </a:blip>
          <a:srcRect b="21773" l="18689" r="16552" t="9757"/>
          <a:stretch/>
        </p:blipFill>
        <p:spPr>
          <a:xfrm>
            <a:off x="1934725" y="667150"/>
            <a:ext cx="5267400" cy="4176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370" name="Google Shape;370;h58a166da900a7e00_0_214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Изолируем оголенные части клеем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1" name="Google Shape;371;h58a166da900a7e00_0_214"/>
          <p:cNvSpPr/>
          <p:nvPr/>
        </p:nvSpPr>
        <p:spPr>
          <a:xfrm>
            <a:off x="3480400" y="4052025"/>
            <a:ext cx="693600" cy="705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7"/>
          <p:cNvPicPr preferRelativeResize="0"/>
          <p:nvPr/>
        </p:nvPicPr>
        <p:blipFill rotWithShape="1">
          <a:blip r:embed="rId3">
            <a:alphaModFix/>
          </a:blip>
          <a:srcRect b="19334" l="14659" r="19308" t="16390"/>
          <a:stretch/>
        </p:blipFill>
        <p:spPr>
          <a:xfrm>
            <a:off x="909525" y="628145"/>
            <a:ext cx="3051154" cy="3960051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7"/>
          <p:cNvSpPr txBox="1"/>
          <p:nvPr/>
        </p:nvSpPr>
        <p:spPr>
          <a:xfrm>
            <a:off x="4937875" y="1651713"/>
            <a:ext cx="327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Винты М3х30 - 2шт.</a:t>
            </a:r>
            <a:endParaRPr b="1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Гайки М3 - 2шт.</a:t>
            </a:r>
            <a:endParaRPr b="1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7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Возвращаемся к сборке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18"/>
          <p:cNvPicPr preferRelativeResize="0"/>
          <p:nvPr/>
        </p:nvPicPr>
        <p:blipFill rotWithShape="1">
          <a:blip r:embed="rId3">
            <a:alphaModFix/>
          </a:blip>
          <a:srcRect b="36122" l="16033" r="16087" t="22854"/>
          <a:stretch/>
        </p:blipFill>
        <p:spPr>
          <a:xfrm>
            <a:off x="1934875" y="704399"/>
            <a:ext cx="4870850" cy="3924925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8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Устанавливаем винты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19"/>
          <p:cNvPicPr preferRelativeResize="0"/>
          <p:nvPr/>
        </p:nvPicPr>
        <p:blipFill rotWithShape="1">
          <a:blip r:embed="rId3">
            <a:alphaModFix/>
          </a:blip>
          <a:srcRect b="15377" l="10304" r="13933" t="22166"/>
          <a:stretch/>
        </p:blipFill>
        <p:spPr>
          <a:xfrm>
            <a:off x="2525750" y="591175"/>
            <a:ext cx="3835075" cy="4215725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9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На винты устанавливаем двигатель (клеммами на нас)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20"/>
          <p:cNvPicPr preferRelativeResize="0"/>
          <p:nvPr/>
        </p:nvPicPr>
        <p:blipFill rotWithShape="1">
          <a:blip r:embed="rId3">
            <a:alphaModFix/>
          </a:blip>
          <a:srcRect b="13671" l="7787" r="3521" t="12512"/>
          <a:stretch/>
        </p:blipFill>
        <p:spPr>
          <a:xfrm>
            <a:off x="2680363" y="590125"/>
            <a:ext cx="3783276" cy="4198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0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Подготовим крепления для батарейного отсека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21"/>
          <p:cNvPicPr preferRelativeResize="0"/>
          <p:nvPr/>
        </p:nvPicPr>
        <p:blipFill rotWithShape="1">
          <a:blip r:embed="rId3">
            <a:alphaModFix/>
          </a:blip>
          <a:srcRect b="9480" l="9983" r="6753" t="15993"/>
          <a:stretch/>
        </p:blipFill>
        <p:spPr>
          <a:xfrm>
            <a:off x="2805038" y="589075"/>
            <a:ext cx="3533926" cy="4217149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1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Устанавливаем и приклеиваем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" name="Google Shape;407;p22"/>
          <p:cNvPicPr preferRelativeResize="0"/>
          <p:nvPr/>
        </p:nvPicPr>
        <p:blipFill rotWithShape="1">
          <a:blip r:embed="rId3">
            <a:alphaModFix/>
          </a:blip>
          <a:srcRect b="27742" l="9672" r="14409" t="16564"/>
          <a:stretch/>
        </p:blipFill>
        <p:spPr>
          <a:xfrm>
            <a:off x="3368000" y="618800"/>
            <a:ext cx="4192001" cy="4100224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22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Устанавливаем электронику</a:t>
            </a:r>
            <a:endParaRPr/>
          </a:p>
        </p:txBody>
      </p:sp>
      <p:pic>
        <p:nvPicPr>
          <p:cNvPr descr="image.png" id="409" name="Google Shape;409;p22"/>
          <p:cNvPicPr preferRelativeResize="0"/>
          <p:nvPr/>
        </p:nvPicPr>
        <p:blipFill rotWithShape="1">
          <a:blip r:embed="rId4">
            <a:alphaModFix/>
          </a:blip>
          <a:srcRect b="22263" l="15190" r="14840" t="10438"/>
          <a:stretch/>
        </p:blipFill>
        <p:spPr>
          <a:xfrm>
            <a:off x="137150" y="792525"/>
            <a:ext cx="3016749" cy="2300875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22"/>
          <p:cNvSpPr txBox="1"/>
          <p:nvPr/>
        </p:nvSpPr>
        <p:spPr>
          <a:xfrm>
            <a:off x="137160" y="315468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" sz="14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Кнопку и электронику устанавливаем так же, как на фото</a:t>
            </a:r>
            <a:r>
              <a:rPr i="1" lang="ru" sz="1400">
                <a:solidFill>
                  <a:srgbClr val="5F5F5F"/>
                </a:solidFill>
              </a:rPr>
              <a:t/>
            </a:r>
            <a:r>
              <a:rPr i="1" lang="ru" sz="1400">
                <a:solidFill>
                  <a:srgbClr val="5F5F5F"/>
                </a:solidFill>
              </a:rPr>
              <a:t/>
            </a:r>
            <a:r>
              <a:rPr i="1" lang="ru" sz="1400">
                <a:solidFill>
                  <a:srgbClr val="5F5F5F"/>
                </a:solidFill>
              </a:rPr>
              <a:t/>
            </a:r>
            <a:r>
              <a:rPr b="0" i="1" lang="ru" sz="14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b="0" i="1" lang="ru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action="ppaction://hlinksldjump" r:id="rId5"/>
              </a:rPr>
              <a:t/>
            </a:r>
            <a:endParaRPr i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3"/>
          <p:cNvSpPr txBox="1"/>
          <p:nvPr/>
        </p:nvSpPr>
        <p:spPr>
          <a:xfrm>
            <a:off x="0" y="2248500"/>
            <a:ext cx="9144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1" lang="ru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Занятие 2</a:t>
            </a:r>
            <a:endParaRPr b="1" i="1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1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4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Занятие 2: что понадобится</a:t>
            </a:r>
            <a:endParaRPr/>
          </a:p>
        </p:txBody>
      </p:sp>
      <p:grpSp>
        <p:nvGrpSpPr>
          <p:cNvPr id="421" name="Google Shape;421;p24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422" name="Google Shape;422;p24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24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ru" sz="2400" u="none" cap="none" strike="noStrike">
                  <a:solidFill>
                    <a:srgbClr val="FEA621"/>
                  </a:solidFill>
                  <a:latin typeface="Arial"/>
                  <a:ea typeface="Arial"/>
                  <a:cs typeface="Arial"/>
                  <a:sym typeface="Arial"/>
                </a:rPr>
                <a:t>т</a:t>
              </a:r>
              <a:endParaRPr b="1" i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5" name="Google Shape;425;p24"/>
          <p:cNvSpPr txBox="1"/>
          <p:nvPr/>
        </p:nvSpPr>
        <p:spPr>
          <a:xfrm>
            <a:off x="320040" y="4434840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5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Разложи детали по группам перед занятием - так соберешь быстрее.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ru" sz="14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Разбор неисправностей шагохода - в конце инструкции.</a:t>
            </a:r>
            <a:endParaRPr/>
          </a:p>
        </p:txBody>
      </p:sp>
      <p:sp>
        <p:nvSpPr>
          <p:cNvPr id="426" name="Google Shape;426;copy28"/>
          <p:cNvSpPr txBox="1"/>
          <p:nvPr>
            <p:ph idx="1" type="subTitle"/>
          </p:nvPr>
        </p:nvSpPr>
        <p:spPr>
          <a:xfrm>
            <a:off x="320040" y="658368"/>
            <a:ext cx="4114800" cy="36118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ru" sz="1800"/>
              <a:t>Что понадобится на занятии 2: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Винты М3х20 - 2 шт. и гайки М3 - 2 шт. - детали с винтами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Гайки М3 - 8 шт.: стенка - 2, корпус - 3, вторая деталь - 3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Деревянные шайбы - на 3 места: вал двигателя, крепление, вторая деталь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Электроника с занятия 1: батарейки, кнопка, двигатель, провода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Клей и инструмент - как на занятии 1</a:t>
            </a:r>
            <a:endParaRPr b="0" sz="1800"/>
          </a:p>
        </p:txBody>
      </p:sp>
      <p:pic>
        <p:nvPicPr>
          <p:cNvPr id="427" name="Google Shape;427;copy28"/>
          <p:cNvPicPr preferRelativeResize="0"/>
          <p:nvPr/>
        </p:nvPicPr>
        <p:blipFill rotWithShape="1">
          <a:blip r:embed="rId4">
            <a:alphaModFix/>
          </a:blip>
          <a:srcRect b="29721" l="0" r="0" t="27168"/>
          <a:stretch/>
        </p:blipFill>
        <p:spPr>
          <a:xfrm>
            <a:off x="4572000" y="905256"/>
            <a:ext cx="3923350" cy="3436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h58a166da900a7e00_0_221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/>
              <a:t>Начинаем сборку!</a:t>
            </a:r>
            <a:endParaRPr/>
          </a:p>
        </p:txBody>
      </p:sp>
      <p:sp>
        <p:nvSpPr>
          <p:cNvPr id="431" name="Google Shape;431;h58a166da900a7e00_0_221"/>
          <p:cNvSpPr txBox="1"/>
          <p:nvPr>
            <p:ph idx="1" type="subTitle"/>
          </p:nvPr>
        </p:nvSpPr>
        <p:spPr>
          <a:xfrm>
            <a:off x="105850" y="615900"/>
            <a:ext cx="3132600" cy="40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ru" sz="1800"/>
              <a:t>Подготовим необходимые элементы: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деревянные детали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переключатель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батарейка 3 В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батарейный отсек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соединительные провода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2 светодиода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2 винта М3х20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8 гайки М3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резинка</a:t>
            </a:r>
            <a:endParaRPr b="0" sz="18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sz="18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sz="18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sz="18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/>
          </a:p>
        </p:txBody>
      </p:sp>
      <p:pic>
        <p:nvPicPr>
          <p:cNvPr id="432" name="Google Shape;432;h58a166da900a7e00_0_221"/>
          <p:cNvPicPr preferRelativeResize="0"/>
          <p:nvPr/>
        </p:nvPicPr>
        <p:blipFill rotWithShape="1">
          <a:blip r:embed="rId3">
            <a:alphaModFix/>
          </a:blip>
          <a:srcRect b="29721" l="0" r="0" t="27168"/>
          <a:stretch/>
        </p:blipFill>
        <p:spPr>
          <a:xfrm>
            <a:off x="3710900" y="901125"/>
            <a:ext cx="3923350" cy="3436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" name="Google Shape;437;p25"/>
          <p:cNvPicPr preferRelativeResize="0"/>
          <p:nvPr/>
        </p:nvPicPr>
        <p:blipFill rotWithShape="1">
          <a:blip r:embed="rId3">
            <a:alphaModFix/>
          </a:blip>
          <a:srcRect b="9433" l="10484" r="9305" t="10490"/>
          <a:stretch/>
        </p:blipFill>
        <p:spPr>
          <a:xfrm>
            <a:off x="2893575" y="604975"/>
            <a:ext cx="3145224" cy="4186426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25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Готовим вторую стенку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Google Shape;443;p26"/>
          <p:cNvPicPr preferRelativeResize="0"/>
          <p:nvPr/>
        </p:nvPicPr>
        <p:blipFill rotWithShape="1">
          <a:blip r:embed="rId3">
            <a:alphaModFix/>
          </a:blip>
          <a:srcRect b="25353" l="8250" r="8921" t="19772"/>
          <a:stretch/>
        </p:blipFill>
        <p:spPr>
          <a:xfrm>
            <a:off x="2190725" y="657575"/>
            <a:ext cx="4548749" cy="4018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26"/>
          <p:cNvPicPr preferRelativeResize="0"/>
          <p:nvPr/>
        </p:nvPicPr>
        <p:blipFill rotWithShape="1">
          <a:blip r:embed="rId4">
            <a:alphaModFix/>
          </a:blip>
          <a:srcRect b="3408" l="0" r="0" t="2457"/>
          <a:stretch/>
        </p:blipFill>
        <p:spPr>
          <a:xfrm>
            <a:off x="627500" y="934725"/>
            <a:ext cx="2107950" cy="1984399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26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Устанавливаем стенку и фиксируем гайками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46" name="Google Shape;446;p26"/>
          <p:cNvSpPr txBox="1"/>
          <p:nvPr/>
        </p:nvSpPr>
        <p:spPr>
          <a:xfrm>
            <a:off x="6839712" y="96012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6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Гайки М3 - 2шт.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27"/>
          <p:cNvPicPr preferRelativeResize="0"/>
          <p:nvPr/>
        </p:nvPicPr>
        <p:blipFill rotWithShape="1">
          <a:blip r:embed="rId3">
            <a:alphaModFix/>
          </a:blip>
          <a:srcRect b="21535" l="13823" r="0" t="3999"/>
          <a:stretch/>
        </p:blipFill>
        <p:spPr>
          <a:xfrm>
            <a:off x="2818375" y="596750"/>
            <a:ext cx="3605774" cy="4154474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27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Установим на вал двигателя деревянные шайбы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28"/>
          <p:cNvPicPr preferRelativeResize="0"/>
          <p:nvPr/>
        </p:nvPicPr>
        <p:blipFill rotWithShape="1">
          <a:blip r:embed="rId3">
            <a:alphaModFix/>
          </a:blip>
          <a:srcRect b="12297" l="8071" r="5334" t="14379"/>
          <a:stretch/>
        </p:blipFill>
        <p:spPr>
          <a:xfrm>
            <a:off x="1446150" y="595625"/>
            <a:ext cx="3379001" cy="3814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28"/>
          <p:cNvPicPr preferRelativeResize="0"/>
          <p:nvPr/>
        </p:nvPicPr>
        <p:blipFill rotWithShape="1">
          <a:blip r:embed="rId4">
            <a:alphaModFix/>
          </a:blip>
          <a:srcRect b="12296" l="13403" r="8307" t="12544"/>
          <a:stretch/>
        </p:blipFill>
        <p:spPr>
          <a:xfrm>
            <a:off x="4979500" y="595625"/>
            <a:ext cx="2951174" cy="3777424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28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Установили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29"/>
          <p:cNvPicPr preferRelativeResize="0"/>
          <p:nvPr/>
        </p:nvPicPr>
        <p:blipFill rotWithShape="1">
          <a:blip r:embed="rId3">
            <a:alphaModFix/>
          </a:blip>
          <a:srcRect b="10028" l="19467" r="14743" t="13309"/>
          <a:stretch/>
        </p:blipFill>
        <p:spPr>
          <a:xfrm rot="-5400000">
            <a:off x="2603425" y="-349599"/>
            <a:ext cx="3677899" cy="57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29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Готовим 2 детали с винтами как на фото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66" name="Google Shape;466;p29"/>
          <p:cNvSpPr txBox="1"/>
          <p:nvPr/>
        </p:nvSpPr>
        <p:spPr>
          <a:xfrm>
            <a:off x="198025" y="3923613"/>
            <a:ext cx="327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Винты М3х20 - 2шт.</a:t>
            </a:r>
            <a:endParaRPr b="1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Гайки М3 - 2шт.</a:t>
            </a:r>
            <a:endParaRPr b="1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" name="Google Shape;471;p30"/>
          <p:cNvPicPr preferRelativeResize="0"/>
          <p:nvPr/>
        </p:nvPicPr>
        <p:blipFill rotWithShape="1">
          <a:blip r:embed="rId3">
            <a:alphaModFix/>
          </a:blip>
          <a:srcRect b="26287" l="9113" r="12999" t="18348"/>
          <a:stretch/>
        </p:blipFill>
        <p:spPr>
          <a:xfrm>
            <a:off x="913650" y="646375"/>
            <a:ext cx="3727925" cy="3533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30"/>
          <p:cNvPicPr preferRelativeResize="0"/>
          <p:nvPr/>
        </p:nvPicPr>
        <p:blipFill rotWithShape="1">
          <a:blip r:embed="rId4">
            <a:alphaModFix/>
          </a:blip>
          <a:srcRect b="31574" l="9144" r="12968" t="17972"/>
          <a:stretch/>
        </p:blipFill>
        <p:spPr>
          <a:xfrm>
            <a:off x="4641575" y="646368"/>
            <a:ext cx="4054800" cy="3502106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30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Приклеим крепления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Google Shape;478;p31"/>
          <p:cNvPicPr preferRelativeResize="0"/>
          <p:nvPr/>
        </p:nvPicPr>
        <p:blipFill rotWithShape="1">
          <a:blip r:embed="rId3">
            <a:alphaModFix/>
          </a:blip>
          <a:srcRect b="31281" l="7111" r="11898" t="21898"/>
          <a:stretch/>
        </p:blipFill>
        <p:spPr>
          <a:xfrm flipH="1">
            <a:off x="2162550" y="736738"/>
            <a:ext cx="5299874" cy="3670026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31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Устанавливаем деревянные шайбы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Google Shape;484;p32"/>
          <p:cNvPicPr preferRelativeResize="0"/>
          <p:nvPr/>
        </p:nvPicPr>
        <p:blipFill rotWithShape="1">
          <a:blip r:embed="rId3">
            <a:alphaModFix/>
          </a:blip>
          <a:srcRect b="24813" l="0" r="0" t="25202"/>
          <a:stretch/>
        </p:blipFill>
        <p:spPr>
          <a:xfrm>
            <a:off x="2069738" y="741925"/>
            <a:ext cx="5004526" cy="333535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32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Устанавливаем внешний корпус и неплотно закручиваем гайки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86" name="Google Shape;486;p32"/>
          <p:cNvSpPr txBox="1"/>
          <p:nvPr/>
        </p:nvSpPr>
        <p:spPr>
          <a:xfrm>
            <a:off x="164604" y="960125"/>
            <a:ext cx="273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 sz="1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Гайки М3 - 3 шт</a:t>
            </a:r>
            <a:endParaRPr i="1" sz="18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Google Shape;491;p33"/>
          <p:cNvPicPr preferRelativeResize="0"/>
          <p:nvPr/>
        </p:nvPicPr>
        <p:blipFill rotWithShape="1">
          <a:blip r:embed="rId3">
            <a:alphaModFix/>
          </a:blip>
          <a:srcRect b="24813" l="0" r="0" t="25202"/>
          <a:stretch/>
        </p:blipFill>
        <p:spPr>
          <a:xfrm>
            <a:off x="2069738" y="741925"/>
            <a:ext cx="5004526" cy="33353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2" name="Google Shape;492;p33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493" name="Google Shape;493;p33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33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ru" sz="2400" u="none" cap="none" strike="noStrike">
                  <a:solidFill>
                    <a:srgbClr val="FEA621"/>
                  </a:solidFill>
                  <a:latin typeface="Arial"/>
                  <a:ea typeface="Arial"/>
                  <a:cs typeface="Arial"/>
                  <a:sym typeface="Arial"/>
                </a:rPr>
                <a:t>т</a:t>
              </a:r>
              <a:endParaRPr b="1" i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5" name="Google Shape;495;p33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Подклеиваем гайки, чтобы они не раскручивались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4"/>
          <p:cNvPicPr preferRelativeResize="0"/>
          <p:nvPr/>
        </p:nvPicPr>
        <p:blipFill rotWithShape="1">
          <a:blip r:embed="rId3">
            <a:alphaModFix/>
          </a:blip>
          <a:srcRect b="31281" l="7111" r="11898" t="21898"/>
          <a:stretch/>
        </p:blipFill>
        <p:spPr>
          <a:xfrm>
            <a:off x="2239675" y="728225"/>
            <a:ext cx="4761526" cy="3670026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4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Устанавливаем деревянные шайбы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35"/>
          <p:cNvPicPr preferRelativeResize="0"/>
          <p:nvPr/>
        </p:nvPicPr>
        <p:blipFill rotWithShape="1">
          <a:blip r:embed="rId3">
            <a:alphaModFix/>
          </a:blip>
          <a:srcRect b="41891" l="16214" r="17526" t="21931"/>
          <a:stretch/>
        </p:blipFill>
        <p:spPr>
          <a:xfrm>
            <a:off x="2025700" y="665600"/>
            <a:ext cx="5195026" cy="3781974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35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Устанавливаем вторую деталь и закручиваем гайки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08" name="Google Shape;508;p35"/>
          <p:cNvSpPr txBox="1"/>
          <p:nvPr/>
        </p:nvSpPr>
        <p:spPr>
          <a:xfrm>
            <a:off x="164604" y="960125"/>
            <a:ext cx="273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 sz="1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Гайки М3 - 3 шт</a:t>
            </a:r>
            <a:endParaRPr i="1" sz="18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36"/>
          <p:cNvPicPr preferRelativeResize="0"/>
          <p:nvPr/>
        </p:nvPicPr>
        <p:blipFill rotWithShape="1">
          <a:blip r:embed="rId3">
            <a:alphaModFix/>
          </a:blip>
          <a:srcRect b="41891" l="16214" r="17526" t="21931"/>
          <a:stretch/>
        </p:blipFill>
        <p:spPr>
          <a:xfrm>
            <a:off x="2025700" y="665600"/>
            <a:ext cx="5195026" cy="37819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4" name="Google Shape;514;p36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515" name="Google Shape;515;p36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36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ru" sz="2400" u="none" cap="none" strike="noStrike">
                  <a:solidFill>
                    <a:srgbClr val="FEA621"/>
                  </a:solidFill>
                  <a:latin typeface="Arial"/>
                  <a:ea typeface="Arial"/>
                  <a:cs typeface="Arial"/>
                  <a:sym typeface="Arial"/>
                </a:rPr>
                <a:t>т</a:t>
              </a:r>
              <a:endParaRPr b="1" i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7" name="Google Shape;517;p36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Фиксируем гайки клеем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h58a166da900a7e00_0_437"/>
          <p:cNvPicPr preferRelativeResize="0"/>
          <p:nvPr/>
        </p:nvPicPr>
        <p:blipFill rotWithShape="1">
          <a:blip r:embed="rId3">
            <a:alphaModFix/>
          </a:blip>
          <a:srcRect b="41891" l="16214" r="17526" t="21931"/>
          <a:stretch/>
        </p:blipFill>
        <p:spPr>
          <a:xfrm>
            <a:off x="293825" y="680763"/>
            <a:ext cx="5195026" cy="3781974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h58a166da900a7e00_0_437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 sz="2100">
                <a:solidFill>
                  <a:schemeClr val="dk1"/>
                </a:solidFill>
              </a:rPr>
              <a:t>Устанавливаем</a:t>
            </a:r>
            <a:r>
              <a:rPr lang="ru" sz="2100">
                <a:solidFill>
                  <a:schemeClr val="dk1"/>
                </a:solidFill>
              </a:rPr>
              <a:t> батарейки соблюдая полярность и </a:t>
            </a:r>
            <a:r>
              <a:rPr lang="ru" sz="2100">
                <a:solidFill>
                  <a:schemeClr val="dk1"/>
                </a:solidFill>
              </a:rPr>
              <a:t>проверяем</a:t>
            </a:r>
            <a:r>
              <a:rPr lang="ru" sz="2100">
                <a:solidFill>
                  <a:schemeClr val="dk1"/>
                </a:solidFill>
              </a:rPr>
              <a:t> работу 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524" name="Google Shape;524;h58a166da900a7e00_0_4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7301" y="1348600"/>
            <a:ext cx="2191376" cy="2191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" name="Google Shape;529;h58a166da900a7e00_0_429"/>
          <p:cNvPicPr preferRelativeResize="0"/>
          <p:nvPr/>
        </p:nvPicPr>
        <p:blipFill rotWithShape="1">
          <a:blip r:embed="rId3">
            <a:alphaModFix/>
          </a:blip>
          <a:srcRect b="41891" l="16214" r="17526" t="21931"/>
          <a:stretch/>
        </p:blipFill>
        <p:spPr>
          <a:xfrm>
            <a:off x="2025700" y="665600"/>
            <a:ext cx="5195026" cy="3781974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h58a166da900a7e00_0_429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Проект готов!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h571b35902b684027_0_197"/>
          <p:cNvSpPr/>
          <p:nvPr/>
        </p:nvSpPr>
        <p:spPr>
          <a:xfrm>
            <a:off x="0" y="0"/>
            <a:ext cx="65874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Шагоход в движении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536" name="Google Shape;536;h571b35902b684027_0_1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695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7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Шагоход не едет - проверяем по порядку</a:t>
            </a:r>
            <a:endParaRPr/>
          </a:p>
        </p:txBody>
      </p:sp>
      <p:grpSp>
        <p:nvGrpSpPr>
          <p:cNvPr id="542" name="Google Shape;542;p37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543" name="Google Shape;543;p37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37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ru" sz="2400" u="none" cap="none" strike="noStrike">
                  <a:solidFill>
                    <a:srgbClr val="FEA621"/>
                  </a:solidFill>
                  <a:latin typeface="Arial"/>
                  <a:ea typeface="Arial"/>
                  <a:cs typeface="Arial"/>
                  <a:sym typeface="Arial"/>
                </a:rPr>
                <a:t>т</a:t>
              </a:r>
              <a:endParaRPr b="1" i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5" name="Google Shape;545;p37"/>
          <p:cNvSpPr/>
          <p:nvPr/>
        </p:nvSpPr>
        <p:spPr>
          <a:xfrm>
            <a:off x="320100" y="1117564"/>
            <a:ext cx="8503800" cy="2342700"/>
          </a:xfrm>
          <a:prstGeom prst="roundRect">
            <a:avLst>
              <a:gd fmla="val 6000" name="adj"/>
            </a:avLst>
          </a:prstGeom>
          <a:solidFill>
            <a:srgbClr val="F2F3F5"/>
          </a:solidFill>
          <a:ln>
            <a:noFill/>
          </a:ln>
        </p:spPr>
        <p:txBody>
          <a:bodyPr anchorCtr="0" anchor="t" bIns="45700" lIns="256025" spcFirstLastPara="1" rIns="201150" wrap="square" tIns="164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7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0" i="0" lang="ru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Батарейки заряжены и вставлены до конца, плюс к плюсу.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ru" sz="17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0" i="0" lang="ru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Кнопка нажимается, контакты чистые, клей их не залил.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ru" sz="17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b="0" i="0" lang="ru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Оба провода подключены к клеммам двигателя, обрыва нет.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ru" sz="17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b="0" i="0" lang="ru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Все гайки затянуты и зафиксированы клеем, стенки целые.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ru" sz="17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5. </a:t>
            </a:r>
            <a:r>
              <a:rPr b="0" i="0" lang="ru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Шайбы на валу на месте, лапы крутятся от руки без заеданий.</a:t>
            </a:r>
            <a:endParaRPr/>
          </a:p>
        </p:txBody>
      </p:sp>
      <p:sp>
        <p:nvSpPr>
          <p:cNvPr id="546" name="Google Shape;546;p37"/>
          <p:cNvSpPr txBox="1"/>
          <p:nvPr/>
        </p:nvSpPr>
        <p:spPr>
          <a:xfrm>
            <a:off x="320040" y="3767328"/>
            <a:ext cx="8503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Проверяем все пункты по порядку, затем ставим шагоход на ровную поверхность и проверяем ход.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ru" sz="14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Не едет - возвращаемся к списку и проверяем по одному пункту. Несколько проблем встречаются вместе, поэтому идём по порядку сверху вниз.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8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Частые проблемы и что делать</a:t>
            </a:r>
            <a:endParaRPr/>
          </a:p>
        </p:txBody>
      </p:sp>
      <p:grpSp>
        <p:nvGrpSpPr>
          <p:cNvPr id="552" name="Google Shape;552;p38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553" name="Google Shape;553;p38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38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ru" sz="2400" u="none" cap="none" strike="noStrike">
                  <a:solidFill>
                    <a:srgbClr val="FEA621"/>
                  </a:solidFill>
                  <a:latin typeface="Arial"/>
                  <a:ea typeface="Arial"/>
                  <a:cs typeface="Arial"/>
                  <a:sym typeface="Arial"/>
                </a:rPr>
                <a:t>т</a:t>
              </a:r>
              <a:endParaRPr b="1" i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5" name="Google Shape;555;p38"/>
          <p:cNvSpPr/>
          <p:nvPr/>
        </p:nvSpPr>
        <p:spPr>
          <a:xfrm>
            <a:off x="310896" y="658368"/>
            <a:ext cx="4224528" cy="1207008"/>
          </a:xfrm>
          <a:prstGeom prst="roundRect">
            <a:avLst>
              <a:gd fmla="val 6000" name="adj"/>
            </a:avLst>
          </a:prstGeom>
          <a:solidFill>
            <a:srgbClr val="F2F3F5"/>
          </a:solidFill>
          <a:ln>
            <a:noFill/>
          </a:ln>
        </p:spPr>
        <p:txBody>
          <a:bodyPr anchorCtr="0" anchor="t" bIns="45700" lIns="182875" spcFirstLastPara="1" rIns="146300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9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Не едет совсем</a:t>
            </a:r>
            <a:endParaRPr sz="18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ru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Батарейки, кнопка или контакт у двигателя. Проверь пункты 1-3.</a:t>
            </a:r>
            <a:endParaRPr sz="1800"/>
          </a:p>
        </p:txBody>
      </p:sp>
      <p:sp>
        <p:nvSpPr>
          <p:cNvPr id="556" name="Google Shape;556;p38"/>
          <p:cNvSpPr/>
          <p:nvPr/>
        </p:nvSpPr>
        <p:spPr>
          <a:xfrm>
            <a:off x="4608576" y="658368"/>
            <a:ext cx="4224528" cy="1207008"/>
          </a:xfrm>
          <a:prstGeom prst="roundRect">
            <a:avLst>
              <a:gd fmla="val 6000" name="adj"/>
            </a:avLst>
          </a:prstGeom>
          <a:solidFill>
            <a:srgbClr val="F2F3F5"/>
          </a:solidFill>
          <a:ln>
            <a:noFill/>
          </a:ln>
        </p:spPr>
        <p:txBody>
          <a:bodyPr anchorCtr="0" anchor="t" bIns="45700" lIns="182875" spcFirstLastPara="1" rIns="146300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9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Один мотор молчит</a:t>
            </a:r>
            <a:endParaRPr sz="18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ru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Обрыв или плохой контакт в клемме. Перепаяй и заизолируй клеем.</a:t>
            </a:r>
            <a:endParaRPr sz="1800"/>
          </a:p>
        </p:txBody>
      </p:sp>
      <p:sp>
        <p:nvSpPr>
          <p:cNvPr id="557" name="Google Shape;557;p38"/>
          <p:cNvSpPr/>
          <p:nvPr/>
        </p:nvSpPr>
        <p:spPr>
          <a:xfrm>
            <a:off x="310896" y="1956816"/>
            <a:ext cx="4224528" cy="1207008"/>
          </a:xfrm>
          <a:prstGeom prst="roundRect">
            <a:avLst>
              <a:gd fmla="val 6000" name="adj"/>
            </a:avLst>
          </a:prstGeom>
          <a:solidFill>
            <a:srgbClr val="F2F3F5"/>
          </a:solidFill>
          <a:ln>
            <a:noFill/>
          </a:ln>
        </p:spPr>
        <p:txBody>
          <a:bodyPr anchorCtr="0" anchor="t" bIns="45700" lIns="182875" spcFirstLastPara="1" rIns="146300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9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Едет рывками</a:t>
            </a:r>
            <a:endParaRPr sz="18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ru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Окислились клеммы или батарейка вставлена не до конца.</a:t>
            </a:r>
            <a:endParaRPr sz="1800"/>
          </a:p>
        </p:txBody>
      </p:sp>
      <p:sp>
        <p:nvSpPr>
          <p:cNvPr id="558" name="Google Shape;558;p38"/>
          <p:cNvSpPr/>
          <p:nvPr/>
        </p:nvSpPr>
        <p:spPr>
          <a:xfrm>
            <a:off x="4608576" y="1956816"/>
            <a:ext cx="4224528" cy="1207008"/>
          </a:xfrm>
          <a:prstGeom prst="roundRect">
            <a:avLst>
              <a:gd fmla="val 6000" name="adj"/>
            </a:avLst>
          </a:prstGeom>
          <a:solidFill>
            <a:srgbClr val="F2F3F5"/>
          </a:solidFill>
          <a:ln>
            <a:noFill/>
          </a:ln>
        </p:spPr>
        <p:txBody>
          <a:bodyPr anchorCtr="0" anchor="t" bIns="45700" lIns="182875" spcFirstLastPara="1" rIns="146300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9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Гудит, но еле едет</a:t>
            </a:r>
            <a:endParaRPr sz="18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ru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Заклинило вал или перекос шайб. Поправь шайбы и зазор.</a:t>
            </a:r>
            <a:endParaRPr sz="1800"/>
          </a:p>
        </p:txBody>
      </p:sp>
      <p:sp>
        <p:nvSpPr>
          <p:cNvPr id="559" name="Google Shape;559;p38"/>
          <p:cNvSpPr/>
          <p:nvPr/>
        </p:nvSpPr>
        <p:spPr>
          <a:xfrm>
            <a:off x="310896" y="3255264"/>
            <a:ext cx="4224528" cy="1207008"/>
          </a:xfrm>
          <a:prstGeom prst="roundRect">
            <a:avLst>
              <a:gd fmla="val 6000" name="adj"/>
            </a:avLst>
          </a:prstGeom>
          <a:solidFill>
            <a:srgbClr val="F2F3F5"/>
          </a:solidFill>
          <a:ln>
            <a:noFill/>
          </a:ln>
        </p:spPr>
        <p:txBody>
          <a:bodyPr anchorCtr="0" anchor="t" bIns="45700" lIns="182875" spcFirstLastPara="1" rIns="146300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9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Едет криво, цепляет корпус</a:t>
            </a:r>
            <a:endParaRPr sz="18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ru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Не затянуты гайки или разъехались стенки. Подтяни и подклей.</a:t>
            </a:r>
            <a:endParaRPr sz="1800"/>
          </a:p>
        </p:txBody>
      </p:sp>
      <p:sp>
        <p:nvSpPr>
          <p:cNvPr id="560" name="Google Shape;560;p38"/>
          <p:cNvSpPr/>
          <p:nvPr/>
        </p:nvSpPr>
        <p:spPr>
          <a:xfrm>
            <a:off x="4608576" y="3255264"/>
            <a:ext cx="4224528" cy="1207008"/>
          </a:xfrm>
          <a:prstGeom prst="roundRect">
            <a:avLst>
              <a:gd fmla="val 6000" name="adj"/>
            </a:avLst>
          </a:prstGeom>
          <a:solidFill>
            <a:srgbClr val="F2F3F5"/>
          </a:solidFill>
          <a:ln>
            <a:noFill/>
          </a:ln>
        </p:spPr>
        <p:txBody>
          <a:bodyPr anchorCtr="0" anchor="t" bIns="45700" lIns="182875" spcFirstLastPara="1" rIns="146300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9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Батарейки садятся быстро</a:t>
            </a:r>
            <a:endParaRPr sz="18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ru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Где-то замыкает кнопка или провод. Отключи провод двигателя.</a:t>
            </a:r>
            <a:endParaRPr sz="18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9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Перед запуском: питание, шайбы и крепления</a:t>
            </a:r>
            <a:endParaRPr/>
          </a:p>
        </p:txBody>
      </p:sp>
      <p:grpSp>
        <p:nvGrpSpPr>
          <p:cNvPr id="566" name="Google Shape;566;p39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567" name="Google Shape;567;p39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39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ru" sz="2400" u="none" cap="none" strike="noStrike">
                  <a:solidFill>
                    <a:srgbClr val="FEA621"/>
                  </a:solidFill>
                  <a:latin typeface="Arial"/>
                  <a:ea typeface="Arial"/>
                  <a:cs typeface="Arial"/>
                  <a:sym typeface="Arial"/>
                </a:rPr>
                <a:t>т</a:t>
              </a:r>
              <a:endParaRPr b="1" i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image.png" id="569" name="Google Shape;569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1450" y="603504"/>
            <a:ext cx="1334859" cy="1481328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39"/>
          <p:cNvSpPr txBox="1"/>
          <p:nvPr/>
        </p:nvSpPr>
        <p:spPr>
          <a:xfrm>
            <a:off x="365760" y="2121408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8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Батарейный отсек закреплен</a:t>
            </a:r>
            <a:endParaRPr/>
          </a:p>
        </p:txBody>
      </p:sp>
      <p:pic>
        <p:nvPicPr>
          <p:cNvPr descr="image.png" id="571" name="Google Shape;571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55037" y="603504"/>
            <a:ext cx="1514485" cy="1481328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39"/>
          <p:cNvSpPr txBox="1"/>
          <p:nvPr/>
        </p:nvSpPr>
        <p:spPr>
          <a:xfrm>
            <a:off x="4709160" y="2121408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8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Электроника установлена, провода </a:t>
            </a:r>
            <a:r>
              <a:rPr b="0" i="0" lang="ru" sz="18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3"/>
                  </a:ext>
                </a:extLst>
              </a:rPr>
              <a:t>заизолированы</a:t>
            </a:r>
            <a:endParaRPr/>
          </a:p>
        </p:txBody>
      </p:sp>
      <p:pic>
        <p:nvPicPr>
          <p:cNvPr descr="image.png" id="573" name="Google Shape;573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26039" y="2651760"/>
            <a:ext cx="1285682" cy="1481328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39"/>
          <p:cNvSpPr txBox="1"/>
          <p:nvPr/>
        </p:nvSpPr>
        <p:spPr>
          <a:xfrm>
            <a:off x="365760" y="4169663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8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Деревянные шайбы на валу двигателя на месте</a:t>
            </a:r>
            <a:endParaRPr/>
          </a:p>
        </p:txBody>
      </p:sp>
      <p:pic>
        <p:nvPicPr>
          <p:cNvPr descr="image.png" id="575" name="Google Shape;575;p3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00951" y="2651760"/>
            <a:ext cx="2222658" cy="1481328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39"/>
          <p:cNvSpPr txBox="1"/>
          <p:nvPr/>
        </p:nvSpPr>
        <p:spPr>
          <a:xfrm>
            <a:off x="4709160" y="4169663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8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Гайки подклеены - не раскрутятся на ходу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