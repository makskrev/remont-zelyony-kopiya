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306" r:id="rId56"/>
    <p:sldId id="307" r:id="rId57"/>
    <p:sldId id="308" r:id="rId5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9cea353b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29cea353b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9cea353bc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9cea353bc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9cea353bc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9cea353bc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Берем коннектор и ленту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9cea353bc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9cea353bc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Комментарии к сборке: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Подключаем светодиодную ленту к коннекторам. Внимательно следите за тем какой контакт куда подключен Черный провод должен быть подключен к контакту пит, а остальные цвета проводов соответствовать цветам ленты. </a:t>
            </a:r>
            <a:br>
              <a:rPr lang="ru">
                <a:solidFill>
                  <a:schemeClr val="dk1"/>
                </a:solidFill>
              </a:rPr>
            </a:b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Проконтролируйте что у детей все получилось, а еще лучше проверьте подключение кроной.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9cea353bc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9cea353bc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9cea353bc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Проверяем детали в наборах.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3" name="Google Shape;233;g29cea353bcb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9cea353bc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Комментарии к сборке: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0" name="Google Shape;240;g29cea353bcb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9cea353bc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Комментарии к сборке: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Ленту без защиты на клейкой стороне просовываем в отверстие. Расправляем ленту как на фото, чтобы с двух сторон лента была одинаковой длины. Если лента не большой длины, клеим сначал ближе к концу палки со стороны проводов коннектора.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2" name="Google Shape;252;g29cea353bcb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9cea353bc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9cea353bc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	</a:t>
            </a:r>
            <a:r>
              <a:rPr lang="ru">
                <a:solidFill>
                  <a:schemeClr val="dk1"/>
                </a:solidFill>
              </a:rPr>
              <a:t>Безопасность ребенка и ваших нервов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Тайминг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примерно 1 минута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сценария: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Ребята, техника безопасности очень важна. (чем серьезней надуете щеки, тем лучше) Во-первых…..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(все правила проговариваем вслух)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9cea353bc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Проверить все детали.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0" name="Google Shape;270;g29cea353bcb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9cea353bc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В неполный круг вставляем переключатели и закрепляем их гайками.</a:t>
            </a:r>
            <a:br>
              <a:rPr lang="ru">
                <a:solidFill>
                  <a:schemeClr val="dk1"/>
                </a:solidFill>
              </a:rPr>
            </a:b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КЛЕИТЬ НЕ НАДО!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6" name="Google Shape;276;g29cea353bcb_0_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9cea353bc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кольцо переключателями вниз на расстоянии от верха трубки 4,5 см.Проверяем , чтобы было как на фото.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9" name="Google Shape;299;g29cea353bcb_0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9cea353bc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Вставляем винты в отверстия как на фото.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1" name="Google Shape;311;g29cea353bcb_0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9cea353bc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Устанавливаем кольцо с отверстиями на расстоянии 0,5 см от низа серой трубки.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2" name="Google Shape;322;g29cea353bcb_0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9cea353bc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Вставляем крышку с винтами. Фиксируем ее гайками. После этого можно на всякий случай приклеить кольцо к трубке. Гайки можно приклеить к фанере. Так при смене батарейки нужно будет выкрутить только два винта, и гайки не потеряешь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6" name="Google Shape;336;g29cea353bcb_0_1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9cea353bcb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9cea353bcb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Техника безопасности при работе с паяльником.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Без разрешения преподавателя: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Не брать паяльник;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Не включать паяльник;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Не паять;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 случае ожога сообщить преподавателю;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Не передавать паяльник из рук в руки, только через подставку;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Держим паяльник как ручку;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 случае поломки сразу зовем преподавателя.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9cea353bc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9cea353bc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 </a:t>
            </a:r>
            <a:br>
              <a:rPr b="1" lang="ru" u="sng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	Что нужно для пайки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u="sng">
                <a:solidFill>
                  <a:schemeClr val="dk1"/>
                </a:solidFill>
              </a:rPr>
              <a:t>	</a:t>
            </a:r>
            <a:r>
              <a:rPr lang="ru">
                <a:solidFill>
                  <a:schemeClr val="dk1"/>
                </a:solidFill>
              </a:rPr>
              <a:t>Для пайки нам необходимы следующие элементы:</a:t>
            </a: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            Сам паяльник - основной инструмент пайщика, с его помощью мы будем наносить припой на провода.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	Флюс - гель - благодаря нему припой очень быстро распределяется по проводу;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	Припой - специальный сплав олова, свинца и других легкоплавких материалов, который плавится при сравнительно невысокой температуре и используется для соединения проводов друг с другом.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Защитные очки и перчатки - для того, чтобы обезопасить нас от травм во время пайки.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9cea353bc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9cea353bc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 </a:t>
            </a:r>
            <a:br>
              <a:rPr b="1" lang="ru" u="sng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	Как работает стриппер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	</a:t>
            </a:r>
            <a:r>
              <a:rPr lang="ru">
                <a:solidFill>
                  <a:schemeClr val="dk1"/>
                </a:solidFill>
              </a:rPr>
              <a:t>На левом рисунке представлен процесс зачищения проводов (снимаем изоляцию с конца провода). На правом рисунке - процесс резки проводов.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9cea353bcb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9cea353bc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 </a:t>
            </a:r>
            <a:br>
              <a:rPr b="1" lang="ru" u="sng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	Рассказать, как регулировать длину снимаемой части.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	</a:t>
            </a:r>
            <a:r>
              <a:rPr lang="ru">
                <a:solidFill>
                  <a:schemeClr val="dk1"/>
                </a:solidFill>
              </a:rPr>
              <a:t>Обратите внимание. Мы можем устанавливать разную длину снимаемой части изоляции.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9cea353bcb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9cea353bcb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 </a:t>
            </a:r>
            <a:br>
              <a:rPr b="1" lang="ru" u="sng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	Флюсим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	</a:t>
            </a:r>
            <a:r>
              <a:rPr lang="ru">
                <a:solidFill>
                  <a:schemeClr val="dk1"/>
                </a:solidFill>
              </a:rPr>
              <a:t>Прежде, чем начать паять - покроем провода флюсом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9cea353bcb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9cea353bcb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 </a:t>
            </a:r>
            <a:br>
              <a:rPr b="1" lang="ru" u="sng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	Разъяснить про лужение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	</a:t>
            </a:r>
            <a:r>
              <a:rPr lang="ru">
                <a:solidFill>
                  <a:schemeClr val="dk1"/>
                </a:solidFill>
              </a:rPr>
              <a:t>Лужение - это покрытие провода тонким слоем олова. Этот процесс нужен нам для того, чтобы превратить наш провод из кучи мелких проводков в одну единую жилу.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9cea353bcb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29cea353bcb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Комментарии к сборке: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9cea353bcb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29cea353bcb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Электрическая схема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	</a:t>
            </a:r>
            <a:r>
              <a:rPr lang="ru">
                <a:solidFill>
                  <a:schemeClr val="dk1"/>
                </a:solidFill>
              </a:rPr>
              <a:t>С питания ток течет на переключатели (тумблеры) с каждого </a:t>
            </a:r>
            <a:r>
              <a:rPr lang="ru">
                <a:solidFill>
                  <a:schemeClr val="dk1"/>
                </a:solidFill>
              </a:rPr>
              <a:t>и</a:t>
            </a:r>
            <a:r>
              <a:rPr lang="ru">
                <a:solidFill>
                  <a:schemeClr val="dk1"/>
                </a:solidFill>
              </a:rPr>
              <a:t>з них на конкретный цвет ленты. А затем на общий минус.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9cea353bcb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Комментарии к сборке: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Припаиваем красный провод от клеммы кроны к питанию коннектора (должен быть черным, проверяйте подключение) После пайки вставляем батарейку. И можно проверить цвета поднеся по очереди. 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4" name="Google Shape;414;g29cea353bcb_0_1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9cea353bcb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9cea353bcb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Сборка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br>
              <a:rPr b="1" lang="ru" u="sng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Один из наиболее распространенных и дешевых способов изоляции - изолента. Она не проводит ток.</a:t>
            </a:r>
            <a:br>
              <a:rPr b="1" lang="ru" u="sng">
                <a:solidFill>
                  <a:schemeClr val="dk1"/>
                </a:solidFill>
              </a:rPr>
            </a:b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highlight>
                  <a:srgbClr val="FFFFFF"/>
                </a:highlight>
              </a:rPr>
              <a:t>Возможна также изоляция термоклеем. Термоклей не проводит ток, он достаточно гибок в застывшем состоянии, но всё же имеет пределы на механическое воздействие, уступая заводской изоляции проводов. Химически и влагостоек, температура его плавления около 90 градусов, начинает размякать в кипящей воде. Для изоляции высоковольтных проводов я бы не рекомендовал, слой может получится не равномерным, а для электрической и гидро изоляции соединений проводов сигнализации и освещения, подсветки и соединений печатных плат, без большого нагрева, вполне подойдет.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9cea353bcb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После подключения батареи прикладываем каждый провод отвечающий за цвет к клемме кроны не спаянной. И проводим опыт что писали ранее. Что будет если смешать синий и красный и т.д.?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6" name="Google Shape;436;g29cea353bcb_0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9cea353bcb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Комментарии к сборке: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здесь можно уделить 5 минут детям поиграть и полюбоваться. В итоге они получили еще 4 цвета: желтый, розовый, голубой, белый.</a:t>
            </a:r>
            <a:endParaRPr/>
          </a:p>
        </p:txBody>
      </p:sp>
      <p:sp>
        <p:nvSpPr>
          <p:cNvPr id="447" name="Google Shape;447;g29cea353bcb_0_2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9cea353bcb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Комментарии к сборке: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продолжаем работу</a:t>
            </a:r>
            <a:endParaRPr/>
          </a:p>
        </p:txBody>
      </p:sp>
      <p:sp>
        <p:nvSpPr>
          <p:cNvPr id="476" name="Google Shape;476;g29cea353bcb_0_2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9cea353bcb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Берем черный провод 20 см и припаиваем к минусу от батареи (черный провод).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83" name="Google Shape;483;g29cea353bcb_0_2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9cea353bcb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29cea353bcb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9cea353bcb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шайбу на конец основания со стороны отверстия как на фото.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08" name="Google Shape;508;g29cea353bcb_0_2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9cea353bcb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Вставляем основу в белую трубу до самого конца и приклеиваем как на фото.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0" name="Google Shape;520;g29cea353bcb_0_2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9cea353bcb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29cea353bcb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9cea353bcb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Берем два неполных кольца и приклеиваем сначала одно на расстоянии 4 см от низа белой трубки (со стороны торчащих проводов), затем второе на расстоянии 2 см от низа трубки.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Приклеиваем кольца как на картинке, чтобы прорези в кольцах были одна над другой (туда мы заложим провода).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37" name="Google Shape;537;g29cea353bcb_0_3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9cea353bcb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Три провода от RGB ленты приклеиваем к трубке по зазору в кольцах (ближе к правой стороне как на фото).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Затем провод от батареи (тоже черный) приклеиваем в зазор (ближе к левой стороне).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57" name="Google Shape;557;g29cea353bcb_0_3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29cea353bcb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Кладем батарейку в серую трубку,засовываем провода и белую трубку внутрь серой до второго неполного кольца, так чтобы только провода торчали из конца серой трубки (фото справа).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Фиксируем клеем последнее неполное кольцо к серой трубке.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75" name="Google Shape;575;g29cea353bcb_0_3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9cea353bcb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Комментарии к сборке: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 На картинке справа показано, как правильно припаивать провод к кнопке. Если провод совать в кнопку, то потом отпаять его практически невозможно.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92" name="Google Shape;592;g29cea353bcb_0_3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9cea353bcb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На фото слева один длинный черный провод - это минус с батареи. Справа три провода от ленты.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Берем один из проводов от ленты и припаиваем его к одному ушку первого тумблера как на фото справа.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04" name="Google Shape;604;g29cea353bcb_0_3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29cea353bcb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Берем второй из проводов от ленты и припаиваем его к одному ушку второго тумблера как на фото.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Берем третий из проводов от ленты и припаиваем его к одному ушку третьего тумблера как на фото.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27" name="Google Shape;627;g29cea353bcb_0_3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9cea353bcb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65" name="Google Shape;665;g29cea353bcb_0_4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9cea353bcb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Один конец красного провода припаиваем к свободному ушку тумблера, второй конец к минусовому проводу от батарейки.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74" name="Google Shape;674;g29cea353bcb_0_4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29cea353bcb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Один конец красного провода припаиваем к свободному ушку тумблера, второй конец к минусовому проводу от батарейки.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Повторяем так со всеми тумблерами.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Все красные провода должны паяться одним концом к одному проводу с батарейки.Пример на фото.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01" name="Google Shape;701;g29cea353bcb_0_4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29cea353bcb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Переключаем тумблеры и добиваем этих трех цветов.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37" name="Google Shape;737;g29cea353bcb_0_4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29cea353bcb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Берем кольцо , надеваем на белую трубку и на расстоянии 1 см от края серой трубки фиксируем кольцо.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45" name="Google Shape;745;g29cea353bcb_0_5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9cea353bcb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Берем кусок картона и сгибаем его , чтобы он стал круглым как на фото.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59" name="Google Shape;759;g29cea353bcb_0_5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9cea353bcb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картон к деревянным кольцам.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Если у ребенка не сошлась ширина картона с расстоянием от кольца до кольца, то просто вырежьте ему новый кусок нужной ширины.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66" name="Google Shape;766;g29cea353bcb_0_5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9cea353bcb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Готово!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73" name="Google Shape;773;g29cea353bcb_0_5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9cea353bcb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Комментарии к сборке: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Дети могут проверить все вариации цветов меча и выбрать какой им больше понравится.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На время этого эксперимента лучше приглушить или вовсе выключить свет.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Для изменения режимов, включаем и тумблеры в различных комбинациях. Включите по одному тумблеру, потом попробуете несколько и все одновременно. Цвета будут меняться.</a:t>
            </a:r>
            <a:endParaRPr/>
          </a:p>
        </p:txBody>
      </p:sp>
      <p:sp>
        <p:nvSpPr>
          <p:cNvPr id="779" name="Google Shape;779;g29cea353bcb_0_5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9cea353bcb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Световой меч готов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90" name="Google Shape;790;g29cea353bcb_0_5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9cea353bcb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9cea353bcb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6.png"/><Relationship Id="rId4" Type="http://schemas.openxmlformats.org/officeDocument/2006/relationships/hyperlink" Target="mailto:info@obraz.pro" TargetMode="External"/><Relationship Id="rId5" Type="http://schemas.openxmlformats.org/officeDocument/2006/relationships/hyperlink" Target="mailto:info@obraz.pro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6.png"/><Relationship Id="rId4" Type="http://schemas.openxmlformats.org/officeDocument/2006/relationships/hyperlink" Target="mailto:info@obraz.pro" TargetMode="External"/><Relationship Id="rId5" Type="http://schemas.openxmlformats.org/officeDocument/2006/relationships/hyperlink" Target="mailto:info@obraz.pro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4_1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info@obraz.pro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1616850" y="1546550"/>
            <a:ext cx="2484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359100" y="2108800"/>
            <a:ext cx="2999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7639100" y="3878900"/>
            <a:ext cx="13305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">
  <p:cSld name="CUSTOM_2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 1">
  <p:cSld name="CUSTOM_2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body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">
  <p:cSld name="TITLE_2_3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РЕПЕТИЦИЯ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 flipH="1" rot="10800000">
            <a:off x="1085475" y="3118750"/>
            <a:ext cx="6861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>
  <p:cSld name="TITLE_3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 txBox="1"/>
          <p:nvPr>
            <p:ph type="title"/>
          </p:nvPr>
        </p:nvSpPr>
        <p:spPr>
          <a:xfrm>
            <a:off x="1580550" y="886775"/>
            <a:ext cx="59829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1586400" y="2530475"/>
            <a:ext cx="59712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0" y="4694100"/>
            <a:ext cx="6491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асибо за занятие">
  <p:cSld name="CUSTOM_4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1347394" y="1333688"/>
            <a:ext cx="3151800" cy="22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ru" sz="2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ЖДЕМ НА ЗАНЯТИЯХ В ШКОЛАХ ЭРЫ ИНЖЕНЕРОВ!!</a:t>
            </a:r>
            <a:endParaRPr b="0" i="0" sz="27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info@obraz.pro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 1 1">
  <p:cSld name="CUSTOM_2_1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8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6" name="Google Shape;5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">
  <p:cSld name="TITLE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0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0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0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ПЕРЕРЫВ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0"/>
          <p:cNvSpPr/>
          <p:nvPr/>
        </p:nvSpPr>
        <p:spPr>
          <a:xfrm flipH="1" rot="10800000">
            <a:off x="1836964" y="311875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0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">
  <p:cSld name="TITLE_2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1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ВИКТОРИНА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1"/>
          <p:cNvSpPr/>
          <p:nvPr/>
        </p:nvSpPr>
        <p:spPr>
          <a:xfrm flipH="1" rot="10800000">
            <a:off x="1206075" y="3118750"/>
            <a:ext cx="66390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1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2">
  <p:cSld name="TITLE_2_3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2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2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2"/>
          <p:cNvSpPr txBox="1"/>
          <p:nvPr/>
        </p:nvSpPr>
        <p:spPr>
          <a:xfrm>
            <a:off x="530725" y="1838100"/>
            <a:ext cx="80619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ЧТО ДАЛЬШЕ?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2"/>
          <p:cNvSpPr/>
          <p:nvPr/>
        </p:nvSpPr>
        <p:spPr>
          <a:xfrm flipH="1" rot="10800000">
            <a:off x="627225" y="3118750"/>
            <a:ext cx="77184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2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">
  <p:cSld name="TITLE_2_3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3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ПОВТОРЕНИЕ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 flipH="1" rot="10800000">
            <a:off x="844300" y="3118750"/>
            <a:ext cx="7446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">
  <p:cSld name="TITLE_2_3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ЗАЩИТА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/>
          <p:nvPr/>
        </p:nvSpPr>
        <p:spPr>
          <a:xfrm flipH="1" rot="10800000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 1">
  <p:cSld name="TITLE_2_3_1_1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 flipH="1" rot="10800000">
            <a:off x="1718625" y="3118750"/>
            <a:ext cx="5716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 1 1">
  <p:cSld name="TITLE_2_3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 flipH="1" rot="10800000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ОРЕВНОВАНИЯ">
  <p:cSld name="CUSTOM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7"/>
          <p:cNvPicPr preferRelativeResize="0"/>
          <p:nvPr/>
        </p:nvPicPr>
        <p:blipFill rotWithShape="1">
          <a:blip r:embed="rId2">
            <a:alphaModFix/>
          </a:blip>
          <a:srcRect b="907" l="0" r="0" t="15609"/>
          <a:stretch/>
        </p:blipFill>
        <p:spPr>
          <a:xfrm>
            <a:off x="-9450" y="0"/>
            <a:ext cx="9153450" cy="50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-14215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89119" y="1838081"/>
            <a:ext cx="89178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ru" sz="7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СОРЕВНОВАНИЯ</a:t>
            </a:r>
            <a:endParaRPr b="0" i="0" sz="72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/>
          <p:nvPr/>
        </p:nvSpPr>
        <p:spPr>
          <a:xfrm flipH="1" rot="10800000">
            <a:off x="700238" y="2942156"/>
            <a:ext cx="7753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">
  <p:cSld name="CUSTOM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260521" y="2406827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605" y="2496156"/>
            <a:ext cx="361254" cy="361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995875" y="3210300"/>
            <a:ext cx="51012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18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18"/>
          <p:cNvSpPr txBox="1"/>
          <p:nvPr>
            <p:ph idx="3" type="subTitle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18"/>
          <p:cNvSpPr txBox="1"/>
          <p:nvPr>
            <p:ph idx="4" type="subTitle"/>
          </p:nvPr>
        </p:nvSpPr>
        <p:spPr>
          <a:xfrm>
            <a:off x="995875" y="2434963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0" name="Google Shape;14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 2">
  <p:cSld name="CUSTOM_1_1_1_4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995875" y="1589700"/>
            <a:ext cx="5101200" cy="29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19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 1">
  <p:cSld name="CUSTOM_1_1_1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995875" y="2434975"/>
            <a:ext cx="5101200" cy="20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20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20"/>
          <p:cNvSpPr txBox="1"/>
          <p:nvPr>
            <p:ph idx="3" type="subTitle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3" name="Google Shape;16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/>
          <p:nvPr/>
        </p:nvSpPr>
        <p:spPr>
          <a:xfrm flipH="1" rot="10800000">
            <a:off x="4162568" y="-72"/>
            <a:ext cx="4981500" cy="1063200"/>
          </a:xfrm>
          <a:prstGeom prst="triangle">
            <a:avLst>
              <a:gd fmla="val 78693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/>
          <p:nvPr/>
        </p:nvSpPr>
        <p:spPr>
          <a:xfrm flipH="1" rot="10800000">
            <a:off x="-26" y="509100"/>
            <a:ext cx="8295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1" name="Google Shape;17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>
  <p:cSld name="OBJECT_2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/>
          <p:nvPr/>
        </p:nvSpPr>
        <p:spPr>
          <a:xfrm flipH="1" rot="-5400000">
            <a:off x="5963525" y="1981200"/>
            <a:ext cx="5216400" cy="1181100"/>
          </a:xfrm>
          <a:prstGeom prst="triangle">
            <a:avLst>
              <a:gd fmla="val 78693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/>
          <p:nvPr/>
        </p:nvSpPr>
        <p:spPr>
          <a:xfrm flipH="1" rot="10800000">
            <a:off x="-25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22"/>
          <p:cNvSpPr txBox="1"/>
          <p:nvPr>
            <p:ph idx="1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9" name="Google Shape;17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257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колонки">
  <p:cSld name="OBJECT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/>
          <p:nvPr/>
        </p:nvSpPr>
        <p:spPr>
          <a:xfrm flipH="1" rot="10800000">
            <a:off x="-25" y="509100"/>
            <a:ext cx="91389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23"/>
          <p:cNvSpPr txBox="1"/>
          <p:nvPr>
            <p:ph idx="1" type="body"/>
          </p:nvPr>
        </p:nvSpPr>
        <p:spPr>
          <a:xfrm>
            <a:off x="48037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23"/>
          <p:cNvSpPr txBox="1"/>
          <p:nvPr>
            <p:ph idx="2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87" name="Google Shape;18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дача наборов">
  <p:cSld name="CUSTOM_3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4"/>
          <p:cNvPicPr preferRelativeResize="0"/>
          <p:nvPr/>
        </p:nvPicPr>
        <p:blipFill rotWithShape="1">
          <a:blip r:embed="rId2">
            <a:alphaModFix/>
          </a:blip>
          <a:srcRect b="10915" l="0" r="0" t="5873"/>
          <a:stretch/>
        </p:blipFill>
        <p:spPr>
          <a:xfrm>
            <a:off x="-141168" y="-1"/>
            <a:ext cx="931099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4"/>
          <p:cNvSpPr/>
          <p:nvPr/>
        </p:nvSpPr>
        <p:spPr>
          <a:xfrm>
            <a:off x="-141168" y="-20362"/>
            <a:ext cx="9311100" cy="5172600"/>
          </a:xfrm>
          <a:prstGeom prst="rect">
            <a:avLst/>
          </a:prstGeom>
          <a:solidFill>
            <a:schemeClr val="lt1">
              <a:alpha val="89804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4"/>
          <p:cNvSpPr/>
          <p:nvPr/>
        </p:nvSpPr>
        <p:spPr>
          <a:xfrm flipH="1" rot="10800000">
            <a:off x="-139826" y="5115113"/>
            <a:ext cx="9309600" cy="573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4"/>
          <p:cNvSpPr txBox="1"/>
          <p:nvPr/>
        </p:nvSpPr>
        <p:spPr>
          <a:xfrm>
            <a:off x="-141167" y="1947734"/>
            <a:ext cx="94287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ru" sz="7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СДАЧА НАБОРОВ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4"/>
          <p:cNvSpPr/>
          <p:nvPr/>
        </p:nvSpPr>
        <p:spPr>
          <a:xfrm flipH="1" rot="10800000">
            <a:off x="717284" y="3087943"/>
            <a:ext cx="76818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Relationship Id="rId5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58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68.png"/><Relationship Id="rId8" Type="http://schemas.openxmlformats.org/officeDocument/2006/relationships/image" Target="../media/image8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37.png"/><Relationship Id="rId5" Type="http://schemas.openxmlformats.org/officeDocument/2006/relationships/image" Target="../media/image88.png"/><Relationship Id="rId6" Type="http://schemas.openxmlformats.org/officeDocument/2006/relationships/image" Target="../media/image8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5.png"/><Relationship Id="rId4" Type="http://schemas.openxmlformats.org/officeDocument/2006/relationships/image" Target="../media/image53.png"/><Relationship Id="rId5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4.png"/><Relationship Id="rId4" Type="http://schemas.openxmlformats.org/officeDocument/2006/relationships/image" Target="../media/image51.png"/><Relationship Id="rId5" Type="http://schemas.openxmlformats.org/officeDocument/2006/relationships/image" Target="../media/image5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Relationship Id="rId4" Type="http://schemas.openxmlformats.org/officeDocument/2006/relationships/image" Target="../media/image40.png"/><Relationship Id="rId5" Type="http://schemas.openxmlformats.org/officeDocument/2006/relationships/image" Target="../media/image36.png"/><Relationship Id="rId6" Type="http://schemas.openxmlformats.org/officeDocument/2006/relationships/image" Target="../media/image39.jpg"/><Relationship Id="rId7" Type="http://schemas.openxmlformats.org/officeDocument/2006/relationships/image" Target="../media/image3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5.gif"/><Relationship Id="rId4" Type="http://schemas.openxmlformats.org/officeDocument/2006/relationships/image" Target="../media/image126.gif"/><Relationship Id="rId5" Type="http://schemas.openxmlformats.org/officeDocument/2006/relationships/image" Target="../media/image41.gif"/><Relationship Id="rId6" Type="http://schemas.openxmlformats.org/officeDocument/2006/relationships/image" Target="../media/image42.gi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7.gif"/><Relationship Id="rId4" Type="http://schemas.openxmlformats.org/officeDocument/2006/relationships/image" Target="../media/image128.gi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3.gif"/><Relationship Id="rId4" Type="http://schemas.openxmlformats.org/officeDocument/2006/relationships/image" Target="../media/image4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4.gi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7.png"/><Relationship Id="rId4" Type="http://schemas.openxmlformats.org/officeDocument/2006/relationships/image" Target="../media/image5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6.png"/><Relationship Id="rId4" Type="http://schemas.openxmlformats.org/officeDocument/2006/relationships/image" Target="../media/image63.png"/><Relationship Id="rId5" Type="http://schemas.openxmlformats.org/officeDocument/2006/relationships/image" Target="../media/image6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5" Type="http://schemas.openxmlformats.org/officeDocument/2006/relationships/image" Target="../media/image54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1.png"/><Relationship Id="rId4" Type="http://schemas.openxmlformats.org/officeDocument/2006/relationships/image" Target="../media/image6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0.png"/><Relationship Id="rId4" Type="http://schemas.openxmlformats.org/officeDocument/2006/relationships/image" Target="../media/image10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7.png"/><Relationship Id="rId6" Type="http://schemas.openxmlformats.org/officeDocument/2006/relationships/image" Target="../media/image1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7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9.png"/><Relationship Id="rId4" Type="http://schemas.openxmlformats.org/officeDocument/2006/relationships/image" Target="../media/image8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5.png"/><Relationship Id="rId4" Type="http://schemas.openxmlformats.org/officeDocument/2006/relationships/image" Target="../media/image84.png"/><Relationship Id="rId5" Type="http://schemas.openxmlformats.org/officeDocument/2006/relationships/image" Target="../media/image89.png"/><Relationship Id="rId6" Type="http://schemas.openxmlformats.org/officeDocument/2006/relationships/image" Target="../media/image9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1.png"/><Relationship Id="rId4" Type="http://schemas.openxmlformats.org/officeDocument/2006/relationships/image" Target="../media/image8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5.png"/><Relationship Id="rId4" Type="http://schemas.openxmlformats.org/officeDocument/2006/relationships/image" Target="../media/image9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2.png"/><Relationship Id="rId4" Type="http://schemas.openxmlformats.org/officeDocument/2006/relationships/image" Target="../media/image102.png"/><Relationship Id="rId5" Type="http://schemas.openxmlformats.org/officeDocument/2006/relationships/image" Target="../media/image9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0.png"/><Relationship Id="rId4" Type="http://schemas.openxmlformats.org/officeDocument/2006/relationships/image" Target="../media/image11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5.png"/><Relationship Id="rId4" Type="http://schemas.openxmlformats.org/officeDocument/2006/relationships/image" Target="../media/image11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7.png"/><Relationship Id="rId4" Type="http://schemas.openxmlformats.org/officeDocument/2006/relationships/image" Target="../media/image11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7.png"/><Relationship Id="rId4" Type="http://schemas.openxmlformats.org/officeDocument/2006/relationships/image" Target="../media/image96.png"/><Relationship Id="rId5" Type="http://schemas.openxmlformats.org/officeDocument/2006/relationships/image" Target="../media/image9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16.png"/><Relationship Id="rId4" Type="http://schemas.openxmlformats.org/officeDocument/2006/relationships/image" Target="../media/image115.png"/><Relationship Id="rId5" Type="http://schemas.openxmlformats.org/officeDocument/2006/relationships/image" Target="../media/image1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17.png"/><Relationship Id="rId4" Type="http://schemas.openxmlformats.org/officeDocument/2006/relationships/image" Target="../media/image11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1.png"/><Relationship Id="rId4" Type="http://schemas.openxmlformats.org/officeDocument/2006/relationships/image" Target="../media/image12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2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5" Type="http://schemas.openxmlformats.org/officeDocument/2006/relationships/image" Target="../media/image60.png"/><Relationship Id="rId6" Type="http://schemas.openxmlformats.org/officeDocument/2006/relationships/image" Target="../media/image54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>
            <p:ph type="title"/>
          </p:nvPr>
        </p:nvSpPr>
        <p:spPr>
          <a:xfrm>
            <a:off x="707050" y="1796325"/>
            <a:ext cx="4050900" cy="9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None/>
            </a:pPr>
            <a:r>
              <a:rPr lang="ru" sz="3040"/>
              <a:t>Инструкция для </a:t>
            </a:r>
            <a:endParaRPr sz="304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None/>
            </a:pPr>
            <a:r>
              <a:rPr lang="ru" sz="3040"/>
              <a:t>Светового меча</a:t>
            </a:r>
            <a:endParaRPr sz="304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type="title"/>
          </p:nvPr>
        </p:nvSpPr>
        <p:spPr>
          <a:xfrm>
            <a:off x="1580550" y="886775"/>
            <a:ext cx="5982900" cy="16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Занятие 1</a:t>
            </a:r>
            <a:endParaRPr/>
          </a:p>
        </p:txBody>
      </p:sp>
      <p:sp>
        <p:nvSpPr>
          <p:cNvPr id="207" name="Google Shape;207;p26"/>
          <p:cNvSpPr txBox="1"/>
          <p:nvPr>
            <p:ph idx="1" type="subTitle"/>
          </p:nvPr>
        </p:nvSpPr>
        <p:spPr>
          <a:xfrm>
            <a:off x="1586400" y="2530475"/>
            <a:ext cx="59712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Крепление светодиодной ленты. Пайка питания. Сборка рукоятки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Берем детали. Коннектор и ленту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27"/>
          <p:cNvPicPr preferRelativeResize="0"/>
          <p:nvPr/>
        </p:nvPicPr>
        <p:blipFill rotWithShape="1">
          <a:blip r:embed="rId3">
            <a:alphaModFix/>
          </a:blip>
          <a:srcRect b="22021" l="0" r="44330" t="0"/>
          <a:stretch/>
        </p:blipFill>
        <p:spPr>
          <a:xfrm>
            <a:off x="152400" y="661475"/>
            <a:ext cx="5041525" cy="416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7"/>
          <p:cNvPicPr preferRelativeResize="0"/>
          <p:nvPr/>
        </p:nvPicPr>
        <p:blipFill rotWithShape="1">
          <a:blip r:embed="rId4">
            <a:alphaModFix/>
          </a:blip>
          <a:srcRect b="-29765" l="13423" r="5223" t="-26729"/>
          <a:stretch/>
        </p:blipFill>
        <p:spPr>
          <a:xfrm>
            <a:off x="4572000" y="741850"/>
            <a:ext cx="3999275" cy="400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Подключаем светодиодную ленту в коннектор </a:t>
            </a:r>
            <a:endParaRPr/>
          </a:p>
        </p:txBody>
      </p:sp>
      <p:pic>
        <p:nvPicPr>
          <p:cNvPr id="220" name="Google Shape;22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3875" y="794138"/>
            <a:ext cx="4497750" cy="3555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8"/>
          <p:cNvSpPr txBox="1"/>
          <p:nvPr/>
        </p:nvSpPr>
        <p:spPr>
          <a:xfrm>
            <a:off x="76000" y="991900"/>
            <a:ext cx="34563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Светодиодную ленту вставляем в коннектор. </a:t>
            </a:r>
            <a:r>
              <a:rPr b="1" lang="ru" sz="1700">
                <a:solidFill>
                  <a:srgbClr val="FF0000"/>
                </a:solidFill>
              </a:rPr>
              <a:t>Контакты паять не нужно!</a:t>
            </a:r>
            <a:r>
              <a:rPr b="1" lang="ru" sz="1700"/>
              <a:t> </a:t>
            </a:r>
            <a:r>
              <a:rPr lang="ru" sz="1500"/>
              <a:t>Следите за цветами и питанием, чтобы провода </a:t>
            </a:r>
            <a:r>
              <a:rPr lang="ru" sz="1500"/>
              <a:t>совпада</a:t>
            </a:r>
            <a:r>
              <a:rPr lang="ru" sz="1500"/>
              <a:t>ли с лентой.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/>
              <a:t>питание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0FF00"/>
                </a:solidFill>
              </a:rPr>
              <a:t>G</a:t>
            </a:r>
            <a:endParaRPr b="1" sz="15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FF0000"/>
                </a:solidFill>
              </a:rPr>
              <a:t>R</a:t>
            </a:r>
            <a:endParaRPr b="1"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000FF"/>
                </a:solidFill>
              </a:rPr>
              <a:t>B</a:t>
            </a:r>
            <a:endParaRPr b="1" sz="1500">
              <a:solidFill>
                <a:srgbClr val="0000FF"/>
              </a:solidFill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179950" y="3660525"/>
            <a:ext cx="2754000" cy="78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Открыть коннектор можно отверткой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Примечание</a:t>
            </a:r>
            <a:endParaRPr/>
          </a:p>
        </p:txBody>
      </p:sp>
      <p:sp>
        <p:nvSpPr>
          <p:cNvPr id="228" name="Google Shape;228;p29"/>
          <p:cNvSpPr txBox="1"/>
          <p:nvPr/>
        </p:nvSpPr>
        <p:spPr>
          <a:xfrm>
            <a:off x="438500" y="1388225"/>
            <a:ext cx="2982300" cy="2339700"/>
          </a:xfrm>
          <a:prstGeom prst="rect">
            <a:avLst/>
          </a:prstGeom>
          <a:noFill/>
          <a:ln cap="flat" cmpd="sng" w="9525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 кого-то в наборе может попасться лента уже с запаянным концом. Это делается на заводе. Значит, у вас упрощенная задача - одевать коннектор не надо (у вас в наборе его и не будет). Вы переходите сразу к шагу, где нужно паять клеммник к проводам ленты.  </a:t>
            </a:r>
            <a:endParaRPr/>
          </a:p>
        </p:txBody>
      </p:sp>
      <p:pic>
        <p:nvPicPr>
          <p:cNvPr id="229" name="Google Shape;22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0850" y="557550"/>
            <a:ext cx="4329626" cy="43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9"/>
          <p:cNvSpPr/>
          <p:nvPr/>
        </p:nvSpPr>
        <p:spPr>
          <a:xfrm>
            <a:off x="4384975" y="790900"/>
            <a:ext cx="1103400" cy="10131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Берем детали</a:t>
            </a:r>
            <a:endParaRPr/>
          </a:p>
        </p:txBody>
      </p:sp>
      <p:pic>
        <p:nvPicPr>
          <p:cNvPr id="236" name="Google Shape;236;p30"/>
          <p:cNvPicPr preferRelativeResize="0"/>
          <p:nvPr/>
        </p:nvPicPr>
        <p:blipFill rotWithShape="1">
          <a:blip r:embed="rId3">
            <a:alphaModFix/>
          </a:blip>
          <a:srcRect b="18522" l="39923" r="54453" t="14029"/>
          <a:stretch/>
        </p:blipFill>
        <p:spPr>
          <a:xfrm flipH="1" rot="3121704">
            <a:off x="2838104" y="-419214"/>
            <a:ext cx="374469" cy="5981927"/>
          </a:xfrm>
          <a:prstGeom prst="flowChartAlternateProcess">
            <a:avLst/>
          </a:prstGeom>
          <a:noFill/>
          <a:ln>
            <a:noFill/>
          </a:ln>
        </p:spPr>
      </p:pic>
      <p:pic>
        <p:nvPicPr>
          <p:cNvPr id="237" name="Google Shape;237;p30"/>
          <p:cNvPicPr preferRelativeResize="0"/>
          <p:nvPr/>
        </p:nvPicPr>
        <p:blipFill rotWithShape="1">
          <a:blip r:embed="rId4">
            <a:alphaModFix/>
          </a:blip>
          <a:srcRect b="-29765" l="13423" r="5223" t="-26729"/>
          <a:stretch/>
        </p:blipFill>
        <p:spPr>
          <a:xfrm>
            <a:off x="4507075" y="1190850"/>
            <a:ext cx="2841950" cy="28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Устанавливаем RGB ленту</a:t>
            </a:r>
            <a:endParaRPr/>
          </a:p>
        </p:txBody>
      </p:sp>
      <p:pic>
        <p:nvPicPr>
          <p:cNvPr id="243" name="Google Shape;243;p31"/>
          <p:cNvPicPr preferRelativeResize="0"/>
          <p:nvPr/>
        </p:nvPicPr>
        <p:blipFill rotWithShape="1">
          <a:blip r:embed="rId3">
            <a:alphaModFix/>
          </a:blip>
          <a:srcRect b="37563" l="35672" r="16639" t="24982"/>
          <a:stretch/>
        </p:blipFill>
        <p:spPr>
          <a:xfrm>
            <a:off x="115825" y="869925"/>
            <a:ext cx="3253675" cy="340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1"/>
          <p:cNvPicPr preferRelativeResize="0"/>
          <p:nvPr/>
        </p:nvPicPr>
        <p:blipFill rotWithShape="1">
          <a:blip r:embed="rId4">
            <a:alphaModFix/>
          </a:blip>
          <a:srcRect b="3463" l="37920" r="31517" t="23007"/>
          <a:stretch/>
        </p:blipFill>
        <p:spPr>
          <a:xfrm>
            <a:off x="7460700" y="853700"/>
            <a:ext cx="1072325" cy="343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1"/>
          <p:cNvPicPr preferRelativeResize="0"/>
          <p:nvPr/>
        </p:nvPicPr>
        <p:blipFill rotWithShape="1">
          <a:blip r:embed="rId5">
            <a:alphaModFix/>
          </a:blip>
          <a:srcRect b="37567" l="32630" r="35393" t="44144"/>
          <a:stretch/>
        </p:blipFill>
        <p:spPr>
          <a:xfrm>
            <a:off x="4217950" y="1659751"/>
            <a:ext cx="2394300" cy="182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31"/>
          <p:cNvCxnSpPr>
            <a:stCxn id="245" idx="3"/>
            <a:endCxn id="244" idx="1"/>
          </p:cNvCxnSpPr>
          <p:nvPr/>
        </p:nvCxnSpPr>
        <p:spPr>
          <a:xfrm>
            <a:off x="6612250" y="2571751"/>
            <a:ext cx="8484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31"/>
          <p:cNvCxnSpPr>
            <a:stCxn id="243" idx="3"/>
            <a:endCxn id="245" idx="1"/>
          </p:cNvCxnSpPr>
          <p:nvPr/>
        </p:nvCxnSpPr>
        <p:spPr>
          <a:xfrm>
            <a:off x="3369500" y="2571750"/>
            <a:ext cx="8484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p31"/>
          <p:cNvSpPr/>
          <p:nvPr/>
        </p:nvSpPr>
        <p:spPr>
          <a:xfrm>
            <a:off x="4571000" y="2364575"/>
            <a:ext cx="1251300" cy="11253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1"/>
          <p:cNvSpPr txBox="1"/>
          <p:nvPr/>
        </p:nvSpPr>
        <p:spPr>
          <a:xfrm>
            <a:off x="3583750" y="792025"/>
            <a:ext cx="3153000" cy="10158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Вставляем светодиодную ленту в отверстие. Светодиодами вверх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Устанавливаем RGB ленту</a:t>
            </a:r>
            <a:endParaRPr b="1"/>
          </a:p>
        </p:txBody>
      </p:sp>
      <p:pic>
        <p:nvPicPr>
          <p:cNvPr id="255" name="Google Shape;255;p32"/>
          <p:cNvPicPr preferRelativeResize="0"/>
          <p:nvPr/>
        </p:nvPicPr>
        <p:blipFill rotWithShape="1">
          <a:blip r:embed="rId3">
            <a:alphaModFix/>
          </a:blip>
          <a:srcRect b="32282" l="13421" r="3426" t="23665"/>
          <a:stretch/>
        </p:blipFill>
        <p:spPr>
          <a:xfrm>
            <a:off x="2177650" y="1975625"/>
            <a:ext cx="4788701" cy="149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2"/>
          <p:cNvPicPr preferRelativeResize="0"/>
          <p:nvPr/>
        </p:nvPicPr>
        <p:blipFill rotWithShape="1">
          <a:blip r:embed="rId4">
            <a:alphaModFix/>
          </a:blip>
          <a:srcRect b="0" l="34016" r="40840" t="38340"/>
          <a:stretch/>
        </p:blipFill>
        <p:spPr>
          <a:xfrm>
            <a:off x="7325650" y="983275"/>
            <a:ext cx="1065958" cy="348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2"/>
          <p:cNvPicPr preferRelativeResize="0"/>
          <p:nvPr/>
        </p:nvPicPr>
        <p:blipFill rotWithShape="1">
          <a:blip r:embed="rId5">
            <a:alphaModFix/>
          </a:blip>
          <a:srcRect b="1270" l="26942" r="42422" t="19371"/>
          <a:stretch/>
        </p:blipFill>
        <p:spPr>
          <a:xfrm>
            <a:off x="698275" y="983275"/>
            <a:ext cx="1009074" cy="3481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" name="Google Shape;258;p32"/>
          <p:cNvCxnSpPr>
            <a:endCxn id="255" idx="1"/>
          </p:cNvCxnSpPr>
          <p:nvPr/>
        </p:nvCxnSpPr>
        <p:spPr>
          <a:xfrm>
            <a:off x="1707250" y="2724150"/>
            <a:ext cx="4704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32"/>
          <p:cNvCxnSpPr>
            <a:stCxn id="255" idx="3"/>
            <a:endCxn id="256" idx="1"/>
          </p:cNvCxnSpPr>
          <p:nvPr/>
        </p:nvCxnSpPr>
        <p:spPr>
          <a:xfrm>
            <a:off x="6966351" y="2724150"/>
            <a:ext cx="3594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0" name="Google Shape;260;p32"/>
          <p:cNvSpPr txBox="1"/>
          <p:nvPr/>
        </p:nvSpPr>
        <p:spPr>
          <a:xfrm>
            <a:off x="2122200" y="741513"/>
            <a:ext cx="4788600" cy="12930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Проверяйте , чтобы с двух сторон от палки лента была одинаковой длины. Если длина не большая. Приклеивая ближе к началу палки со стороны коннектора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Правила безопасности</a:t>
            </a:r>
            <a:endParaRPr/>
          </a:p>
        </p:txBody>
      </p:sp>
      <p:pic>
        <p:nvPicPr>
          <p:cNvPr id="266" name="Google Shape;266;p33"/>
          <p:cNvPicPr preferRelativeResize="0"/>
          <p:nvPr/>
        </p:nvPicPr>
        <p:blipFill rotWithShape="1">
          <a:blip r:embed="rId3">
            <a:alphaModFix/>
          </a:blip>
          <a:srcRect b="21505" l="3428" r="0" t="31755"/>
          <a:stretch/>
        </p:blipFill>
        <p:spPr>
          <a:xfrm>
            <a:off x="557850" y="1017462"/>
            <a:ext cx="8028301" cy="310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3"/>
          <p:cNvSpPr txBox="1"/>
          <p:nvPr/>
        </p:nvSpPr>
        <p:spPr>
          <a:xfrm>
            <a:off x="5463200" y="3714225"/>
            <a:ext cx="2642400" cy="4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Собираем рукоятку меча</a:t>
            </a:r>
            <a:endParaRPr/>
          </a:p>
        </p:txBody>
      </p:sp>
      <p:pic>
        <p:nvPicPr>
          <p:cNvPr id="273" name="Google Shape;273;p34"/>
          <p:cNvPicPr preferRelativeResize="0"/>
          <p:nvPr/>
        </p:nvPicPr>
        <p:blipFill rotWithShape="1">
          <a:blip r:embed="rId3">
            <a:alphaModFix/>
          </a:blip>
          <a:srcRect b="21722" l="6520" r="15024" t="25477"/>
          <a:stretch/>
        </p:blipFill>
        <p:spPr>
          <a:xfrm>
            <a:off x="2300660" y="700527"/>
            <a:ext cx="4542676" cy="4071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Устанавливаем переключатели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35"/>
          <p:cNvPicPr preferRelativeResize="0"/>
          <p:nvPr/>
        </p:nvPicPr>
        <p:blipFill rotWithShape="1">
          <a:blip r:embed="rId3">
            <a:alphaModFix/>
          </a:blip>
          <a:srcRect b="37266" l="43266" r="51488" t="58542"/>
          <a:stretch/>
        </p:blipFill>
        <p:spPr>
          <a:xfrm>
            <a:off x="487825" y="916250"/>
            <a:ext cx="483251" cy="514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5"/>
          <p:cNvPicPr preferRelativeResize="0"/>
          <p:nvPr/>
        </p:nvPicPr>
        <p:blipFill rotWithShape="1">
          <a:blip r:embed="rId3">
            <a:alphaModFix/>
          </a:blip>
          <a:srcRect b="24098" l="24419" r="65208" t="62300"/>
          <a:stretch/>
        </p:blipFill>
        <p:spPr>
          <a:xfrm rot="10800000">
            <a:off x="487826" y="1498350"/>
            <a:ext cx="490874" cy="8572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1" name="Google Shape;281;p35"/>
          <p:cNvCxnSpPr>
            <a:stCxn id="282" idx="3"/>
            <a:endCxn id="283" idx="1"/>
          </p:cNvCxnSpPr>
          <p:nvPr/>
        </p:nvCxnSpPr>
        <p:spPr>
          <a:xfrm>
            <a:off x="3521887" y="1635925"/>
            <a:ext cx="3429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" name="Google Shape;284;p35"/>
          <p:cNvCxnSpPr>
            <a:stCxn id="285" idx="3"/>
            <a:endCxn id="286" idx="1"/>
          </p:cNvCxnSpPr>
          <p:nvPr/>
        </p:nvCxnSpPr>
        <p:spPr>
          <a:xfrm>
            <a:off x="3521887" y="3507575"/>
            <a:ext cx="3429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" name="Google Shape;287;p35"/>
          <p:cNvCxnSpPr>
            <a:endCxn id="288" idx="1"/>
          </p:cNvCxnSpPr>
          <p:nvPr/>
        </p:nvCxnSpPr>
        <p:spPr>
          <a:xfrm>
            <a:off x="6064975" y="1636045"/>
            <a:ext cx="543900" cy="93570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" name="Google Shape;289;p35"/>
          <p:cNvCxnSpPr/>
          <p:nvPr/>
        </p:nvCxnSpPr>
        <p:spPr>
          <a:xfrm flipH="1" rot="10800000">
            <a:off x="6065062" y="2815225"/>
            <a:ext cx="567300" cy="69240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0" name="Google Shape;290;p35"/>
          <p:cNvSpPr txBox="1"/>
          <p:nvPr/>
        </p:nvSpPr>
        <p:spPr>
          <a:xfrm>
            <a:off x="6434875" y="3619200"/>
            <a:ext cx="214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Переключатели не клеить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291" name="Google Shape;291;p35"/>
          <p:cNvPicPr preferRelativeResize="0"/>
          <p:nvPr/>
        </p:nvPicPr>
        <p:blipFill rotWithShape="1">
          <a:blip r:embed="rId4">
            <a:alphaModFix/>
          </a:blip>
          <a:srcRect b="32354" l="0" r="0" t="37513"/>
          <a:stretch/>
        </p:blipFill>
        <p:spPr>
          <a:xfrm>
            <a:off x="860625" y="2761075"/>
            <a:ext cx="2893199" cy="154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5"/>
          <p:cNvPicPr preferRelativeResize="0"/>
          <p:nvPr/>
        </p:nvPicPr>
        <p:blipFill rotWithShape="1">
          <a:blip r:embed="rId5">
            <a:alphaModFix/>
          </a:blip>
          <a:srcRect b="35331" l="0" r="0" t="28855"/>
          <a:stretch/>
        </p:blipFill>
        <p:spPr>
          <a:xfrm>
            <a:off x="1150163" y="934638"/>
            <a:ext cx="2200250" cy="14008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3" name="Google Shape;293;p35"/>
          <p:cNvCxnSpPr>
            <a:stCxn id="280" idx="1"/>
          </p:cNvCxnSpPr>
          <p:nvPr/>
        </p:nvCxnSpPr>
        <p:spPr>
          <a:xfrm>
            <a:off x="978700" y="1926962"/>
            <a:ext cx="1568400" cy="1896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p35"/>
          <p:cNvCxnSpPr>
            <a:stCxn id="279" idx="3"/>
          </p:cNvCxnSpPr>
          <p:nvPr/>
        </p:nvCxnSpPr>
        <p:spPr>
          <a:xfrm>
            <a:off x="971076" y="1173349"/>
            <a:ext cx="1629300" cy="4695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95" name="Google Shape;295;p35"/>
          <p:cNvPicPr preferRelativeResize="0"/>
          <p:nvPr/>
        </p:nvPicPr>
        <p:blipFill rotWithShape="1">
          <a:blip r:embed="rId6">
            <a:alphaModFix/>
          </a:blip>
          <a:srcRect b="30942" l="10499" r="0" t="31543"/>
          <a:stretch/>
        </p:blipFill>
        <p:spPr>
          <a:xfrm>
            <a:off x="3907663" y="2761050"/>
            <a:ext cx="2003557" cy="149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5"/>
          <p:cNvPicPr preferRelativeResize="0"/>
          <p:nvPr/>
        </p:nvPicPr>
        <p:blipFill rotWithShape="1">
          <a:blip r:embed="rId7">
            <a:alphaModFix/>
          </a:blip>
          <a:srcRect b="32576" l="0" r="0" t="34877"/>
          <a:stretch/>
        </p:blipFill>
        <p:spPr>
          <a:xfrm>
            <a:off x="3544281" y="912500"/>
            <a:ext cx="2580494" cy="149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5"/>
          <p:cNvPicPr preferRelativeResize="0"/>
          <p:nvPr/>
        </p:nvPicPr>
        <p:blipFill rotWithShape="1">
          <a:blip r:embed="rId8">
            <a:alphaModFix/>
          </a:blip>
          <a:srcRect b="17837" l="25098" r="20543" t="0"/>
          <a:stretch/>
        </p:blipFill>
        <p:spPr>
          <a:xfrm>
            <a:off x="6608875" y="1636463"/>
            <a:ext cx="2200225" cy="1870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Устанавливаем переключатели</a:t>
            </a:r>
            <a:endParaRPr/>
          </a:p>
        </p:txBody>
      </p:sp>
      <p:pic>
        <p:nvPicPr>
          <p:cNvPr id="302" name="Google Shape;302;p36"/>
          <p:cNvPicPr preferRelativeResize="0"/>
          <p:nvPr/>
        </p:nvPicPr>
        <p:blipFill rotWithShape="1">
          <a:blip r:embed="rId3">
            <a:alphaModFix/>
          </a:blip>
          <a:srcRect b="13970" l="23662" r="37001" t="20197"/>
          <a:stretch/>
        </p:blipFill>
        <p:spPr>
          <a:xfrm>
            <a:off x="1660925" y="842963"/>
            <a:ext cx="1551126" cy="345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6"/>
          <p:cNvPicPr preferRelativeResize="0"/>
          <p:nvPr/>
        </p:nvPicPr>
        <p:blipFill rotWithShape="1">
          <a:blip r:embed="rId4">
            <a:alphaModFix/>
          </a:blip>
          <a:srcRect b="13967" l="17286" r="25795" t="6173"/>
          <a:stretch/>
        </p:blipFill>
        <p:spPr>
          <a:xfrm>
            <a:off x="5539950" y="842963"/>
            <a:ext cx="1850225" cy="345757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6"/>
          <p:cNvSpPr txBox="1"/>
          <p:nvPr/>
        </p:nvSpPr>
        <p:spPr>
          <a:xfrm>
            <a:off x="3302750" y="2197600"/>
            <a:ext cx="214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Расстояние от верха серой трубки 4,5 см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05" name="Google Shape;305;p36"/>
          <p:cNvCxnSpPr/>
          <p:nvPr/>
        </p:nvCxnSpPr>
        <p:spPr>
          <a:xfrm flipH="1">
            <a:off x="2443550" y="907250"/>
            <a:ext cx="1399800" cy="141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36"/>
          <p:cNvCxnSpPr/>
          <p:nvPr/>
        </p:nvCxnSpPr>
        <p:spPr>
          <a:xfrm rot="10800000">
            <a:off x="2496075" y="1952525"/>
            <a:ext cx="1385400" cy="144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36"/>
          <p:cNvCxnSpPr/>
          <p:nvPr/>
        </p:nvCxnSpPr>
        <p:spPr>
          <a:xfrm rot="10800000">
            <a:off x="3843275" y="878600"/>
            <a:ext cx="7200" cy="10788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08" name="Google Shape;308;p36"/>
          <p:cNvCxnSpPr>
            <a:stCxn id="304" idx="0"/>
          </p:cNvCxnSpPr>
          <p:nvPr/>
        </p:nvCxnSpPr>
        <p:spPr>
          <a:xfrm rot="10800000">
            <a:off x="3836000" y="1407400"/>
            <a:ext cx="540000" cy="7902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7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Устанавливаем замок для батарейного отсека</a:t>
            </a:r>
            <a:endParaRPr/>
          </a:p>
        </p:txBody>
      </p:sp>
      <p:pic>
        <p:nvPicPr>
          <p:cNvPr id="314" name="Google Shape;314;p37"/>
          <p:cNvPicPr preferRelativeResize="0"/>
          <p:nvPr/>
        </p:nvPicPr>
        <p:blipFill rotWithShape="1">
          <a:blip r:embed="rId3">
            <a:alphaModFix/>
          </a:blip>
          <a:srcRect b="29480" l="15090" r="32386" t="44121"/>
          <a:stretch/>
        </p:blipFill>
        <p:spPr>
          <a:xfrm>
            <a:off x="244175" y="1532425"/>
            <a:ext cx="2881710" cy="1987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7"/>
          <p:cNvPicPr preferRelativeResize="0"/>
          <p:nvPr/>
        </p:nvPicPr>
        <p:blipFill rotWithShape="1">
          <a:blip r:embed="rId4">
            <a:alphaModFix/>
          </a:blip>
          <a:srcRect b="40540" l="24925" r="26938" t="34663"/>
          <a:stretch/>
        </p:blipFill>
        <p:spPr>
          <a:xfrm>
            <a:off x="6200348" y="1532438"/>
            <a:ext cx="2811653" cy="19871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37"/>
          <p:cNvCxnSpPr/>
          <p:nvPr/>
        </p:nvCxnSpPr>
        <p:spPr>
          <a:xfrm>
            <a:off x="3070930" y="2525995"/>
            <a:ext cx="3834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37"/>
          <p:cNvCxnSpPr/>
          <p:nvPr/>
        </p:nvCxnSpPr>
        <p:spPr>
          <a:xfrm>
            <a:off x="5928839" y="2525995"/>
            <a:ext cx="3834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18" name="Google Shape;318;p37"/>
          <p:cNvPicPr preferRelativeResize="0"/>
          <p:nvPr/>
        </p:nvPicPr>
        <p:blipFill rotWithShape="1">
          <a:blip r:embed="rId5">
            <a:alphaModFix/>
          </a:blip>
          <a:srcRect b="22255" l="14836" r="0" t="27107"/>
          <a:stretch/>
        </p:blipFill>
        <p:spPr>
          <a:xfrm>
            <a:off x="627950" y="1665100"/>
            <a:ext cx="2202500" cy="232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7"/>
          <p:cNvPicPr preferRelativeResize="0"/>
          <p:nvPr/>
        </p:nvPicPr>
        <p:blipFill rotWithShape="1">
          <a:blip r:embed="rId6">
            <a:alphaModFix/>
          </a:blip>
          <a:srcRect b="24964" l="9821" r="4555" t="27166"/>
          <a:stretch/>
        </p:blipFill>
        <p:spPr>
          <a:xfrm>
            <a:off x="3571700" y="1532425"/>
            <a:ext cx="2239774" cy="2226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Устанавливаем замок для батарейного отсека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38"/>
          <p:cNvPicPr preferRelativeResize="0"/>
          <p:nvPr/>
        </p:nvPicPr>
        <p:blipFill rotWithShape="1">
          <a:blip r:embed="rId3">
            <a:alphaModFix/>
          </a:blip>
          <a:srcRect b="33491" l="24540" r="29307" t="11497"/>
          <a:stretch/>
        </p:blipFill>
        <p:spPr>
          <a:xfrm>
            <a:off x="5767789" y="801338"/>
            <a:ext cx="2222769" cy="35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8"/>
          <p:cNvPicPr preferRelativeResize="0"/>
          <p:nvPr/>
        </p:nvPicPr>
        <p:blipFill rotWithShape="1">
          <a:blip r:embed="rId4">
            <a:alphaModFix/>
          </a:blip>
          <a:srcRect b="23205" l="29298" r="30264" t="6669"/>
          <a:stretch/>
        </p:blipFill>
        <p:spPr>
          <a:xfrm>
            <a:off x="3460912" y="813200"/>
            <a:ext cx="1527839" cy="35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8"/>
          <p:cNvPicPr preferRelativeResize="0"/>
          <p:nvPr/>
        </p:nvPicPr>
        <p:blipFill rotWithShape="1">
          <a:blip r:embed="rId5">
            <a:alphaModFix/>
          </a:blip>
          <a:srcRect b="42747" l="30988" r="48413" t="43321"/>
          <a:stretch/>
        </p:blipFill>
        <p:spPr>
          <a:xfrm>
            <a:off x="1203438" y="845274"/>
            <a:ext cx="1721199" cy="155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8" name="Google Shape;328;p38"/>
          <p:cNvCxnSpPr>
            <a:stCxn id="327" idx="3"/>
          </p:cNvCxnSpPr>
          <p:nvPr/>
        </p:nvCxnSpPr>
        <p:spPr>
          <a:xfrm>
            <a:off x="2924637" y="1620412"/>
            <a:ext cx="1097400" cy="22230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" name="Google Shape;329;p38"/>
          <p:cNvSpPr txBox="1"/>
          <p:nvPr/>
        </p:nvSpPr>
        <p:spPr>
          <a:xfrm>
            <a:off x="903975" y="2865213"/>
            <a:ext cx="214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Расстояние от низа серой трубки 0,5 см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30" name="Google Shape;330;p38"/>
          <p:cNvCxnSpPr/>
          <p:nvPr/>
        </p:nvCxnSpPr>
        <p:spPr>
          <a:xfrm flipH="1">
            <a:off x="2550700" y="3950475"/>
            <a:ext cx="1399800" cy="141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38"/>
          <p:cNvCxnSpPr/>
          <p:nvPr/>
        </p:nvCxnSpPr>
        <p:spPr>
          <a:xfrm flipH="1">
            <a:off x="2586100" y="4195775"/>
            <a:ext cx="1357200" cy="405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38"/>
          <p:cNvCxnSpPr>
            <a:stCxn id="329" idx="2"/>
          </p:cNvCxnSpPr>
          <p:nvPr/>
        </p:nvCxnSpPr>
        <p:spPr>
          <a:xfrm>
            <a:off x="1977225" y="3480813"/>
            <a:ext cx="587400" cy="619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" name="Google Shape;333;p38"/>
          <p:cNvCxnSpPr/>
          <p:nvPr/>
        </p:nvCxnSpPr>
        <p:spPr>
          <a:xfrm>
            <a:off x="2578900" y="3936200"/>
            <a:ext cx="0" cy="3072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Устанавливаем замок для батарейного отсека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9" name="Google Shape;339;p39"/>
          <p:cNvPicPr preferRelativeResize="0"/>
          <p:nvPr/>
        </p:nvPicPr>
        <p:blipFill rotWithShape="1">
          <a:blip r:embed="rId3">
            <a:alphaModFix/>
          </a:blip>
          <a:srcRect b="13897" l="25630" r="31503" t="12768"/>
          <a:stretch/>
        </p:blipFill>
        <p:spPr>
          <a:xfrm>
            <a:off x="1607587" y="852426"/>
            <a:ext cx="1527839" cy="3481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9"/>
          <p:cNvPicPr preferRelativeResize="0"/>
          <p:nvPr/>
        </p:nvPicPr>
        <p:blipFill rotWithShape="1">
          <a:blip r:embed="rId4">
            <a:alphaModFix/>
          </a:blip>
          <a:srcRect b="44329" l="33691" r="44698" t="42307"/>
          <a:stretch/>
        </p:blipFill>
        <p:spPr>
          <a:xfrm>
            <a:off x="3466263" y="3509425"/>
            <a:ext cx="1064401" cy="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9"/>
          <p:cNvPicPr preferRelativeResize="0"/>
          <p:nvPr/>
        </p:nvPicPr>
        <p:blipFill rotWithShape="1">
          <a:blip r:embed="rId5">
            <a:alphaModFix/>
          </a:blip>
          <a:srcRect b="15697" l="23323" r="37112" t="19119"/>
          <a:stretch/>
        </p:blipFill>
        <p:spPr>
          <a:xfrm>
            <a:off x="4861525" y="828675"/>
            <a:ext cx="1608121" cy="3528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2" name="Google Shape;342;p39"/>
          <p:cNvCxnSpPr>
            <a:stCxn id="339" idx="3"/>
            <a:endCxn id="341" idx="1"/>
          </p:cNvCxnSpPr>
          <p:nvPr/>
        </p:nvCxnSpPr>
        <p:spPr>
          <a:xfrm>
            <a:off x="3135425" y="2593145"/>
            <a:ext cx="17262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39"/>
          <p:cNvCxnSpPr/>
          <p:nvPr/>
        </p:nvCxnSpPr>
        <p:spPr>
          <a:xfrm rot="10800000">
            <a:off x="2959925" y="3557500"/>
            <a:ext cx="528600" cy="3930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" name="Google Shape;344;p39"/>
          <p:cNvCxnSpPr>
            <a:stCxn id="340" idx="1"/>
          </p:cNvCxnSpPr>
          <p:nvPr/>
        </p:nvCxnSpPr>
        <p:spPr>
          <a:xfrm rot="10800000">
            <a:off x="1959663" y="3543425"/>
            <a:ext cx="1506600" cy="4044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5" name="Google Shape;345;p39"/>
          <p:cNvSpPr txBox="1"/>
          <p:nvPr/>
        </p:nvSpPr>
        <p:spPr>
          <a:xfrm>
            <a:off x="6192000" y="2770525"/>
            <a:ext cx="2418600" cy="16623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Гайки можно приклеить к фанере. Так при смене батарейки нужно будет выкрутить только два винта, и гайки не потеряешь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Техника безопасности</a:t>
            </a:r>
            <a:endParaRPr/>
          </a:p>
        </p:txBody>
      </p:sp>
      <p:sp>
        <p:nvSpPr>
          <p:cNvPr id="351" name="Google Shape;351;p40"/>
          <p:cNvSpPr txBox="1"/>
          <p:nvPr/>
        </p:nvSpPr>
        <p:spPr>
          <a:xfrm>
            <a:off x="411900" y="743400"/>
            <a:ext cx="69618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</a:rPr>
              <a:t>Без разрешения преподавателя:</a:t>
            </a:r>
            <a:endParaRPr sz="18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Не брать паяльник;</a:t>
            </a:r>
            <a:endParaRPr sz="18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Не включать паяльник;</a:t>
            </a:r>
            <a:endParaRPr sz="18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Не паять;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В случае ожога сообщить преподавателю;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Не передавать паяльник из рук в руки, только через подставку;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Держим паяльник как ручку;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В случае поломки сразу зовем преподавателя.</a:t>
            </a:r>
            <a:endParaRPr sz="1800"/>
          </a:p>
        </p:txBody>
      </p:sp>
      <p:pic>
        <p:nvPicPr>
          <p:cNvPr id="352" name="Google Shape;35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48" y="886595"/>
            <a:ext cx="171853" cy="19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48" y="2247120"/>
            <a:ext cx="171853" cy="19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48" y="2796320"/>
            <a:ext cx="171853" cy="19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48" y="3345532"/>
            <a:ext cx="171853" cy="19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48" y="3894745"/>
            <a:ext cx="171853" cy="19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0"/>
          <p:cNvPicPr preferRelativeResize="0"/>
          <p:nvPr/>
        </p:nvPicPr>
        <p:blipFill rotWithShape="1">
          <a:blip r:embed="rId4">
            <a:alphaModFix/>
          </a:blip>
          <a:srcRect b="17471" l="0" r="0" t="0"/>
          <a:stretch/>
        </p:blipFill>
        <p:spPr>
          <a:xfrm>
            <a:off x="6368425" y="643175"/>
            <a:ext cx="2442525" cy="201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Материалы для пайки</a:t>
            </a:r>
            <a:endParaRPr/>
          </a:p>
        </p:txBody>
      </p:sp>
      <p:pic>
        <p:nvPicPr>
          <p:cNvPr id="363" name="Google Shape;36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152" y="2885381"/>
            <a:ext cx="2369483" cy="1328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2175" y="2571762"/>
            <a:ext cx="1868599" cy="163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1950" y="1078275"/>
            <a:ext cx="1670450" cy="125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1"/>
          <p:cNvSpPr txBox="1"/>
          <p:nvPr/>
        </p:nvSpPr>
        <p:spPr>
          <a:xfrm>
            <a:off x="604324" y="1136976"/>
            <a:ext cx="4037400" cy="1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Паяльник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Припой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Флюс\канифоль\гель для пайки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 sz="1800"/>
              <a:t>Защитные очки !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 sz="1800"/>
              <a:t>Перчатки!</a:t>
            </a:r>
            <a:endParaRPr b="1" sz="1800"/>
          </a:p>
        </p:txBody>
      </p:sp>
      <p:pic>
        <p:nvPicPr>
          <p:cNvPr id="367" name="Google Shape;367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85400" y="1078275"/>
            <a:ext cx="1631801" cy="163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12800" y="2636425"/>
            <a:ext cx="2369475" cy="1655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2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чего?</a:t>
            </a:r>
            <a:endParaRPr/>
          </a:p>
        </p:txBody>
      </p:sp>
      <p:pic>
        <p:nvPicPr>
          <p:cNvPr id="374" name="Google Shape;374;p42"/>
          <p:cNvPicPr preferRelativeResize="0"/>
          <p:nvPr/>
        </p:nvPicPr>
        <p:blipFill rotWithShape="1">
          <a:blip r:embed="rId3">
            <a:alphaModFix/>
          </a:blip>
          <a:srcRect b="37253" l="0" r="0" t="0"/>
          <a:stretch/>
        </p:blipFill>
        <p:spPr>
          <a:xfrm>
            <a:off x="314411" y="891576"/>
            <a:ext cx="3662100" cy="4083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2"/>
          <p:cNvPicPr preferRelativeResize="0"/>
          <p:nvPr/>
        </p:nvPicPr>
        <p:blipFill rotWithShape="1">
          <a:blip r:embed="rId4">
            <a:alphaModFix/>
          </a:blip>
          <a:srcRect b="50000" l="0" r="0" t="0"/>
          <a:stretch/>
        </p:blipFill>
        <p:spPr>
          <a:xfrm>
            <a:off x="4115302" y="891575"/>
            <a:ext cx="4595789" cy="408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2"/>
          <p:cNvPicPr preferRelativeResize="0"/>
          <p:nvPr/>
        </p:nvPicPr>
        <p:blipFill rotWithShape="1">
          <a:blip r:embed="rId5">
            <a:alphaModFix/>
          </a:blip>
          <a:srcRect b="24997" l="0" r="0" t="5952"/>
          <a:stretch/>
        </p:blipFill>
        <p:spPr>
          <a:xfrm>
            <a:off x="1075299" y="6610051"/>
            <a:ext cx="3496712" cy="42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2"/>
          <p:cNvPicPr preferRelativeResize="0"/>
          <p:nvPr/>
        </p:nvPicPr>
        <p:blipFill rotWithShape="1">
          <a:blip r:embed="rId6">
            <a:alphaModFix/>
          </a:blip>
          <a:srcRect b="30949" l="0" r="0" t="9896"/>
          <a:stretch/>
        </p:blipFill>
        <p:spPr>
          <a:xfrm>
            <a:off x="4040325" y="6830633"/>
            <a:ext cx="3662100" cy="3849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с ним работать?</a:t>
            </a:r>
            <a:endParaRPr/>
          </a:p>
        </p:txBody>
      </p:sp>
      <p:pic>
        <p:nvPicPr>
          <p:cNvPr id="383" name="Google Shape;383;p43"/>
          <p:cNvPicPr preferRelativeResize="0"/>
          <p:nvPr/>
        </p:nvPicPr>
        <p:blipFill rotWithShape="1">
          <a:blip r:embed="rId3">
            <a:alphaModFix/>
          </a:blip>
          <a:srcRect b="24998" l="0" r="0" t="9286"/>
          <a:stretch/>
        </p:blipFill>
        <p:spPr>
          <a:xfrm>
            <a:off x="695441" y="891575"/>
            <a:ext cx="3496678" cy="408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3"/>
          <p:cNvPicPr preferRelativeResize="0"/>
          <p:nvPr/>
        </p:nvPicPr>
        <p:blipFill rotWithShape="1">
          <a:blip r:embed="rId4">
            <a:alphaModFix/>
          </a:blip>
          <a:srcRect b="30949" l="0" r="0" t="9896"/>
          <a:stretch/>
        </p:blipFill>
        <p:spPr>
          <a:xfrm>
            <a:off x="4398811" y="891574"/>
            <a:ext cx="3884668" cy="408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Лужение проводов. Флюс.</a:t>
            </a:r>
            <a:endParaRPr/>
          </a:p>
        </p:txBody>
      </p:sp>
      <p:pic>
        <p:nvPicPr>
          <p:cNvPr id="390" name="Google Shape;390;p44"/>
          <p:cNvPicPr preferRelativeResize="0"/>
          <p:nvPr/>
        </p:nvPicPr>
        <p:blipFill rotWithShape="1">
          <a:blip r:embed="rId3">
            <a:alphaModFix/>
          </a:blip>
          <a:srcRect b="22217" l="0" r="0" t="29105"/>
          <a:stretch/>
        </p:blipFill>
        <p:spPr>
          <a:xfrm>
            <a:off x="431275" y="780675"/>
            <a:ext cx="4280275" cy="370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6335" y="1551763"/>
            <a:ext cx="1628350" cy="186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5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Лужение проводов.</a:t>
            </a:r>
            <a:endParaRPr/>
          </a:p>
        </p:txBody>
      </p:sp>
      <p:pic>
        <p:nvPicPr>
          <p:cNvPr id="397" name="Google Shape;397;p45"/>
          <p:cNvPicPr preferRelativeResize="0"/>
          <p:nvPr/>
        </p:nvPicPr>
        <p:blipFill rotWithShape="1">
          <a:blip r:embed="rId3">
            <a:alphaModFix/>
          </a:blip>
          <a:srcRect b="13462" l="0" r="0" t="35256"/>
          <a:stretch/>
        </p:blipFill>
        <p:spPr>
          <a:xfrm>
            <a:off x="1676336" y="707024"/>
            <a:ext cx="4231650" cy="385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Подготовим к пайке компоненты</a:t>
            </a:r>
            <a:endParaRPr/>
          </a:p>
        </p:txBody>
      </p:sp>
      <p:pic>
        <p:nvPicPr>
          <p:cNvPr id="403" name="Google Shape;40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075" y="1050712"/>
            <a:ext cx="3848551" cy="304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6"/>
          <p:cNvPicPr preferRelativeResize="0"/>
          <p:nvPr/>
        </p:nvPicPr>
        <p:blipFill rotWithShape="1">
          <a:blip r:embed="rId4">
            <a:alphaModFix/>
          </a:blip>
          <a:srcRect b="49561" l="26959" r="27990" t="12443"/>
          <a:stretch/>
        </p:blipFill>
        <p:spPr>
          <a:xfrm rot="5400000">
            <a:off x="5504500" y="1128200"/>
            <a:ext cx="2792450" cy="31367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6"/>
          <p:cNvSpPr/>
          <p:nvPr/>
        </p:nvSpPr>
        <p:spPr>
          <a:xfrm>
            <a:off x="3759725" y="2309513"/>
            <a:ext cx="1070100" cy="960600"/>
          </a:xfrm>
          <a:prstGeom prst="mathPlus">
            <a:avLst>
              <a:gd fmla="val 23520" name="adj1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7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Электрическая схема</a:t>
            </a:r>
            <a:endParaRPr/>
          </a:p>
        </p:txBody>
      </p:sp>
      <p:pic>
        <p:nvPicPr>
          <p:cNvPr id="411" name="Google Shape;41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2075" y="614450"/>
            <a:ext cx="2712781" cy="432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/>
              <a:t>Паяем плюс с клеммника батарейки к плюсу коннектора ленты </a:t>
            </a:r>
            <a:endParaRPr sz="2300"/>
          </a:p>
        </p:txBody>
      </p:sp>
      <p:cxnSp>
        <p:nvCxnSpPr>
          <p:cNvPr id="417" name="Google Shape;417;p48"/>
          <p:cNvCxnSpPr/>
          <p:nvPr/>
        </p:nvCxnSpPr>
        <p:spPr>
          <a:xfrm>
            <a:off x="1980506" y="1760061"/>
            <a:ext cx="1316700" cy="118740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8" name="Google Shape;418;p48"/>
          <p:cNvSpPr txBox="1"/>
          <p:nvPr/>
        </p:nvSpPr>
        <p:spPr>
          <a:xfrm>
            <a:off x="90500" y="3747250"/>
            <a:ext cx="302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Обязательно изолируйте провода друг от друга!</a:t>
            </a:r>
            <a:br>
              <a:rPr b="1" lang="ru">
                <a:solidFill>
                  <a:srgbClr val="FF0000"/>
                </a:solidFill>
              </a:rPr>
            </a:br>
            <a:r>
              <a:rPr b="1" lang="ru">
                <a:solidFill>
                  <a:srgbClr val="FF0000"/>
                </a:solidFill>
              </a:rPr>
              <a:t>Иначе коротнет и будет поздно.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19" name="Google Shape;419;p48"/>
          <p:cNvSpPr txBox="1"/>
          <p:nvPr/>
        </p:nvSpPr>
        <p:spPr>
          <a:xfrm>
            <a:off x="682856" y="1351664"/>
            <a:ext cx="184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черный провод с коннектора</a:t>
            </a:r>
            <a:endParaRPr/>
          </a:p>
        </p:txBody>
      </p:sp>
      <p:pic>
        <p:nvPicPr>
          <p:cNvPr id="420" name="Google Shape;420;p48"/>
          <p:cNvPicPr preferRelativeResize="0"/>
          <p:nvPr/>
        </p:nvPicPr>
        <p:blipFill rotWithShape="1">
          <a:blip r:embed="rId3">
            <a:alphaModFix/>
          </a:blip>
          <a:srcRect b="30742" l="0" r="0" t="17815"/>
          <a:stretch/>
        </p:blipFill>
        <p:spPr>
          <a:xfrm>
            <a:off x="2265151" y="536250"/>
            <a:ext cx="4668525" cy="441285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8"/>
          <p:cNvSpPr/>
          <p:nvPr/>
        </p:nvSpPr>
        <p:spPr>
          <a:xfrm>
            <a:off x="3276023" y="3143360"/>
            <a:ext cx="649800" cy="6039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8"/>
          <p:cNvSpPr/>
          <p:nvPr/>
        </p:nvSpPr>
        <p:spPr>
          <a:xfrm rot="-2982692">
            <a:off x="4410269" y="4167686"/>
            <a:ext cx="309911" cy="931699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8"/>
          <p:cNvSpPr/>
          <p:nvPr/>
        </p:nvSpPr>
        <p:spPr>
          <a:xfrm rot="-2982692">
            <a:off x="4177470" y="4311098"/>
            <a:ext cx="309911" cy="760107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8"/>
          <p:cNvSpPr/>
          <p:nvPr/>
        </p:nvSpPr>
        <p:spPr>
          <a:xfrm rot="-5516985">
            <a:off x="4548158" y="4493150"/>
            <a:ext cx="211623" cy="9318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8"/>
          <p:cNvSpPr/>
          <p:nvPr/>
        </p:nvSpPr>
        <p:spPr>
          <a:xfrm rot="-5517124">
            <a:off x="3769824" y="4367300"/>
            <a:ext cx="440356" cy="7959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8"/>
          <p:cNvSpPr/>
          <p:nvPr/>
        </p:nvSpPr>
        <p:spPr>
          <a:xfrm>
            <a:off x="3684450" y="2649182"/>
            <a:ext cx="2404550" cy="1895975"/>
          </a:xfrm>
          <a:custGeom>
            <a:rect b="b" l="l" r="r" t="t"/>
            <a:pathLst>
              <a:path extrusionOk="0" h="75839" w="96182">
                <a:moveTo>
                  <a:pt x="0" y="36716"/>
                </a:moveTo>
                <a:cubicBezTo>
                  <a:pt x="2838" y="37100"/>
                  <a:pt x="12121" y="39862"/>
                  <a:pt x="17030" y="39018"/>
                </a:cubicBezTo>
                <a:cubicBezTo>
                  <a:pt x="21940" y="38174"/>
                  <a:pt x="24624" y="36256"/>
                  <a:pt x="29457" y="31653"/>
                </a:cubicBezTo>
                <a:cubicBezTo>
                  <a:pt x="34290" y="27050"/>
                  <a:pt x="40274" y="16617"/>
                  <a:pt x="46027" y="11401"/>
                </a:cubicBezTo>
                <a:cubicBezTo>
                  <a:pt x="51780" y="6185"/>
                  <a:pt x="57994" y="1429"/>
                  <a:pt x="63977" y="355"/>
                </a:cubicBezTo>
                <a:cubicBezTo>
                  <a:pt x="69961" y="-719"/>
                  <a:pt x="76942" y="1123"/>
                  <a:pt x="81928" y="4958"/>
                </a:cubicBezTo>
                <a:cubicBezTo>
                  <a:pt x="86914" y="8794"/>
                  <a:pt x="91747" y="16694"/>
                  <a:pt x="93895" y="23368"/>
                </a:cubicBezTo>
                <a:cubicBezTo>
                  <a:pt x="96043" y="30042"/>
                  <a:pt x="97193" y="38327"/>
                  <a:pt x="94815" y="45001"/>
                </a:cubicBezTo>
                <a:cubicBezTo>
                  <a:pt x="92437" y="51675"/>
                  <a:pt x="84152" y="58963"/>
                  <a:pt x="79626" y="63412"/>
                </a:cubicBezTo>
                <a:cubicBezTo>
                  <a:pt x="75100" y="67861"/>
                  <a:pt x="71725" y="69626"/>
                  <a:pt x="67659" y="71697"/>
                </a:cubicBezTo>
                <a:cubicBezTo>
                  <a:pt x="63593" y="73768"/>
                  <a:pt x="57303" y="75149"/>
                  <a:pt x="55232" y="75839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Способы изоляции проводов</a:t>
            </a:r>
            <a:endParaRPr/>
          </a:p>
        </p:txBody>
      </p:sp>
      <p:pic>
        <p:nvPicPr>
          <p:cNvPr id="432" name="Google Shape;43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900" y="1147600"/>
            <a:ext cx="3718925" cy="24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49"/>
          <p:cNvPicPr preferRelativeResize="0"/>
          <p:nvPr/>
        </p:nvPicPr>
        <p:blipFill rotWithShape="1">
          <a:blip r:embed="rId4">
            <a:alphaModFix/>
          </a:blip>
          <a:srcRect b="16950" l="18284" r="16949" t="16161"/>
          <a:stretch/>
        </p:blipFill>
        <p:spPr>
          <a:xfrm>
            <a:off x="5435850" y="934363"/>
            <a:ext cx="2823000" cy="289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Проверяем пайку</a:t>
            </a:r>
            <a:endParaRPr/>
          </a:p>
        </p:txBody>
      </p:sp>
      <p:pic>
        <p:nvPicPr>
          <p:cNvPr id="439" name="Google Shape;43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800" y="645388"/>
            <a:ext cx="2876550" cy="215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3725" y="2338462"/>
            <a:ext cx="2876550" cy="215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2650" y="645387"/>
            <a:ext cx="2876550" cy="2159646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0"/>
          <p:cNvSpPr txBox="1"/>
          <p:nvPr/>
        </p:nvSpPr>
        <p:spPr>
          <a:xfrm>
            <a:off x="3143238" y="1417425"/>
            <a:ext cx="2857500" cy="6156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Проверьте все три вариации работы RGB ленты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3" name="Google Shape;443;p50"/>
          <p:cNvSpPr txBox="1"/>
          <p:nvPr/>
        </p:nvSpPr>
        <p:spPr>
          <a:xfrm>
            <a:off x="164313" y="3392650"/>
            <a:ext cx="2857500" cy="6156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Попробуй приложить сразу 2 цвета к минус. Что получится?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4" name="Google Shape;444;p50"/>
          <p:cNvSpPr txBox="1"/>
          <p:nvPr/>
        </p:nvSpPr>
        <p:spPr>
          <a:xfrm>
            <a:off x="6173663" y="3392650"/>
            <a:ext cx="2857500" cy="6156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Попробуй приложить сразу 3 цвета к минус. Что получится?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Вот мы и получили еще 4 дополнительных режима</a:t>
            </a:r>
            <a:endParaRPr/>
          </a:p>
        </p:txBody>
      </p:sp>
      <p:pic>
        <p:nvPicPr>
          <p:cNvPr id="450" name="Google Shape;450;p51"/>
          <p:cNvPicPr preferRelativeResize="0"/>
          <p:nvPr/>
        </p:nvPicPr>
        <p:blipFill rotWithShape="1">
          <a:blip r:embed="rId3">
            <a:alphaModFix/>
          </a:blip>
          <a:srcRect b="32119" l="6026" r="8745" t="32240"/>
          <a:stretch/>
        </p:blipFill>
        <p:spPr>
          <a:xfrm>
            <a:off x="179425" y="823375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51"/>
          <p:cNvPicPr preferRelativeResize="0"/>
          <p:nvPr/>
        </p:nvPicPr>
        <p:blipFill rotWithShape="1">
          <a:blip r:embed="rId4">
            <a:alphaModFix/>
          </a:blip>
          <a:srcRect b="34880" l="9964" r="11457" t="32261"/>
          <a:stretch/>
        </p:blipFill>
        <p:spPr>
          <a:xfrm>
            <a:off x="179425" y="1826127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51"/>
          <p:cNvPicPr preferRelativeResize="0"/>
          <p:nvPr/>
        </p:nvPicPr>
        <p:blipFill rotWithShape="1">
          <a:blip r:embed="rId5">
            <a:alphaModFix/>
          </a:blip>
          <a:srcRect b="41817" l="12634" r="6531" t="24377"/>
          <a:stretch/>
        </p:blipFill>
        <p:spPr>
          <a:xfrm>
            <a:off x="4571999" y="3818625"/>
            <a:ext cx="1996826" cy="58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51"/>
          <p:cNvPicPr preferRelativeResize="0"/>
          <p:nvPr/>
        </p:nvPicPr>
        <p:blipFill rotWithShape="1">
          <a:blip r:embed="rId6">
            <a:alphaModFix/>
          </a:blip>
          <a:srcRect b="36968" l="9546" r="3903" t="26838"/>
          <a:stretch/>
        </p:blipFill>
        <p:spPr>
          <a:xfrm>
            <a:off x="2375724" y="3818626"/>
            <a:ext cx="1996826" cy="58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1"/>
          <p:cNvPicPr preferRelativeResize="0"/>
          <p:nvPr/>
        </p:nvPicPr>
        <p:blipFill rotWithShape="1">
          <a:blip r:embed="rId7">
            <a:alphaModFix/>
          </a:blip>
          <a:srcRect b="40380" l="11866" r="2024" t="23611"/>
          <a:stretch/>
        </p:blipFill>
        <p:spPr>
          <a:xfrm>
            <a:off x="179451" y="3818626"/>
            <a:ext cx="1996826" cy="580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51"/>
          <p:cNvPicPr preferRelativeResize="0"/>
          <p:nvPr/>
        </p:nvPicPr>
        <p:blipFill rotWithShape="1">
          <a:blip r:embed="rId3">
            <a:alphaModFix/>
          </a:blip>
          <a:srcRect b="32119" l="6026" r="8745" t="32240"/>
          <a:stretch/>
        </p:blipFill>
        <p:spPr>
          <a:xfrm>
            <a:off x="2375709" y="823375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51"/>
          <p:cNvPicPr preferRelativeResize="0"/>
          <p:nvPr/>
        </p:nvPicPr>
        <p:blipFill rotWithShape="1">
          <a:blip r:embed="rId4">
            <a:alphaModFix/>
          </a:blip>
          <a:srcRect b="34880" l="9964" r="11457" t="32261"/>
          <a:stretch/>
        </p:blipFill>
        <p:spPr>
          <a:xfrm>
            <a:off x="2375710" y="1826127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51"/>
          <p:cNvPicPr preferRelativeResize="0"/>
          <p:nvPr/>
        </p:nvPicPr>
        <p:blipFill rotWithShape="1">
          <a:blip r:embed="rId3">
            <a:alphaModFix/>
          </a:blip>
          <a:srcRect b="32119" l="6026" r="8745" t="32240"/>
          <a:stretch/>
        </p:blipFill>
        <p:spPr>
          <a:xfrm>
            <a:off x="4571994" y="823375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51"/>
          <p:cNvPicPr preferRelativeResize="0"/>
          <p:nvPr/>
        </p:nvPicPr>
        <p:blipFill rotWithShape="1">
          <a:blip r:embed="rId4">
            <a:alphaModFix/>
          </a:blip>
          <a:srcRect b="34880" l="9964" r="11457" t="32261"/>
          <a:stretch/>
        </p:blipFill>
        <p:spPr>
          <a:xfrm>
            <a:off x="4571994" y="1826127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51"/>
          <p:cNvPicPr preferRelativeResize="0"/>
          <p:nvPr/>
        </p:nvPicPr>
        <p:blipFill rotWithShape="1">
          <a:blip r:embed="rId3">
            <a:alphaModFix/>
          </a:blip>
          <a:srcRect b="32119" l="6026" r="8745" t="32240"/>
          <a:stretch/>
        </p:blipFill>
        <p:spPr>
          <a:xfrm>
            <a:off x="6768266" y="823375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51"/>
          <p:cNvPicPr preferRelativeResize="0"/>
          <p:nvPr/>
        </p:nvPicPr>
        <p:blipFill rotWithShape="1">
          <a:blip r:embed="rId4">
            <a:alphaModFix/>
          </a:blip>
          <a:srcRect b="34880" l="9964" r="11457" t="32261"/>
          <a:stretch/>
        </p:blipFill>
        <p:spPr>
          <a:xfrm>
            <a:off x="6768266" y="1826127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51"/>
          <p:cNvPicPr preferRelativeResize="0"/>
          <p:nvPr/>
        </p:nvPicPr>
        <p:blipFill rotWithShape="1">
          <a:blip r:embed="rId8">
            <a:alphaModFix/>
          </a:blip>
          <a:srcRect b="35819" l="11535" r="8246" t="30636"/>
          <a:stretch/>
        </p:blipFill>
        <p:spPr>
          <a:xfrm>
            <a:off x="6768253" y="2822379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51"/>
          <p:cNvPicPr preferRelativeResize="0"/>
          <p:nvPr/>
        </p:nvPicPr>
        <p:blipFill rotWithShape="1">
          <a:blip r:embed="rId8">
            <a:alphaModFix/>
          </a:blip>
          <a:srcRect b="35819" l="11535" r="8246" t="30636"/>
          <a:stretch/>
        </p:blipFill>
        <p:spPr>
          <a:xfrm>
            <a:off x="2375713" y="1826129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1"/>
          <p:cNvPicPr preferRelativeResize="0"/>
          <p:nvPr/>
        </p:nvPicPr>
        <p:blipFill rotWithShape="1">
          <a:blip r:embed="rId8">
            <a:alphaModFix/>
          </a:blip>
          <a:srcRect b="35819" l="11535" r="8246" t="30636"/>
          <a:stretch/>
        </p:blipFill>
        <p:spPr>
          <a:xfrm>
            <a:off x="4572000" y="823379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1"/>
          <p:cNvPicPr preferRelativeResize="0"/>
          <p:nvPr/>
        </p:nvPicPr>
        <p:blipFill rotWithShape="1">
          <a:blip r:embed="rId9">
            <a:alphaModFix/>
          </a:blip>
          <a:srcRect b="29480" l="8508" r="7999" t="32240"/>
          <a:stretch/>
        </p:blipFill>
        <p:spPr>
          <a:xfrm>
            <a:off x="6768275" y="3818625"/>
            <a:ext cx="1996851" cy="5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1"/>
          <p:cNvSpPr/>
          <p:nvPr/>
        </p:nvSpPr>
        <p:spPr>
          <a:xfrm>
            <a:off x="964538" y="1415950"/>
            <a:ext cx="426600" cy="414000"/>
          </a:xfrm>
          <a:prstGeom prst="mathPl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1"/>
          <p:cNvSpPr/>
          <p:nvPr/>
        </p:nvSpPr>
        <p:spPr>
          <a:xfrm>
            <a:off x="3160813" y="1415950"/>
            <a:ext cx="426600" cy="414000"/>
          </a:xfrm>
          <a:prstGeom prst="mathPl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51"/>
          <p:cNvSpPr/>
          <p:nvPr/>
        </p:nvSpPr>
        <p:spPr>
          <a:xfrm>
            <a:off x="5357100" y="1415950"/>
            <a:ext cx="426600" cy="414000"/>
          </a:xfrm>
          <a:prstGeom prst="mathPl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51"/>
          <p:cNvSpPr/>
          <p:nvPr/>
        </p:nvSpPr>
        <p:spPr>
          <a:xfrm>
            <a:off x="7553388" y="1415950"/>
            <a:ext cx="426600" cy="414000"/>
          </a:xfrm>
          <a:prstGeom prst="mathPl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51"/>
          <p:cNvSpPr/>
          <p:nvPr/>
        </p:nvSpPr>
        <p:spPr>
          <a:xfrm>
            <a:off x="7553375" y="2410275"/>
            <a:ext cx="426600" cy="414000"/>
          </a:xfrm>
          <a:prstGeom prst="mathPl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51"/>
          <p:cNvSpPr/>
          <p:nvPr/>
        </p:nvSpPr>
        <p:spPr>
          <a:xfrm>
            <a:off x="7553375" y="3456738"/>
            <a:ext cx="426600" cy="3201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51"/>
          <p:cNvSpPr/>
          <p:nvPr/>
        </p:nvSpPr>
        <p:spPr>
          <a:xfrm>
            <a:off x="5357113" y="2958600"/>
            <a:ext cx="426600" cy="3201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51"/>
          <p:cNvSpPr/>
          <p:nvPr/>
        </p:nvSpPr>
        <p:spPr>
          <a:xfrm>
            <a:off x="3160838" y="2958613"/>
            <a:ext cx="426600" cy="3201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51"/>
          <p:cNvSpPr/>
          <p:nvPr/>
        </p:nvSpPr>
        <p:spPr>
          <a:xfrm>
            <a:off x="964575" y="2958600"/>
            <a:ext cx="426600" cy="3201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2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Продолжаем сборку</a:t>
            </a:r>
            <a:endParaRPr/>
          </a:p>
        </p:txBody>
      </p:sp>
      <p:pic>
        <p:nvPicPr>
          <p:cNvPr id="479" name="Google Shape;47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6775" y="1219990"/>
            <a:ext cx="6429325" cy="27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52"/>
          <p:cNvSpPr/>
          <p:nvPr/>
        </p:nvSpPr>
        <p:spPr>
          <a:xfrm>
            <a:off x="4572000" y="3560675"/>
            <a:ext cx="2835000" cy="1149000"/>
          </a:xfrm>
          <a:prstGeom prst="wedgeEllipseCallout">
            <a:avLst>
              <a:gd fmla="val -66617" name="adj1"/>
              <a:gd fmla="val -143489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Классно светится меч у тебя препод. Давай продолжим сборку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Удлиняем черный провод от клеммника батарейки </a:t>
            </a:r>
            <a:endParaRPr/>
          </a:p>
        </p:txBody>
      </p:sp>
      <p:pic>
        <p:nvPicPr>
          <p:cNvPr id="486" name="Google Shape;486;p53"/>
          <p:cNvPicPr preferRelativeResize="0"/>
          <p:nvPr/>
        </p:nvPicPr>
        <p:blipFill rotWithShape="1">
          <a:blip r:embed="rId3">
            <a:alphaModFix/>
          </a:blip>
          <a:srcRect b="16775" l="21242" r="34586" t="16070"/>
          <a:stretch/>
        </p:blipFill>
        <p:spPr>
          <a:xfrm>
            <a:off x="6597288" y="1118000"/>
            <a:ext cx="1435876" cy="2907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7" name="Google Shape;487;p53"/>
          <p:cNvCxnSpPr>
            <a:stCxn id="486" idx="1"/>
            <a:endCxn id="488" idx="3"/>
          </p:cNvCxnSpPr>
          <p:nvPr/>
        </p:nvCxnSpPr>
        <p:spPr>
          <a:xfrm rot="10800000">
            <a:off x="5458788" y="2546250"/>
            <a:ext cx="1138500" cy="2550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9" name="Google Shape;489;p53"/>
          <p:cNvSpPr txBox="1"/>
          <p:nvPr/>
        </p:nvSpPr>
        <p:spPr>
          <a:xfrm>
            <a:off x="6143588" y="645850"/>
            <a:ext cx="23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Провод длиною 20 см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90" name="Google Shape;490;p53"/>
          <p:cNvSpPr txBox="1"/>
          <p:nvPr/>
        </p:nvSpPr>
        <p:spPr>
          <a:xfrm>
            <a:off x="1117775" y="4228500"/>
            <a:ext cx="688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Обязательно изолируйте провода друг от друга!</a:t>
            </a:r>
            <a:br>
              <a:rPr b="1" lang="ru">
                <a:solidFill>
                  <a:srgbClr val="FF0000"/>
                </a:solidFill>
              </a:rPr>
            </a:br>
            <a:r>
              <a:rPr b="1" lang="ru">
                <a:solidFill>
                  <a:srgbClr val="FF0000"/>
                </a:solidFill>
              </a:rPr>
              <a:t>Иначе коротнет и будет поздно.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491" name="Google Shape;491;p53"/>
          <p:cNvPicPr preferRelativeResize="0"/>
          <p:nvPr/>
        </p:nvPicPr>
        <p:blipFill rotWithShape="1">
          <a:blip r:embed="rId4">
            <a:alphaModFix/>
          </a:blip>
          <a:srcRect b="0" l="19526" r="15128" t="0"/>
          <a:stretch/>
        </p:blipFill>
        <p:spPr>
          <a:xfrm rot="10800000">
            <a:off x="139477" y="548776"/>
            <a:ext cx="4835850" cy="4093088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53"/>
          <p:cNvSpPr/>
          <p:nvPr/>
        </p:nvSpPr>
        <p:spPr>
          <a:xfrm>
            <a:off x="1966239" y="3380603"/>
            <a:ext cx="762300" cy="674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3" name="Google Shape;493;p53"/>
          <p:cNvCxnSpPr>
            <a:endCxn id="492" idx="5"/>
          </p:cNvCxnSpPr>
          <p:nvPr/>
        </p:nvCxnSpPr>
        <p:spPr>
          <a:xfrm rot="10800000">
            <a:off x="2616903" y="3956240"/>
            <a:ext cx="1868700" cy="254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4" name="Google Shape;494;p53"/>
          <p:cNvSpPr/>
          <p:nvPr/>
        </p:nvSpPr>
        <p:spPr>
          <a:xfrm rot="1541631">
            <a:off x="3715551" y="813019"/>
            <a:ext cx="997089" cy="99226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Удлинение проводов</a:t>
            </a:r>
            <a:endParaRPr/>
          </a:p>
        </p:txBody>
      </p:sp>
      <p:sp>
        <p:nvSpPr>
          <p:cNvPr id="500" name="Google Shape;500;p54"/>
          <p:cNvSpPr txBox="1"/>
          <p:nvPr/>
        </p:nvSpPr>
        <p:spPr>
          <a:xfrm>
            <a:off x="2975150" y="760225"/>
            <a:ext cx="2496600" cy="12621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Если длина проводов коннектора меньше 15 см, то требуется добавить длину до 20 см, можно длиннее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01" name="Google Shape;501;p54"/>
          <p:cNvPicPr preferRelativeResize="0"/>
          <p:nvPr/>
        </p:nvPicPr>
        <p:blipFill rotWithShape="1">
          <a:blip r:embed="rId3">
            <a:alphaModFix/>
          </a:blip>
          <a:srcRect b="13754" l="0" r="0" t="4767"/>
          <a:stretch/>
        </p:blipFill>
        <p:spPr>
          <a:xfrm>
            <a:off x="219600" y="807888"/>
            <a:ext cx="2435425" cy="352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54"/>
          <p:cNvPicPr preferRelativeResize="0"/>
          <p:nvPr/>
        </p:nvPicPr>
        <p:blipFill rotWithShape="1">
          <a:blip r:embed="rId4">
            <a:alphaModFix/>
          </a:blip>
          <a:srcRect b="13756" l="0" r="0" t="0"/>
          <a:stretch/>
        </p:blipFill>
        <p:spPr>
          <a:xfrm>
            <a:off x="5700225" y="704688"/>
            <a:ext cx="2435400" cy="3734125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54"/>
          <p:cNvSpPr txBox="1"/>
          <p:nvPr/>
        </p:nvSpPr>
        <p:spPr>
          <a:xfrm>
            <a:off x="3155775" y="2571750"/>
            <a:ext cx="249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Соединения изолируем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04" name="Google Shape;504;p54"/>
          <p:cNvCxnSpPr>
            <a:stCxn id="503" idx="3"/>
          </p:cNvCxnSpPr>
          <p:nvPr/>
        </p:nvCxnSpPr>
        <p:spPr>
          <a:xfrm flipH="1" rot="10800000">
            <a:off x="5652375" y="2497650"/>
            <a:ext cx="895200" cy="274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5" name="Google Shape;505;p54"/>
          <p:cNvCxnSpPr>
            <a:stCxn id="503" idx="1"/>
          </p:cNvCxnSpPr>
          <p:nvPr/>
        </p:nvCxnSpPr>
        <p:spPr>
          <a:xfrm flipH="1">
            <a:off x="2123775" y="2771850"/>
            <a:ext cx="1032000" cy="2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5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Приклеиваем наконечник</a:t>
            </a:r>
            <a:endParaRPr/>
          </a:p>
        </p:txBody>
      </p:sp>
      <p:pic>
        <p:nvPicPr>
          <p:cNvPr id="511" name="Google Shape;511;p55"/>
          <p:cNvPicPr preferRelativeResize="0"/>
          <p:nvPr/>
        </p:nvPicPr>
        <p:blipFill rotWithShape="1">
          <a:blip r:embed="rId3">
            <a:alphaModFix/>
          </a:blip>
          <a:srcRect b="30110" l="34352" r="24479" t="35470"/>
          <a:stretch/>
        </p:blipFill>
        <p:spPr>
          <a:xfrm>
            <a:off x="3461425" y="1332027"/>
            <a:ext cx="2325125" cy="2588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55"/>
          <p:cNvPicPr preferRelativeResize="0"/>
          <p:nvPr/>
        </p:nvPicPr>
        <p:blipFill rotWithShape="1">
          <a:blip r:embed="rId4">
            <a:alphaModFix/>
          </a:blip>
          <a:srcRect b="33555" l="38201" r="44343" t="39541"/>
          <a:stretch/>
        </p:blipFill>
        <p:spPr>
          <a:xfrm rot="5400000">
            <a:off x="1203461" y="2392162"/>
            <a:ext cx="1132601" cy="232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55"/>
          <p:cNvPicPr preferRelativeResize="0"/>
          <p:nvPr/>
        </p:nvPicPr>
        <p:blipFill rotWithShape="1">
          <a:blip r:embed="rId5">
            <a:alphaModFix/>
          </a:blip>
          <a:srcRect b="28228" l="0" r="28520" t="21830"/>
          <a:stretch/>
        </p:blipFill>
        <p:spPr>
          <a:xfrm>
            <a:off x="5848400" y="1414478"/>
            <a:ext cx="3008776" cy="2800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55"/>
          <p:cNvSpPr txBox="1"/>
          <p:nvPr/>
        </p:nvSpPr>
        <p:spPr>
          <a:xfrm>
            <a:off x="4572000" y="761675"/>
            <a:ext cx="24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Много клея НЕ лить!!! 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15" name="Google Shape;515;p55"/>
          <p:cNvCxnSpPr>
            <a:stCxn id="516" idx="4"/>
          </p:cNvCxnSpPr>
          <p:nvPr/>
        </p:nvCxnSpPr>
        <p:spPr>
          <a:xfrm>
            <a:off x="1750500" y="2264575"/>
            <a:ext cx="1049700" cy="8859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" name="Google Shape;517;p55"/>
          <p:cNvCxnSpPr>
            <a:stCxn id="512" idx="0"/>
            <a:endCxn id="511" idx="1"/>
          </p:cNvCxnSpPr>
          <p:nvPr/>
        </p:nvCxnSpPr>
        <p:spPr>
          <a:xfrm flipH="1" rot="10800000">
            <a:off x="2932325" y="2626526"/>
            <a:ext cx="529200" cy="92820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16" name="Google Shape;516;p55"/>
          <p:cNvPicPr preferRelativeResize="0"/>
          <p:nvPr/>
        </p:nvPicPr>
        <p:blipFill rotWithShape="1">
          <a:blip r:embed="rId6">
            <a:alphaModFix/>
          </a:blip>
          <a:srcRect b="44757" l="63045" r="31779" t="51465"/>
          <a:stretch/>
        </p:blipFill>
        <p:spPr>
          <a:xfrm>
            <a:off x="1374300" y="1532875"/>
            <a:ext cx="752400" cy="731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6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лезвия меча</a:t>
            </a:r>
            <a:endParaRPr/>
          </a:p>
        </p:txBody>
      </p:sp>
      <p:pic>
        <p:nvPicPr>
          <p:cNvPr id="523" name="Google Shape;523;p56"/>
          <p:cNvPicPr preferRelativeResize="0"/>
          <p:nvPr/>
        </p:nvPicPr>
        <p:blipFill rotWithShape="1">
          <a:blip r:embed="rId3">
            <a:alphaModFix/>
          </a:blip>
          <a:srcRect b="0" l="28278" r="29527" t="0"/>
          <a:stretch/>
        </p:blipFill>
        <p:spPr>
          <a:xfrm>
            <a:off x="1055300" y="712000"/>
            <a:ext cx="1178325" cy="371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56"/>
          <p:cNvPicPr preferRelativeResize="0"/>
          <p:nvPr/>
        </p:nvPicPr>
        <p:blipFill rotWithShape="1">
          <a:blip r:embed="rId4">
            <a:alphaModFix/>
          </a:blip>
          <a:srcRect b="0" l="12020" r="10184" t="17723"/>
          <a:stretch/>
        </p:blipFill>
        <p:spPr>
          <a:xfrm>
            <a:off x="2828125" y="712000"/>
            <a:ext cx="2640460" cy="371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56"/>
          <p:cNvPicPr preferRelativeResize="0"/>
          <p:nvPr/>
        </p:nvPicPr>
        <p:blipFill rotWithShape="1">
          <a:blip r:embed="rId5">
            <a:alphaModFix/>
          </a:blip>
          <a:srcRect b="31130" l="27045" r="31200" t="36366"/>
          <a:stretch/>
        </p:blipFill>
        <p:spPr>
          <a:xfrm>
            <a:off x="6063074" y="1521625"/>
            <a:ext cx="2025625" cy="2100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6" name="Google Shape;526;p56"/>
          <p:cNvCxnSpPr>
            <a:stCxn id="523" idx="3"/>
            <a:endCxn id="524" idx="1"/>
          </p:cNvCxnSpPr>
          <p:nvPr/>
        </p:nvCxnSpPr>
        <p:spPr>
          <a:xfrm>
            <a:off x="2233625" y="2571750"/>
            <a:ext cx="5946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7" name="Google Shape;527;p56"/>
          <p:cNvCxnSpPr>
            <a:stCxn id="524" idx="3"/>
            <a:endCxn id="525" idx="1"/>
          </p:cNvCxnSpPr>
          <p:nvPr/>
        </p:nvCxnSpPr>
        <p:spPr>
          <a:xfrm>
            <a:off x="5468585" y="2571750"/>
            <a:ext cx="5946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8" name="Google Shape;528;p56"/>
          <p:cNvSpPr txBox="1"/>
          <p:nvPr/>
        </p:nvSpPr>
        <p:spPr>
          <a:xfrm>
            <a:off x="6002637" y="1033150"/>
            <a:ext cx="214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Много клея НЕ лить!!!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7"/>
          <p:cNvSpPr txBox="1"/>
          <p:nvPr>
            <p:ph type="title"/>
          </p:nvPr>
        </p:nvSpPr>
        <p:spPr>
          <a:xfrm>
            <a:off x="1580550" y="886775"/>
            <a:ext cx="5982900" cy="16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Занятие 2</a:t>
            </a:r>
            <a:endParaRPr/>
          </a:p>
        </p:txBody>
      </p:sp>
      <p:sp>
        <p:nvSpPr>
          <p:cNvPr id="534" name="Google Shape;534;p57"/>
          <p:cNvSpPr txBox="1"/>
          <p:nvPr>
            <p:ph idx="1" type="subTitle"/>
          </p:nvPr>
        </p:nvSpPr>
        <p:spPr>
          <a:xfrm>
            <a:off x="1586400" y="2530475"/>
            <a:ext cx="59712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Сборка меча воедино. Пайка тумблеров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Крепеж для лезвия</a:t>
            </a:r>
            <a:endParaRPr/>
          </a:p>
        </p:txBody>
      </p:sp>
      <p:pic>
        <p:nvPicPr>
          <p:cNvPr id="540" name="Google Shape;540;p58"/>
          <p:cNvPicPr preferRelativeResize="0"/>
          <p:nvPr/>
        </p:nvPicPr>
        <p:blipFill rotWithShape="1">
          <a:blip r:embed="rId3">
            <a:alphaModFix/>
          </a:blip>
          <a:srcRect b="36079" l="33770" r="38100" t="22178"/>
          <a:stretch/>
        </p:blipFill>
        <p:spPr>
          <a:xfrm>
            <a:off x="963188" y="1410900"/>
            <a:ext cx="1124019" cy="222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58"/>
          <p:cNvPicPr preferRelativeResize="0"/>
          <p:nvPr/>
        </p:nvPicPr>
        <p:blipFill rotWithShape="1">
          <a:blip r:embed="rId4">
            <a:alphaModFix/>
          </a:blip>
          <a:srcRect b="25520" l="9595" r="17439" t="31747"/>
          <a:stretch/>
        </p:blipFill>
        <p:spPr>
          <a:xfrm>
            <a:off x="2446796" y="1375202"/>
            <a:ext cx="2847943" cy="222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58"/>
          <p:cNvPicPr preferRelativeResize="0"/>
          <p:nvPr/>
        </p:nvPicPr>
        <p:blipFill rotWithShape="1">
          <a:blip r:embed="rId5">
            <a:alphaModFix/>
          </a:blip>
          <a:srcRect b="6050" l="0" r="22276" t="42636"/>
          <a:stretch/>
        </p:blipFill>
        <p:spPr>
          <a:xfrm>
            <a:off x="5654313" y="1375188"/>
            <a:ext cx="2526500" cy="2221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3" name="Google Shape;543;p58"/>
          <p:cNvCxnSpPr>
            <a:stCxn id="541" idx="3"/>
            <a:endCxn id="542" idx="1"/>
          </p:cNvCxnSpPr>
          <p:nvPr/>
        </p:nvCxnSpPr>
        <p:spPr>
          <a:xfrm>
            <a:off x="5294739" y="2486052"/>
            <a:ext cx="3597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4" name="Google Shape;544;p58"/>
          <p:cNvCxnSpPr/>
          <p:nvPr/>
        </p:nvCxnSpPr>
        <p:spPr>
          <a:xfrm flipH="1" rot="10800000">
            <a:off x="1921675" y="1771625"/>
            <a:ext cx="2157300" cy="786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5" name="Google Shape;545;p58"/>
          <p:cNvCxnSpPr/>
          <p:nvPr/>
        </p:nvCxnSpPr>
        <p:spPr>
          <a:xfrm flipH="1" rot="10800000">
            <a:off x="2050250" y="2328775"/>
            <a:ext cx="1878900" cy="8502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6" name="Google Shape;546;p58"/>
          <p:cNvSpPr txBox="1"/>
          <p:nvPr/>
        </p:nvSpPr>
        <p:spPr>
          <a:xfrm>
            <a:off x="1351025" y="3686775"/>
            <a:ext cx="64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Расстояние от низа белой трубки до первого неполного кольца - 4 см, до второго - 2 см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47" name="Google Shape;547;p58"/>
          <p:cNvSpPr txBox="1"/>
          <p:nvPr/>
        </p:nvSpPr>
        <p:spPr>
          <a:xfrm>
            <a:off x="5654325" y="669725"/>
            <a:ext cx="249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Необходимо оставить зазор между кольцами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48" name="Google Shape;548;p58"/>
          <p:cNvCxnSpPr>
            <a:stCxn id="547" idx="2"/>
          </p:cNvCxnSpPr>
          <p:nvPr/>
        </p:nvCxnSpPr>
        <p:spPr>
          <a:xfrm>
            <a:off x="6902625" y="1285325"/>
            <a:ext cx="333900" cy="4722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9" name="Google Shape;549;p58"/>
          <p:cNvCxnSpPr/>
          <p:nvPr/>
        </p:nvCxnSpPr>
        <p:spPr>
          <a:xfrm flipH="1" rot="10800000">
            <a:off x="7050875" y="1778900"/>
            <a:ext cx="442800" cy="999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58"/>
          <p:cNvCxnSpPr/>
          <p:nvPr/>
        </p:nvCxnSpPr>
        <p:spPr>
          <a:xfrm flipH="1" rot="10800000">
            <a:off x="7136600" y="1964425"/>
            <a:ext cx="457200" cy="1287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58"/>
          <p:cNvCxnSpPr/>
          <p:nvPr/>
        </p:nvCxnSpPr>
        <p:spPr>
          <a:xfrm flipH="1" rot="-5400000">
            <a:off x="3668450" y="2110850"/>
            <a:ext cx="450000" cy="371700"/>
          </a:xfrm>
          <a:prstGeom prst="curvedConnector3">
            <a:avLst>
              <a:gd fmla="val 9522" name="adj1"/>
            </a:avLst>
          </a:prstGeom>
          <a:noFill/>
          <a:ln cap="flat" cmpd="sng" w="19050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58"/>
          <p:cNvCxnSpPr/>
          <p:nvPr/>
        </p:nvCxnSpPr>
        <p:spPr>
          <a:xfrm flipH="1" rot="-5400000">
            <a:off x="4040150" y="1842925"/>
            <a:ext cx="450000" cy="371700"/>
          </a:xfrm>
          <a:prstGeom prst="curvedConnector3">
            <a:avLst>
              <a:gd fmla="val 9522" name="adj1"/>
            </a:avLst>
          </a:prstGeom>
          <a:noFill/>
          <a:ln cap="flat" cmpd="sng" w="19050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53" name="Google Shape;553;p58"/>
          <p:cNvSpPr txBox="1"/>
          <p:nvPr/>
        </p:nvSpPr>
        <p:spPr>
          <a:xfrm>
            <a:off x="2034950" y="710325"/>
            <a:ext cx="190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Клеим только верхнее кольцо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54" name="Google Shape;554;p58"/>
          <p:cNvCxnSpPr/>
          <p:nvPr/>
        </p:nvCxnSpPr>
        <p:spPr>
          <a:xfrm>
            <a:off x="3745400" y="1227500"/>
            <a:ext cx="333900" cy="4722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Прокладываем провода </a:t>
            </a:r>
            <a:endParaRPr/>
          </a:p>
        </p:txBody>
      </p:sp>
      <p:pic>
        <p:nvPicPr>
          <p:cNvPr id="560" name="Google Shape;560;p59"/>
          <p:cNvPicPr preferRelativeResize="0"/>
          <p:nvPr/>
        </p:nvPicPr>
        <p:blipFill rotWithShape="1">
          <a:blip r:embed="rId3">
            <a:alphaModFix/>
          </a:blip>
          <a:srcRect b="21394" l="6082" r="11944" t="35541"/>
          <a:stretch/>
        </p:blipFill>
        <p:spPr>
          <a:xfrm>
            <a:off x="397650" y="1257300"/>
            <a:ext cx="3757010" cy="262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59"/>
          <p:cNvPicPr preferRelativeResize="0"/>
          <p:nvPr/>
        </p:nvPicPr>
        <p:blipFill rotWithShape="1">
          <a:blip r:embed="rId4">
            <a:alphaModFix/>
          </a:blip>
          <a:srcRect b="15782" l="0" r="6751" t="40329"/>
          <a:stretch/>
        </p:blipFill>
        <p:spPr>
          <a:xfrm>
            <a:off x="4572004" y="1257300"/>
            <a:ext cx="4193496" cy="2628899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59"/>
          <p:cNvSpPr txBox="1"/>
          <p:nvPr/>
        </p:nvSpPr>
        <p:spPr>
          <a:xfrm>
            <a:off x="1362750" y="3886200"/>
            <a:ext cx="64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Приклеиваем 3 провода от ленты на правой стороне зазора,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 а от батареи - на левой стороне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63" name="Google Shape;563;p59"/>
          <p:cNvCxnSpPr>
            <a:stCxn id="560" idx="3"/>
            <a:endCxn id="561" idx="1"/>
          </p:cNvCxnSpPr>
          <p:nvPr/>
        </p:nvCxnSpPr>
        <p:spPr>
          <a:xfrm>
            <a:off x="4154661" y="2571750"/>
            <a:ext cx="4173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4" name="Google Shape;564;p59"/>
          <p:cNvSpPr/>
          <p:nvPr/>
        </p:nvSpPr>
        <p:spPr>
          <a:xfrm>
            <a:off x="7028450" y="2264650"/>
            <a:ext cx="929700" cy="8361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59"/>
          <p:cNvSpPr/>
          <p:nvPr/>
        </p:nvSpPr>
        <p:spPr>
          <a:xfrm>
            <a:off x="1158123" y="1848125"/>
            <a:ext cx="2626375" cy="1235450"/>
          </a:xfrm>
          <a:custGeom>
            <a:rect b="b" l="l" r="r" t="t"/>
            <a:pathLst>
              <a:path extrusionOk="0" h="49418" w="105055">
                <a:moveTo>
                  <a:pt x="4707" y="49418"/>
                </a:moveTo>
                <a:cubicBezTo>
                  <a:pt x="3951" y="48326"/>
                  <a:pt x="-504" y="45384"/>
                  <a:pt x="168" y="42863"/>
                </a:cubicBezTo>
                <a:cubicBezTo>
                  <a:pt x="840" y="40342"/>
                  <a:pt x="2270" y="38408"/>
                  <a:pt x="8741" y="34290"/>
                </a:cubicBezTo>
                <a:cubicBezTo>
                  <a:pt x="15213" y="30172"/>
                  <a:pt x="29920" y="21852"/>
                  <a:pt x="38997" y="18154"/>
                </a:cubicBezTo>
                <a:cubicBezTo>
                  <a:pt x="48074" y="14456"/>
                  <a:pt x="56898" y="12860"/>
                  <a:pt x="63201" y="12103"/>
                </a:cubicBezTo>
                <a:cubicBezTo>
                  <a:pt x="69504" y="11347"/>
                  <a:pt x="72278" y="14876"/>
                  <a:pt x="76816" y="13615"/>
                </a:cubicBezTo>
                <a:cubicBezTo>
                  <a:pt x="81355" y="12354"/>
                  <a:pt x="85726" y="6808"/>
                  <a:pt x="90432" y="4539"/>
                </a:cubicBezTo>
                <a:cubicBezTo>
                  <a:pt x="95139" y="2270"/>
                  <a:pt x="102618" y="757"/>
                  <a:pt x="105055" y="0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6" name="Google Shape;566;p59"/>
          <p:cNvSpPr/>
          <p:nvPr/>
        </p:nvSpPr>
        <p:spPr>
          <a:xfrm>
            <a:off x="1124500" y="1646425"/>
            <a:ext cx="2546550" cy="1260650"/>
          </a:xfrm>
          <a:custGeom>
            <a:rect b="b" l="l" r="r" t="t"/>
            <a:pathLst>
              <a:path extrusionOk="0" h="50426" w="101862">
                <a:moveTo>
                  <a:pt x="0" y="50426"/>
                </a:moveTo>
                <a:cubicBezTo>
                  <a:pt x="841" y="48745"/>
                  <a:pt x="421" y="43787"/>
                  <a:pt x="5043" y="40341"/>
                </a:cubicBezTo>
                <a:cubicBezTo>
                  <a:pt x="9666" y="36895"/>
                  <a:pt x="18238" y="33450"/>
                  <a:pt x="27735" y="29752"/>
                </a:cubicBezTo>
                <a:cubicBezTo>
                  <a:pt x="37232" y="26054"/>
                  <a:pt x="53284" y="19919"/>
                  <a:pt x="62025" y="18154"/>
                </a:cubicBezTo>
                <a:cubicBezTo>
                  <a:pt x="70766" y="16389"/>
                  <a:pt x="75809" y="20171"/>
                  <a:pt x="80179" y="19162"/>
                </a:cubicBezTo>
                <a:cubicBezTo>
                  <a:pt x="84549" y="18153"/>
                  <a:pt x="84633" y="15296"/>
                  <a:pt x="88247" y="12102"/>
                </a:cubicBezTo>
                <a:cubicBezTo>
                  <a:pt x="91861" y="8908"/>
                  <a:pt x="99593" y="2017"/>
                  <a:pt x="101862" y="0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7" name="Google Shape;567;p59"/>
          <p:cNvSpPr/>
          <p:nvPr/>
        </p:nvSpPr>
        <p:spPr>
          <a:xfrm>
            <a:off x="1111900" y="1532975"/>
            <a:ext cx="2420475" cy="1235450"/>
          </a:xfrm>
          <a:custGeom>
            <a:rect b="b" l="l" r="r" t="t"/>
            <a:pathLst>
              <a:path extrusionOk="0" h="49418" w="96819">
                <a:moveTo>
                  <a:pt x="0" y="49418"/>
                </a:moveTo>
                <a:cubicBezTo>
                  <a:pt x="1597" y="47569"/>
                  <a:pt x="3194" y="41938"/>
                  <a:pt x="9581" y="38324"/>
                </a:cubicBezTo>
                <a:cubicBezTo>
                  <a:pt x="15968" y="34710"/>
                  <a:pt x="27734" y="31348"/>
                  <a:pt x="38324" y="27734"/>
                </a:cubicBezTo>
                <a:cubicBezTo>
                  <a:pt x="48914" y="24120"/>
                  <a:pt x="63370" y="21262"/>
                  <a:pt x="73119" y="16640"/>
                </a:cubicBezTo>
                <a:cubicBezTo>
                  <a:pt x="82868" y="12018"/>
                  <a:pt x="92869" y="2773"/>
                  <a:pt x="96819" y="0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8" name="Google Shape;568;p59"/>
          <p:cNvSpPr/>
          <p:nvPr/>
        </p:nvSpPr>
        <p:spPr>
          <a:xfrm>
            <a:off x="418550" y="3146600"/>
            <a:ext cx="895050" cy="340400"/>
          </a:xfrm>
          <a:custGeom>
            <a:rect b="b" l="l" r="r" t="t"/>
            <a:pathLst>
              <a:path extrusionOk="0" h="13616" w="35802">
                <a:moveTo>
                  <a:pt x="35802" y="0"/>
                </a:moveTo>
                <a:cubicBezTo>
                  <a:pt x="33281" y="504"/>
                  <a:pt x="26641" y="757"/>
                  <a:pt x="20674" y="3026"/>
                </a:cubicBezTo>
                <a:cubicBezTo>
                  <a:pt x="14707" y="5295"/>
                  <a:pt x="3446" y="11851"/>
                  <a:pt x="0" y="13616"/>
                </a:cubicBezTo>
              </a:path>
            </a:pathLst>
          </a:cu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9" name="Google Shape;569;p59"/>
          <p:cNvSpPr/>
          <p:nvPr/>
        </p:nvSpPr>
        <p:spPr>
          <a:xfrm rot="-1051972">
            <a:off x="6852021" y="2140316"/>
            <a:ext cx="1967693" cy="1087605"/>
          </a:xfrm>
          <a:custGeom>
            <a:rect b="b" l="l" r="r" t="t"/>
            <a:pathLst>
              <a:path extrusionOk="0" h="49418" w="105055">
                <a:moveTo>
                  <a:pt x="4707" y="49418"/>
                </a:moveTo>
                <a:cubicBezTo>
                  <a:pt x="3951" y="48326"/>
                  <a:pt x="-504" y="45384"/>
                  <a:pt x="168" y="42863"/>
                </a:cubicBezTo>
                <a:cubicBezTo>
                  <a:pt x="840" y="40342"/>
                  <a:pt x="2270" y="38408"/>
                  <a:pt x="8741" y="34290"/>
                </a:cubicBezTo>
                <a:cubicBezTo>
                  <a:pt x="15213" y="30172"/>
                  <a:pt x="29920" y="21852"/>
                  <a:pt x="38997" y="18154"/>
                </a:cubicBezTo>
                <a:cubicBezTo>
                  <a:pt x="48074" y="14456"/>
                  <a:pt x="56898" y="12860"/>
                  <a:pt x="63201" y="12103"/>
                </a:cubicBezTo>
                <a:cubicBezTo>
                  <a:pt x="69504" y="11347"/>
                  <a:pt x="72278" y="14876"/>
                  <a:pt x="76816" y="13615"/>
                </a:cubicBezTo>
                <a:cubicBezTo>
                  <a:pt x="81355" y="12354"/>
                  <a:pt x="85726" y="6808"/>
                  <a:pt x="90432" y="4539"/>
                </a:cubicBezTo>
                <a:cubicBezTo>
                  <a:pt x="95139" y="2270"/>
                  <a:pt x="102618" y="757"/>
                  <a:pt x="105055" y="0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70" name="Google Shape;570;p59"/>
          <p:cNvSpPr/>
          <p:nvPr/>
        </p:nvSpPr>
        <p:spPr>
          <a:xfrm rot="-1051972">
            <a:off x="6790217" y="1984028"/>
            <a:ext cx="1907888" cy="1109790"/>
          </a:xfrm>
          <a:custGeom>
            <a:rect b="b" l="l" r="r" t="t"/>
            <a:pathLst>
              <a:path extrusionOk="0" h="50426" w="101862">
                <a:moveTo>
                  <a:pt x="0" y="50426"/>
                </a:moveTo>
                <a:cubicBezTo>
                  <a:pt x="841" y="48745"/>
                  <a:pt x="421" y="43787"/>
                  <a:pt x="5043" y="40341"/>
                </a:cubicBezTo>
                <a:cubicBezTo>
                  <a:pt x="9666" y="36895"/>
                  <a:pt x="18238" y="33450"/>
                  <a:pt x="27735" y="29752"/>
                </a:cubicBezTo>
                <a:cubicBezTo>
                  <a:pt x="37232" y="26054"/>
                  <a:pt x="53284" y="19919"/>
                  <a:pt x="62025" y="18154"/>
                </a:cubicBezTo>
                <a:cubicBezTo>
                  <a:pt x="70766" y="16389"/>
                  <a:pt x="75809" y="20171"/>
                  <a:pt x="80179" y="19162"/>
                </a:cubicBezTo>
                <a:cubicBezTo>
                  <a:pt x="84549" y="18153"/>
                  <a:pt x="84633" y="15296"/>
                  <a:pt x="88247" y="12102"/>
                </a:cubicBezTo>
                <a:cubicBezTo>
                  <a:pt x="91861" y="8908"/>
                  <a:pt x="99593" y="2017"/>
                  <a:pt x="101862" y="0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71" name="Google Shape;571;p59"/>
          <p:cNvSpPr/>
          <p:nvPr/>
        </p:nvSpPr>
        <p:spPr>
          <a:xfrm rot="-1051972">
            <a:off x="6757296" y="1904343"/>
            <a:ext cx="1813432" cy="1087605"/>
          </a:xfrm>
          <a:custGeom>
            <a:rect b="b" l="l" r="r" t="t"/>
            <a:pathLst>
              <a:path extrusionOk="0" h="49418" w="96819">
                <a:moveTo>
                  <a:pt x="0" y="49418"/>
                </a:moveTo>
                <a:cubicBezTo>
                  <a:pt x="1597" y="47569"/>
                  <a:pt x="3194" y="41938"/>
                  <a:pt x="9581" y="38324"/>
                </a:cubicBezTo>
                <a:cubicBezTo>
                  <a:pt x="15968" y="34710"/>
                  <a:pt x="27734" y="31348"/>
                  <a:pt x="38324" y="27734"/>
                </a:cubicBezTo>
                <a:cubicBezTo>
                  <a:pt x="48914" y="24120"/>
                  <a:pt x="63370" y="21262"/>
                  <a:pt x="73119" y="16640"/>
                </a:cubicBezTo>
                <a:cubicBezTo>
                  <a:pt x="82868" y="12018"/>
                  <a:pt x="92869" y="2773"/>
                  <a:pt x="96819" y="0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72" name="Google Shape;572;p59"/>
          <p:cNvSpPr/>
          <p:nvPr/>
        </p:nvSpPr>
        <p:spPr>
          <a:xfrm>
            <a:off x="4755225" y="2907075"/>
            <a:ext cx="2206150" cy="668150"/>
          </a:xfrm>
          <a:custGeom>
            <a:rect b="b" l="l" r="r" t="t"/>
            <a:pathLst>
              <a:path extrusionOk="0" h="26726" w="88246">
                <a:moveTo>
                  <a:pt x="88246" y="20171"/>
                </a:moveTo>
                <a:cubicBezTo>
                  <a:pt x="83035" y="21096"/>
                  <a:pt x="66479" y="24710"/>
                  <a:pt x="56982" y="25718"/>
                </a:cubicBezTo>
                <a:cubicBezTo>
                  <a:pt x="47485" y="26727"/>
                  <a:pt x="37567" y="26978"/>
                  <a:pt x="31264" y="26222"/>
                </a:cubicBezTo>
                <a:cubicBezTo>
                  <a:pt x="24961" y="25466"/>
                  <a:pt x="24373" y="25550"/>
                  <a:pt x="19162" y="21180"/>
                </a:cubicBezTo>
                <a:cubicBezTo>
                  <a:pt x="13951" y="16810"/>
                  <a:pt x="3194" y="3530"/>
                  <a:pt x="0" y="0"/>
                </a:cubicBezTo>
              </a:path>
            </a:pathLst>
          </a:cu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Сборка меча</a:t>
            </a:r>
            <a:endParaRPr/>
          </a:p>
        </p:txBody>
      </p:sp>
      <p:pic>
        <p:nvPicPr>
          <p:cNvPr id="578" name="Google Shape;578;p60"/>
          <p:cNvPicPr preferRelativeResize="0"/>
          <p:nvPr/>
        </p:nvPicPr>
        <p:blipFill rotWithShape="1">
          <a:blip r:embed="rId3">
            <a:alphaModFix/>
          </a:blip>
          <a:srcRect b="27666" l="0" r="10410" t="33230"/>
          <a:stretch/>
        </p:blipFill>
        <p:spPr>
          <a:xfrm>
            <a:off x="571825" y="590300"/>
            <a:ext cx="3025999" cy="175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60"/>
          <p:cNvPicPr preferRelativeResize="0"/>
          <p:nvPr/>
        </p:nvPicPr>
        <p:blipFill rotWithShape="1">
          <a:blip r:embed="rId4">
            <a:alphaModFix/>
          </a:blip>
          <a:srcRect b="12484" l="0" r="4215" t="44122"/>
          <a:stretch/>
        </p:blipFill>
        <p:spPr>
          <a:xfrm>
            <a:off x="571825" y="2710277"/>
            <a:ext cx="3025999" cy="1825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60"/>
          <p:cNvPicPr preferRelativeResize="0"/>
          <p:nvPr/>
        </p:nvPicPr>
        <p:blipFill rotWithShape="1">
          <a:blip r:embed="rId5">
            <a:alphaModFix/>
          </a:blip>
          <a:srcRect b="19215" l="7879" r="15174" t="20664"/>
          <a:stretch/>
        </p:blipFill>
        <p:spPr>
          <a:xfrm>
            <a:off x="4752898" y="2490600"/>
            <a:ext cx="3495050" cy="18746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1" name="Google Shape;581;p60"/>
          <p:cNvCxnSpPr>
            <a:stCxn id="578" idx="2"/>
            <a:endCxn id="579" idx="0"/>
          </p:cNvCxnSpPr>
          <p:nvPr/>
        </p:nvCxnSpPr>
        <p:spPr>
          <a:xfrm>
            <a:off x="2084825" y="2349484"/>
            <a:ext cx="0" cy="36090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2" name="Google Shape;582;p60"/>
          <p:cNvCxnSpPr>
            <a:stCxn id="579" idx="3"/>
          </p:cNvCxnSpPr>
          <p:nvPr/>
        </p:nvCxnSpPr>
        <p:spPr>
          <a:xfrm flipH="1" rot="10800000">
            <a:off x="3597824" y="3507775"/>
            <a:ext cx="652200" cy="11550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3" name="Google Shape;583;p60"/>
          <p:cNvSpPr/>
          <p:nvPr/>
        </p:nvSpPr>
        <p:spPr>
          <a:xfrm>
            <a:off x="7514094" y="2875346"/>
            <a:ext cx="705451" cy="202743"/>
          </a:xfrm>
          <a:custGeom>
            <a:rect b="b" l="l" r="r" t="t"/>
            <a:pathLst>
              <a:path extrusionOk="0" h="11094" w="35299">
                <a:moveTo>
                  <a:pt x="0" y="11094"/>
                </a:moveTo>
                <a:cubicBezTo>
                  <a:pt x="3026" y="10674"/>
                  <a:pt x="14204" y="10001"/>
                  <a:pt x="18154" y="8572"/>
                </a:cubicBezTo>
                <a:cubicBezTo>
                  <a:pt x="22104" y="7143"/>
                  <a:pt x="20844" y="3950"/>
                  <a:pt x="23701" y="2521"/>
                </a:cubicBezTo>
                <a:cubicBezTo>
                  <a:pt x="26559" y="1092"/>
                  <a:pt x="33366" y="420"/>
                  <a:pt x="35299" y="0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84" name="Google Shape;584;p60"/>
          <p:cNvSpPr/>
          <p:nvPr/>
        </p:nvSpPr>
        <p:spPr>
          <a:xfrm>
            <a:off x="7514094" y="2793220"/>
            <a:ext cx="705451" cy="202743"/>
          </a:xfrm>
          <a:custGeom>
            <a:rect b="b" l="l" r="r" t="t"/>
            <a:pathLst>
              <a:path extrusionOk="0" h="11094" w="35299">
                <a:moveTo>
                  <a:pt x="0" y="11094"/>
                </a:moveTo>
                <a:cubicBezTo>
                  <a:pt x="3026" y="10674"/>
                  <a:pt x="14204" y="10001"/>
                  <a:pt x="18154" y="8572"/>
                </a:cubicBezTo>
                <a:cubicBezTo>
                  <a:pt x="22104" y="7143"/>
                  <a:pt x="20844" y="3950"/>
                  <a:pt x="23701" y="2521"/>
                </a:cubicBezTo>
                <a:cubicBezTo>
                  <a:pt x="26559" y="1092"/>
                  <a:pt x="33366" y="420"/>
                  <a:pt x="35299" y="0"/>
                </a:cubicBezTo>
              </a:path>
            </a:pathLst>
          </a:cu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85" name="Google Shape;585;p60"/>
          <p:cNvSpPr/>
          <p:nvPr/>
        </p:nvSpPr>
        <p:spPr>
          <a:xfrm>
            <a:off x="7453178" y="2763944"/>
            <a:ext cx="705451" cy="202743"/>
          </a:xfrm>
          <a:custGeom>
            <a:rect b="b" l="l" r="r" t="t"/>
            <a:pathLst>
              <a:path extrusionOk="0" h="11094" w="35299">
                <a:moveTo>
                  <a:pt x="0" y="11094"/>
                </a:moveTo>
                <a:cubicBezTo>
                  <a:pt x="3026" y="10674"/>
                  <a:pt x="14204" y="10001"/>
                  <a:pt x="18154" y="8572"/>
                </a:cubicBezTo>
                <a:cubicBezTo>
                  <a:pt x="22104" y="7143"/>
                  <a:pt x="20844" y="3950"/>
                  <a:pt x="23701" y="2521"/>
                </a:cubicBezTo>
                <a:cubicBezTo>
                  <a:pt x="26559" y="1092"/>
                  <a:pt x="33366" y="420"/>
                  <a:pt x="35299" y="0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586" name="Google Shape;586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435294">
            <a:off x="6065553" y="807516"/>
            <a:ext cx="2814388" cy="1583063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60"/>
          <p:cNvSpPr txBox="1"/>
          <p:nvPr/>
        </p:nvSpPr>
        <p:spPr>
          <a:xfrm>
            <a:off x="3597825" y="956650"/>
            <a:ext cx="2496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Если нижнее деревянное кольцо не проходит в серую трубу, требуется снять его, верхнее останется на месте, как ограничитель.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88" name="Google Shape;588;p60"/>
          <p:cNvSpPr/>
          <p:nvPr/>
        </p:nvSpPr>
        <p:spPr>
          <a:xfrm rot="-1319305">
            <a:off x="7064107" y="2640079"/>
            <a:ext cx="563273" cy="833908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9" name="Google Shape;589;p60"/>
          <p:cNvCxnSpPr/>
          <p:nvPr/>
        </p:nvCxnSpPr>
        <p:spPr>
          <a:xfrm flipH="1" rot="10800000">
            <a:off x="5937449" y="1319438"/>
            <a:ext cx="1873200" cy="208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Паяем правильно!</a:t>
            </a:r>
            <a:endParaRPr/>
          </a:p>
        </p:txBody>
      </p:sp>
      <p:sp>
        <p:nvSpPr>
          <p:cNvPr id="595" name="Google Shape;595;p61"/>
          <p:cNvSpPr txBox="1"/>
          <p:nvPr/>
        </p:nvSpPr>
        <p:spPr>
          <a:xfrm>
            <a:off x="4339025" y="689125"/>
            <a:ext cx="324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ПАЯЕМ КНОПКУ ПРАВИЛЬНО!!!</a:t>
            </a:r>
            <a:br>
              <a:rPr b="1" lang="ru">
                <a:solidFill>
                  <a:srgbClr val="FF0000"/>
                </a:solidFill>
              </a:rPr>
            </a:br>
            <a:r>
              <a:rPr b="1" lang="ru">
                <a:solidFill>
                  <a:srgbClr val="FF0000"/>
                </a:solidFill>
              </a:rPr>
              <a:t>ПРОВОД В КЛЕММУ НЕ СОВАТЬ!!!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96" name="Google Shape;596;p61"/>
          <p:cNvSpPr txBox="1"/>
          <p:nvPr/>
        </p:nvSpPr>
        <p:spPr>
          <a:xfrm>
            <a:off x="3254825" y="3663675"/>
            <a:ext cx="541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Приложить луженый провод к луженой клемме, нагреть паяльником и дать остыть, чтобы соединение спаялось.</a:t>
            </a:r>
            <a:endParaRPr/>
          </a:p>
        </p:txBody>
      </p:sp>
      <p:pic>
        <p:nvPicPr>
          <p:cNvPr id="597" name="Google Shape;597;p61"/>
          <p:cNvPicPr preferRelativeResize="0"/>
          <p:nvPr/>
        </p:nvPicPr>
        <p:blipFill rotWithShape="1">
          <a:blip r:embed="rId3">
            <a:alphaModFix/>
          </a:blip>
          <a:srcRect b="28975" l="32314" r="27112" t="26381"/>
          <a:stretch/>
        </p:blipFill>
        <p:spPr>
          <a:xfrm>
            <a:off x="424082" y="1462075"/>
            <a:ext cx="2560787" cy="211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61"/>
          <p:cNvPicPr preferRelativeResize="0"/>
          <p:nvPr/>
        </p:nvPicPr>
        <p:blipFill rotWithShape="1">
          <a:blip r:embed="rId4">
            <a:alphaModFix/>
          </a:blip>
          <a:srcRect b="31778" l="22485" r="30137" t="27940"/>
          <a:stretch/>
        </p:blipFill>
        <p:spPr>
          <a:xfrm>
            <a:off x="4339037" y="1484770"/>
            <a:ext cx="3242998" cy="20700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9" name="Google Shape;599;p61"/>
          <p:cNvCxnSpPr>
            <a:stCxn id="596" idx="0"/>
          </p:cNvCxnSpPr>
          <p:nvPr/>
        </p:nvCxnSpPr>
        <p:spPr>
          <a:xfrm flipH="1" rot="10800000">
            <a:off x="5960525" y="2819475"/>
            <a:ext cx="629700" cy="844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0" name="Google Shape;600;p61"/>
          <p:cNvSpPr txBox="1"/>
          <p:nvPr/>
        </p:nvSpPr>
        <p:spPr>
          <a:xfrm>
            <a:off x="424075" y="3577500"/>
            <a:ext cx="256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Залудить клемму кнопки и короткий (5 мм) конец зачищенного провода.</a:t>
            </a:r>
            <a:endParaRPr/>
          </a:p>
        </p:txBody>
      </p:sp>
      <p:sp>
        <p:nvSpPr>
          <p:cNvPr id="601" name="Google Shape;601;p61"/>
          <p:cNvSpPr txBox="1"/>
          <p:nvPr/>
        </p:nvSpPr>
        <p:spPr>
          <a:xfrm>
            <a:off x="204475" y="8691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accent6"/>
                </a:solidFill>
              </a:rPr>
              <a:t>Не забываем наносить флюс перед припоем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2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Пайка переключателей</a:t>
            </a:r>
            <a:endParaRPr/>
          </a:p>
        </p:txBody>
      </p:sp>
      <p:pic>
        <p:nvPicPr>
          <p:cNvPr id="607" name="Google Shape;607;p62"/>
          <p:cNvPicPr preferRelativeResize="0"/>
          <p:nvPr/>
        </p:nvPicPr>
        <p:blipFill rotWithShape="1">
          <a:blip r:embed="rId3">
            <a:alphaModFix/>
          </a:blip>
          <a:srcRect b="0" l="8939" r="20955" t="18214"/>
          <a:stretch/>
        </p:blipFill>
        <p:spPr>
          <a:xfrm>
            <a:off x="1259888" y="781299"/>
            <a:ext cx="2371700" cy="3685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62"/>
          <p:cNvPicPr preferRelativeResize="0"/>
          <p:nvPr/>
        </p:nvPicPr>
        <p:blipFill rotWithShape="1">
          <a:blip r:embed="rId4">
            <a:alphaModFix/>
          </a:blip>
          <a:srcRect b="22966" l="32822" r="38876" t="43841"/>
          <a:stretch/>
        </p:blipFill>
        <p:spPr>
          <a:xfrm>
            <a:off x="5881863" y="1095212"/>
            <a:ext cx="1978800" cy="3091101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62"/>
          <p:cNvSpPr/>
          <p:nvPr/>
        </p:nvSpPr>
        <p:spPr>
          <a:xfrm>
            <a:off x="1417150" y="1679313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62"/>
          <p:cNvSpPr txBox="1"/>
          <p:nvPr/>
        </p:nvSpPr>
        <p:spPr>
          <a:xfrm>
            <a:off x="1387900" y="1494588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-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11" name="Google Shape;611;p62"/>
          <p:cNvSpPr/>
          <p:nvPr/>
        </p:nvSpPr>
        <p:spPr>
          <a:xfrm>
            <a:off x="2434675" y="98772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62"/>
          <p:cNvSpPr txBox="1"/>
          <p:nvPr/>
        </p:nvSpPr>
        <p:spPr>
          <a:xfrm>
            <a:off x="2376175" y="83232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13" name="Google Shape;613;p62"/>
          <p:cNvSpPr/>
          <p:nvPr/>
        </p:nvSpPr>
        <p:spPr>
          <a:xfrm>
            <a:off x="3130025" y="83232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62"/>
          <p:cNvSpPr txBox="1"/>
          <p:nvPr/>
        </p:nvSpPr>
        <p:spPr>
          <a:xfrm>
            <a:off x="3071525" y="67692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15" name="Google Shape;615;p62"/>
          <p:cNvSpPr/>
          <p:nvPr/>
        </p:nvSpPr>
        <p:spPr>
          <a:xfrm>
            <a:off x="3159275" y="151092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62"/>
          <p:cNvSpPr txBox="1"/>
          <p:nvPr/>
        </p:nvSpPr>
        <p:spPr>
          <a:xfrm>
            <a:off x="3100775" y="135552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17" name="Google Shape;617;p62"/>
          <p:cNvSpPr/>
          <p:nvPr/>
        </p:nvSpPr>
        <p:spPr>
          <a:xfrm>
            <a:off x="7206700" y="121695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62"/>
          <p:cNvSpPr txBox="1"/>
          <p:nvPr/>
        </p:nvSpPr>
        <p:spPr>
          <a:xfrm>
            <a:off x="7148200" y="106155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19" name="Google Shape;619;p62"/>
          <p:cNvSpPr txBox="1"/>
          <p:nvPr/>
        </p:nvSpPr>
        <p:spPr>
          <a:xfrm>
            <a:off x="3767325" y="2225125"/>
            <a:ext cx="1978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Припаиваем только провода от ленты и только к одной клемме переключателя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620" name="Google Shape;620;p62"/>
          <p:cNvCxnSpPr/>
          <p:nvPr/>
        </p:nvCxnSpPr>
        <p:spPr>
          <a:xfrm>
            <a:off x="3504025" y="1364450"/>
            <a:ext cx="3657600" cy="421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1" name="Google Shape;621;p62"/>
          <p:cNvSpPr/>
          <p:nvPr/>
        </p:nvSpPr>
        <p:spPr>
          <a:xfrm>
            <a:off x="2561675" y="1306050"/>
            <a:ext cx="806825" cy="617725"/>
          </a:xfrm>
          <a:custGeom>
            <a:rect b="b" l="l" r="r" t="t"/>
            <a:pathLst>
              <a:path extrusionOk="0" h="24709" w="32273">
                <a:moveTo>
                  <a:pt x="0" y="24709"/>
                </a:moveTo>
                <a:cubicBezTo>
                  <a:pt x="1513" y="23112"/>
                  <a:pt x="6303" y="17818"/>
                  <a:pt x="9076" y="15128"/>
                </a:cubicBezTo>
                <a:cubicBezTo>
                  <a:pt x="11849" y="12439"/>
                  <a:pt x="12774" y="11093"/>
                  <a:pt x="16640" y="8572"/>
                </a:cubicBezTo>
                <a:cubicBezTo>
                  <a:pt x="20506" y="6051"/>
                  <a:pt x="29668" y="1429"/>
                  <a:pt x="32273" y="0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2" name="Google Shape;622;p62"/>
          <p:cNvSpPr/>
          <p:nvPr/>
        </p:nvSpPr>
        <p:spPr>
          <a:xfrm>
            <a:off x="2542225" y="1132475"/>
            <a:ext cx="500950" cy="715600"/>
          </a:xfrm>
          <a:custGeom>
            <a:rect b="b" l="l" r="r" t="t"/>
            <a:pathLst>
              <a:path extrusionOk="0" h="28624" w="20038">
                <a:moveTo>
                  <a:pt x="20038" y="0"/>
                </a:moveTo>
                <a:cubicBezTo>
                  <a:pt x="18905" y="2147"/>
                  <a:pt x="16579" y="8110"/>
                  <a:pt x="13239" y="12881"/>
                </a:cubicBezTo>
                <a:cubicBezTo>
                  <a:pt x="9899" y="17652"/>
                  <a:pt x="2207" y="26000"/>
                  <a:pt x="0" y="28624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3" name="Google Shape;623;p62"/>
          <p:cNvSpPr/>
          <p:nvPr/>
        </p:nvSpPr>
        <p:spPr>
          <a:xfrm>
            <a:off x="2461725" y="962500"/>
            <a:ext cx="259400" cy="912425"/>
          </a:xfrm>
          <a:custGeom>
            <a:rect b="b" l="l" r="r" t="t"/>
            <a:pathLst>
              <a:path extrusionOk="0" h="36497" w="10376">
                <a:moveTo>
                  <a:pt x="10376" y="0"/>
                </a:moveTo>
                <a:cubicBezTo>
                  <a:pt x="9899" y="3161"/>
                  <a:pt x="9243" y="12881"/>
                  <a:pt x="7514" y="18964"/>
                </a:cubicBezTo>
                <a:cubicBezTo>
                  <a:pt x="5785" y="25047"/>
                  <a:pt x="1252" y="33575"/>
                  <a:pt x="0" y="36497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4" name="Google Shape;624;p62"/>
          <p:cNvSpPr/>
          <p:nvPr/>
        </p:nvSpPr>
        <p:spPr>
          <a:xfrm>
            <a:off x="7486375" y="1154500"/>
            <a:ext cx="83072" cy="617708"/>
          </a:xfrm>
          <a:custGeom>
            <a:rect b="b" l="l" r="r" t="t"/>
            <a:pathLst>
              <a:path extrusionOk="0" h="21111" w="3578">
                <a:moveTo>
                  <a:pt x="3578" y="0"/>
                </a:moveTo>
                <a:lnTo>
                  <a:pt x="0" y="21111"/>
                </a:lnTo>
              </a:path>
            </a:pathLst>
          </a:custGeom>
          <a:noFill/>
          <a:ln cap="flat" cmpd="sng" w="1524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Пайка переключателей</a:t>
            </a:r>
            <a:endParaRPr/>
          </a:p>
        </p:txBody>
      </p:sp>
      <p:pic>
        <p:nvPicPr>
          <p:cNvPr id="630" name="Google Shape;630;p63"/>
          <p:cNvPicPr preferRelativeResize="0"/>
          <p:nvPr/>
        </p:nvPicPr>
        <p:blipFill rotWithShape="1">
          <a:blip r:embed="rId3">
            <a:alphaModFix/>
          </a:blip>
          <a:srcRect b="1434" l="7560" r="28049" t="6059"/>
          <a:stretch/>
        </p:blipFill>
        <p:spPr>
          <a:xfrm>
            <a:off x="1303713" y="845362"/>
            <a:ext cx="1785699" cy="341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63"/>
          <p:cNvPicPr preferRelativeResize="0"/>
          <p:nvPr/>
        </p:nvPicPr>
        <p:blipFill rotWithShape="1">
          <a:blip r:embed="rId4">
            <a:alphaModFix/>
          </a:blip>
          <a:srcRect b="4067" l="13998" r="24690" t="4958"/>
          <a:stretch/>
        </p:blipFill>
        <p:spPr>
          <a:xfrm>
            <a:off x="3816213" y="845363"/>
            <a:ext cx="1747175" cy="345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63"/>
          <p:cNvPicPr preferRelativeResize="0"/>
          <p:nvPr/>
        </p:nvPicPr>
        <p:blipFill rotWithShape="1">
          <a:blip r:embed="rId5">
            <a:alphaModFix/>
          </a:blip>
          <a:srcRect b="7920" l="17440" r="31130" t="4759"/>
          <a:stretch/>
        </p:blipFill>
        <p:spPr>
          <a:xfrm>
            <a:off x="6290188" y="845363"/>
            <a:ext cx="1526649" cy="3452774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63"/>
          <p:cNvSpPr/>
          <p:nvPr/>
        </p:nvSpPr>
        <p:spPr>
          <a:xfrm>
            <a:off x="1435025" y="1705713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63"/>
          <p:cNvSpPr txBox="1"/>
          <p:nvPr/>
        </p:nvSpPr>
        <p:spPr>
          <a:xfrm>
            <a:off x="1405775" y="1520988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-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35" name="Google Shape;635;p63"/>
          <p:cNvSpPr/>
          <p:nvPr/>
        </p:nvSpPr>
        <p:spPr>
          <a:xfrm>
            <a:off x="3959150" y="1522363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63"/>
          <p:cNvSpPr txBox="1"/>
          <p:nvPr/>
        </p:nvSpPr>
        <p:spPr>
          <a:xfrm>
            <a:off x="3929900" y="1337638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-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37" name="Google Shape;637;p63"/>
          <p:cNvSpPr/>
          <p:nvPr/>
        </p:nvSpPr>
        <p:spPr>
          <a:xfrm>
            <a:off x="6733300" y="999163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63"/>
          <p:cNvSpPr txBox="1"/>
          <p:nvPr/>
        </p:nvSpPr>
        <p:spPr>
          <a:xfrm>
            <a:off x="6704050" y="814438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-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39" name="Google Shape;639;p63"/>
          <p:cNvSpPr/>
          <p:nvPr/>
        </p:nvSpPr>
        <p:spPr>
          <a:xfrm>
            <a:off x="1650225" y="253382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63"/>
          <p:cNvSpPr txBox="1"/>
          <p:nvPr/>
        </p:nvSpPr>
        <p:spPr>
          <a:xfrm>
            <a:off x="1591725" y="237842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41" name="Google Shape;641;p63"/>
          <p:cNvSpPr/>
          <p:nvPr/>
        </p:nvSpPr>
        <p:spPr>
          <a:xfrm>
            <a:off x="2440950" y="136697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63"/>
          <p:cNvSpPr txBox="1"/>
          <p:nvPr/>
        </p:nvSpPr>
        <p:spPr>
          <a:xfrm>
            <a:off x="2382450" y="121157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43" name="Google Shape;643;p63"/>
          <p:cNvSpPr/>
          <p:nvPr/>
        </p:nvSpPr>
        <p:spPr>
          <a:xfrm>
            <a:off x="2807350" y="180277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63"/>
          <p:cNvSpPr txBox="1"/>
          <p:nvPr/>
        </p:nvSpPr>
        <p:spPr>
          <a:xfrm>
            <a:off x="2748850" y="164737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45" name="Google Shape;645;p63"/>
          <p:cNvSpPr/>
          <p:nvPr/>
        </p:nvSpPr>
        <p:spPr>
          <a:xfrm>
            <a:off x="5024300" y="127957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63"/>
          <p:cNvSpPr txBox="1"/>
          <p:nvPr/>
        </p:nvSpPr>
        <p:spPr>
          <a:xfrm>
            <a:off x="4965800" y="112417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47" name="Google Shape;647;p63"/>
          <p:cNvSpPr/>
          <p:nvPr/>
        </p:nvSpPr>
        <p:spPr>
          <a:xfrm>
            <a:off x="4898075" y="277195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63"/>
          <p:cNvSpPr txBox="1"/>
          <p:nvPr/>
        </p:nvSpPr>
        <p:spPr>
          <a:xfrm>
            <a:off x="4839575" y="261655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49" name="Google Shape;649;p63"/>
          <p:cNvSpPr/>
          <p:nvPr/>
        </p:nvSpPr>
        <p:spPr>
          <a:xfrm>
            <a:off x="4107500" y="253382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63"/>
          <p:cNvSpPr txBox="1"/>
          <p:nvPr/>
        </p:nvSpPr>
        <p:spPr>
          <a:xfrm>
            <a:off x="4049000" y="237842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51" name="Google Shape;651;p63"/>
          <p:cNvSpPr/>
          <p:nvPr/>
        </p:nvSpPr>
        <p:spPr>
          <a:xfrm>
            <a:off x="6498700" y="232597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63"/>
          <p:cNvSpPr txBox="1"/>
          <p:nvPr/>
        </p:nvSpPr>
        <p:spPr>
          <a:xfrm>
            <a:off x="6440200" y="217057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53" name="Google Shape;653;p63"/>
          <p:cNvSpPr/>
          <p:nvPr/>
        </p:nvSpPr>
        <p:spPr>
          <a:xfrm>
            <a:off x="7234075" y="280055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63"/>
          <p:cNvSpPr txBox="1"/>
          <p:nvPr/>
        </p:nvSpPr>
        <p:spPr>
          <a:xfrm>
            <a:off x="7175575" y="264515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55" name="Google Shape;655;p63"/>
          <p:cNvSpPr/>
          <p:nvPr/>
        </p:nvSpPr>
        <p:spPr>
          <a:xfrm>
            <a:off x="7553275" y="256777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63"/>
          <p:cNvSpPr txBox="1"/>
          <p:nvPr/>
        </p:nvSpPr>
        <p:spPr>
          <a:xfrm>
            <a:off x="7494775" y="241237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57" name="Google Shape;657;p63"/>
          <p:cNvSpPr/>
          <p:nvPr/>
        </p:nvSpPr>
        <p:spPr>
          <a:xfrm>
            <a:off x="2035338" y="2024738"/>
            <a:ext cx="328000" cy="583700"/>
          </a:xfrm>
          <a:custGeom>
            <a:rect b="b" l="l" r="r" t="t"/>
            <a:pathLst>
              <a:path extrusionOk="0" h="23348" w="13120">
                <a:moveTo>
                  <a:pt x="13120" y="5100"/>
                </a:moveTo>
                <a:cubicBezTo>
                  <a:pt x="12404" y="4265"/>
                  <a:pt x="10734" y="269"/>
                  <a:pt x="8826" y="90"/>
                </a:cubicBezTo>
                <a:cubicBezTo>
                  <a:pt x="6918" y="-89"/>
                  <a:pt x="3101" y="1581"/>
                  <a:pt x="1670" y="4026"/>
                </a:cubicBezTo>
                <a:cubicBezTo>
                  <a:pt x="239" y="6471"/>
                  <a:pt x="478" y="11541"/>
                  <a:pt x="239" y="14761"/>
                </a:cubicBezTo>
                <a:cubicBezTo>
                  <a:pt x="1" y="17981"/>
                  <a:pt x="239" y="21917"/>
                  <a:pt x="239" y="23348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58" name="Google Shape;658;p63"/>
          <p:cNvSpPr/>
          <p:nvPr/>
        </p:nvSpPr>
        <p:spPr>
          <a:xfrm>
            <a:off x="4832200" y="1978896"/>
            <a:ext cx="253450" cy="620575"/>
          </a:xfrm>
          <a:custGeom>
            <a:rect b="b" l="l" r="r" t="t"/>
            <a:pathLst>
              <a:path extrusionOk="0" h="24823" w="10138">
                <a:moveTo>
                  <a:pt x="0" y="2997"/>
                </a:moveTo>
                <a:cubicBezTo>
                  <a:pt x="835" y="2520"/>
                  <a:pt x="3340" y="-403"/>
                  <a:pt x="5010" y="134"/>
                </a:cubicBezTo>
                <a:cubicBezTo>
                  <a:pt x="6680" y="671"/>
                  <a:pt x="9542" y="3951"/>
                  <a:pt x="10019" y="6217"/>
                </a:cubicBezTo>
                <a:cubicBezTo>
                  <a:pt x="10496" y="8483"/>
                  <a:pt x="8886" y="11882"/>
                  <a:pt x="7872" y="13731"/>
                </a:cubicBezTo>
                <a:cubicBezTo>
                  <a:pt x="6858" y="15580"/>
                  <a:pt x="4592" y="15460"/>
                  <a:pt x="3936" y="17309"/>
                </a:cubicBezTo>
                <a:cubicBezTo>
                  <a:pt x="3280" y="19158"/>
                  <a:pt x="3936" y="23571"/>
                  <a:pt x="3936" y="24823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59" name="Google Shape;659;p63"/>
          <p:cNvSpPr/>
          <p:nvPr/>
        </p:nvSpPr>
        <p:spPr>
          <a:xfrm>
            <a:off x="7292150" y="1756488"/>
            <a:ext cx="309150" cy="556725"/>
          </a:xfrm>
          <a:custGeom>
            <a:rect b="b" l="l" r="r" t="t"/>
            <a:pathLst>
              <a:path extrusionOk="0" h="22269" w="12366">
                <a:moveTo>
                  <a:pt x="0" y="4737"/>
                </a:moveTo>
                <a:cubicBezTo>
                  <a:pt x="1014" y="4081"/>
                  <a:pt x="4114" y="1219"/>
                  <a:pt x="6082" y="801"/>
                </a:cubicBezTo>
                <a:cubicBezTo>
                  <a:pt x="8050" y="384"/>
                  <a:pt x="10793" y="-1346"/>
                  <a:pt x="11807" y="2232"/>
                </a:cubicBezTo>
                <a:cubicBezTo>
                  <a:pt x="12821" y="5810"/>
                  <a:pt x="12105" y="18930"/>
                  <a:pt x="12165" y="22269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60" name="Google Shape;660;p63"/>
          <p:cNvSpPr/>
          <p:nvPr/>
        </p:nvSpPr>
        <p:spPr>
          <a:xfrm>
            <a:off x="7271600" y="1802771"/>
            <a:ext cx="253450" cy="620575"/>
          </a:xfrm>
          <a:custGeom>
            <a:rect b="b" l="l" r="r" t="t"/>
            <a:pathLst>
              <a:path extrusionOk="0" h="24823" w="10138">
                <a:moveTo>
                  <a:pt x="0" y="2997"/>
                </a:moveTo>
                <a:cubicBezTo>
                  <a:pt x="835" y="2520"/>
                  <a:pt x="3340" y="-403"/>
                  <a:pt x="5010" y="134"/>
                </a:cubicBezTo>
                <a:cubicBezTo>
                  <a:pt x="6680" y="671"/>
                  <a:pt x="9542" y="3951"/>
                  <a:pt x="10019" y="6217"/>
                </a:cubicBezTo>
                <a:cubicBezTo>
                  <a:pt x="10496" y="8483"/>
                  <a:pt x="8886" y="11882"/>
                  <a:pt x="7872" y="13731"/>
                </a:cubicBezTo>
                <a:cubicBezTo>
                  <a:pt x="6858" y="15580"/>
                  <a:pt x="4592" y="15460"/>
                  <a:pt x="3936" y="17309"/>
                </a:cubicBezTo>
                <a:cubicBezTo>
                  <a:pt x="3280" y="19158"/>
                  <a:pt x="3936" y="23571"/>
                  <a:pt x="3936" y="24823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61" name="Google Shape;661;p63"/>
          <p:cNvSpPr/>
          <p:nvPr/>
        </p:nvSpPr>
        <p:spPr>
          <a:xfrm>
            <a:off x="6835950" y="1705727"/>
            <a:ext cx="328000" cy="674115"/>
          </a:xfrm>
          <a:custGeom>
            <a:rect b="b" l="l" r="r" t="t"/>
            <a:pathLst>
              <a:path extrusionOk="0" h="23348" w="13120">
                <a:moveTo>
                  <a:pt x="13120" y="5100"/>
                </a:moveTo>
                <a:cubicBezTo>
                  <a:pt x="12404" y="4265"/>
                  <a:pt x="10734" y="269"/>
                  <a:pt x="8826" y="90"/>
                </a:cubicBezTo>
                <a:cubicBezTo>
                  <a:pt x="6918" y="-89"/>
                  <a:pt x="3101" y="1581"/>
                  <a:pt x="1670" y="4026"/>
                </a:cubicBezTo>
                <a:cubicBezTo>
                  <a:pt x="239" y="6471"/>
                  <a:pt x="478" y="11541"/>
                  <a:pt x="239" y="14761"/>
                </a:cubicBezTo>
                <a:cubicBezTo>
                  <a:pt x="1" y="17981"/>
                  <a:pt x="239" y="21917"/>
                  <a:pt x="239" y="23348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62" name="Google Shape;662;p63"/>
          <p:cNvSpPr/>
          <p:nvPr/>
        </p:nvSpPr>
        <p:spPr>
          <a:xfrm>
            <a:off x="4473738" y="1948538"/>
            <a:ext cx="328000" cy="583700"/>
          </a:xfrm>
          <a:custGeom>
            <a:rect b="b" l="l" r="r" t="t"/>
            <a:pathLst>
              <a:path extrusionOk="0" h="23348" w="13120">
                <a:moveTo>
                  <a:pt x="13120" y="5100"/>
                </a:moveTo>
                <a:cubicBezTo>
                  <a:pt x="12404" y="4265"/>
                  <a:pt x="10734" y="269"/>
                  <a:pt x="8826" y="90"/>
                </a:cubicBezTo>
                <a:cubicBezTo>
                  <a:pt x="6918" y="-89"/>
                  <a:pt x="3101" y="1581"/>
                  <a:pt x="1670" y="4026"/>
                </a:cubicBezTo>
                <a:cubicBezTo>
                  <a:pt x="239" y="6471"/>
                  <a:pt x="478" y="11541"/>
                  <a:pt x="239" y="14761"/>
                </a:cubicBezTo>
                <a:cubicBezTo>
                  <a:pt x="1" y="17981"/>
                  <a:pt x="239" y="21917"/>
                  <a:pt x="239" y="23348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Подготовка проводов</a:t>
            </a:r>
            <a:endParaRPr/>
          </a:p>
        </p:txBody>
      </p:sp>
      <p:pic>
        <p:nvPicPr>
          <p:cNvPr id="668" name="Google Shape;668;p64"/>
          <p:cNvPicPr preferRelativeResize="0"/>
          <p:nvPr/>
        </p:nvPicPr>
        <p:blipFill rotWithShape="1">
          <a:blip r:embed="rId3">
            <a:alphaModFix/>
          </a:blip>
          <a:srcRect b="21559" l="12892" r="29090" t="35708"/>
          <a:stretch/>
        </p:blipFill>
        <p:spPr>
          <a:xfrm>
            <a:off x="878200" y="1209437"/>
            <a:ext cx="3088801" cy="30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64"/>
          <p:cNvSpPr txBox="1"/>
          <p:nvPr/>
        </p:nvSpPr>
        <p:spPr>
          <a:xfrm>
            <a:off x="1509400" y="659150"/>
            <a:ext cx="182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3 провода по 8 см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70" name="Google Shape;670;p64"/>
          <p:cNvSpPr txBox="1"/>
          <p:nvPr/>
        </p:nvSpPr>
        <p:spPr>
          <a:xfrm>
            <a:off x="4623100" y="823563"/>
            <a:ext cx="285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Концы проводов аккуратно лудим припоем перед пайкой</a:t>
            </a:r>
            <a:endParaRPr/>
          </a:p>
        </p:txBody>
      </p:sp>
      <p:pic>
        <p:nvPicPr>
          <p:cNvPr id="671" name="Google Shape;671;p64"/>
          <p:cNvPicPr preferRelativeResize="0"/>
          <p:nvPr/>
        </p:nvPicPr>
        <p:blipFill rotWithShape="1">
          <a:blip r:embed="rId4">
            <a:alphaModFix/>
          </a:blip>
          <a:srcRect b="48037" l="44479" r="42283" t="36368"/>
          <a:stretch/>
        </p:blipFill>
        <p:spPr>
          <a:xfrm>
            <a:off x="5402550" y="1708400"/>
            <a:ext cx="1295298" cy="203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5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Пайка переключателей</a:t>
            </a:r>
            <a:endParaRPr/>
          </a:p>
        </p:txBody>
      </p:sp>
      <p:pic>
        <p:nvPicPr>
          <p:cNvPr id="677" name="Google Shape;677;p65"/>
          <p:cNvPicPr preferRelativeResize="0"/>
          <p:nvPr/>
        </p:nvPicPr>
        <p:blipFill rotWithShape="1">
          <a:blip r:embed="rId3">
            <a:alphaModFix/>
          </a:blip>
          <a:srcRect b="30139" l="25638" r="28431" t="19536"/>
          <a:stretch/>
        </p:blipFill>
        <p:spPr>
          <a:xfrm>
            <a:off x="750875" y="867212"/>
            <a:ext cx="2335999" cy="340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65"/>
          <p:cNvPicPr preferRelativeResize="0"/>
          <p:nvPr/>
        </p:nvPicPr>
        <p:blipFill rotWithShape="1">
          <a:blip r:embed="rId4">
            <a:alphaModFix/>
          </a:blip>
          <a:srcRect b="4728" l="9598" r="35900" t="25639"/>
          <a:stretch/>
        </p:blipFill>
        <p:spPr>
          <a:xfrm>
            <a:off x="5399075" y="867188"/>
            <a:ext cx="2003445" cy="3409101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65"/>
          <p:cNvSpPr/>
          <p:nvPr/>
        </p:nvSpPr>
        <p:spPr>
          <a:xfrm>
            <a:off x="3763900" y="1134213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65"/>
          <p:cNvSpPr txBox="1"/>
          <p:nvPr/>
        </p:nvSpPr>
        <p:spPr>
          <a:xfrm>
            <a:off x="2820250" y="949488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-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81" name="Google Shape;681;p65"/>
          <p:cNvSpPr/>
          <p:nvPr/>
        </p:nvSpPr>
        <p:spPr>
          <a:xfrm>
            <a:off x="5880850" y="1008138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65"/>
          <p:cNvSpPr txBox="1"/>
          <p:nvPr/>
        </p:nvSpPr>
        <p:spPr>
          <a:xfrm>
            <a:off x="5851600" y="823413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-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83" name="Google Shape;683;p65"/>
          <p:cNvSpPr/>
          <p:nvPr/>
        </p:nvSpPr>
        <p:spPr>
          <a:xfrm>
            <a:off x="1709750" y="325532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65"/>
          <p:cNvSpPr txBox="1"/>
          <p:nvPr/>
        </p:nvSpPr>
        <p:spPr>
          <a:xfrm>
            <a:off x="1651250" y="309992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85" name="Google Shape;685;p65"/>
          <p:cNvSpPr/>
          <p:nvPr/>
        </p:nvSpPr>
        <p:spPr>
          <a:xfrm>
            <a:off x="5880850" y="227190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65"/>
          <p:cNvSpPr txBox="1"/>
          <p:nvPr/>
        </p:nvSpPr>
        <p:spPr>
          <a:xfrm>
            <a:off x="5822350" y="211650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87" name="Google Shape;687;p65"/>
          <p:cNvSpPr/>
          <p:nvPr/>
        </p:nvSpPr>
        <p:spPr>
          <a:xfrm>
            <a:off x="2538700" y="294817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65"/>
          <p:cNvSpPr txBox="1"/>
          <p:nvPr/>
        </p:nvSpPr>
        <p:spPr>
          <a:xfrm>
            <a:off x="2480200" y="279277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89" name="Google Shape;689;p65"/>
          <p:cNvSpPr/>
          <p:nvPr/>
        </p:nvSpPr>
        <p:spPr>
          <a:xfrm>
            <a:off x="7167925" y="190410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65"/>
          <p:cNvSpPr txBox="1"/>
          <p:nvPr/>
        </p:nvSpPr>
        <p:spPr>
          <a:xfrm>
            <a:off x="7109425" y="174870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91" name="Google Shape;691;p65"/>
          <p:cNvSpPr/>
          <p:nvPr/>
        </p:nvSpPr>
        <p:spPr>
          <a:xfrm>
            <a:off x="6463075" y="272715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65"/>
          <p:cNvSpPr txBox="1"/>
          <p:nvPr/>
        </p:nvSpPr>
        <p:spPr>
          <a:xfrm>
            <a:off x="6404575" y="257175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93" name="Google Shape;693;p65"/>
          <p:cNvSpPr txBox="1"/>
          <p:nvPr/>
        </p:nvSpPr>
        <p:spPr>
          <a:xfrm>
            <a:off x="2913325" y="1913125"/>
            <a:ext cx="2769000" cy="14775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простоты - скрутить 3 красных провода вместе, припаять разом к черному. Распределить по тумблерам. Любой красный на любой тумблер.</a:t>
            </a:r>
            <a:endParaRPr/>
          </a:p>
        </p:txBody>
      </p:sp>
      <p:sp>
        <p:nvSpPr>
          <p:cNvPr id="694" name="Google Shape;694;p65"/>
          <p:cNvSpPr/>
          <p:nvPr/>
        </p:nvSpPr>
        <p:spPr>
          <a:xfrm>
            <a:off x="1684975" y="1819850"/>
            <a:ext cx="368400" cy="1217925"/>
          </a:xfrm>
          <a:custGeom>
            <a:rect b="b" l="l" r="r" t="t"/>
            <a:pathLst>
              <a:path extrusionOk="0" h="48717" w="14736">
                <a:moveTo>
                  <a:pt x="14736" y="0"/>
                </a:moveTo>
                <a:cubicBezTo>
                  <a:pt x="7781" y="2091"/>
                  <a:pt x="15100" y="14919"/>
                  <a:pt x="12401" y="21661"/>
                </a:cubicBezTo>
                <a:cubicBezTo>
                  <a:pt x="8713" y="30871"/>
                  <a:pt x="5693" y="40592"/>
                  <a:pt x="0" y="48717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95" name="Google Shape;695;p65"/>
          <p:cNvSpPr/>
          <p:nvPr/>
        </p:nvSpPr>
        <p:spPr>
          <a:xfrm>
            <a:off x="2067400" y="1889530"/>
            <a:ext cx="439825" cy="939425"/>
          </a:xfrm>
          <a:custGeom>
            <a:rect b="b" l="l" r="r" t="t"/>
            <a:pathLst>
              <a:path extrusionOk="0" h="37577" w="17593">
                <a:moveTo>
                  <a:pt x="0" y="4369"/>
                </a:moveTo>
                <a:cubicBezTo>
                  <a:pt x="2918" y="2910"/>
                  <a:pt x="5584" y="-487"/>
                  <a:pt x="8797" y="80"/>
                </a:cubicBezTo>
                <a:cubicBezTo>
                  <a:pt x="13216" y="860"/>
                  <a:pt x="14987" y="6825"/>
                  <a:pt x="16714" y="10966"/>
                </a:cubicBezTo>
                <a:cubicBezTo>
                  <a:pt x="20177" y="19270"/>
                  <a:pt x="12206" y="28580"/>
                  <a:pt x="12206" y="37577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96" name="Google Shape;696;p65"/>
          <p:cNvSpPr/>
          <p:nvPr/>
        </p:nvSpPr>
        <p:spPr>
          <a:xfrm>
            <a:off x="6289975" y="1573064"/>
            <a:ext cx="404100" cy="656600"/>
          </a:xfrm>
          <a:custGeom>
            <a:rect b="b" l="l" r="r" t="t"/>
            <a:pathLst>
              <a:path extrusionOk="0" h="26264" w="16164">
                <a:moveTo>
                  <a:pt x="16164" y="4381"/>
                </a:moveTo>
                <a:cubicBezTo>
                  <a:pt x="16164" y="218"/>
                  <a:pt x="6456" y="-1588"/>
                  <a:pt x="3958" y="1742"/>
                </a:cubicBezTo>
                <a:cubicBezTo>
                  <a:pt x="-1010" y="8366"/>
                  <a:pt x="2373" y="18331"/>
                  <a:pt x="0" y="26264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97" name="Google Shape;697;p65"/>
          <p:cNvSpPr/>
          <p:nvPr/>
        </p:nvSpPr>
        <p:spPr>
          <a:xfrm>
            <a:off x="6793050" y="1583645"/>
            <a:ext cx="356175" cy="552550"/>
          </a:xfrm>
          <a:custGeom>
            <a:rect b="b" l="l" r="r" t="t"/>
            <a:pathLst>
              <a:path extrusionOk="0" h="22102" w="14247">
                <a:moveTo>
                  <a:pt x="0" y="3628"/>
                </a:moveTo>
                <a:cubicBezTo>
                  <a:pt x="2437" y="1187"/>
                  <a:pt x="7568" y="-1451"/>
                  <a:pt x="10006" y="989"/>
                </a:cubicBezTo>
                <a:cubicBezTo>
                  <a:pt x="15077" y="6064"/>
                  <a:pt x="14185" y="14928"/>
                  <a:pt x="14185" y="22102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98" name="Google Shape;698;p65"/>
          <p:cNvSpPr/>
          <p:nvPr/>
        </p:nvSpPr>
        <p:spPr>
          <a:xfrm>
            <a:off x="6713325" y="1595227"/>
            <a:ext cx="304575" cy="733400"/>
          </a:xfrm>
          <a:custGeom>
            <a:rect b="b" l="l" r="r" t="t"/>
            <a:pathLst>
              <a:path extrusionOk="0" h="29336" w="12183">
                <a:moveTo>
                  <a:pt x="0" y="2945"/>
                </a:moveTo>
                <a:cubicBezTo>
                  <a:pt x="651" y="667"/>
                  <a:pt x="4412" y="-606"/>
                  <a:pt x="6598" y="306"/>
                </a:cubicBezTo>
                <a:cubicBezTo>
                  <a:pt x="9156" y="1373"/>
                  <a:pt x="10476" y="4397"/>
                  <a:pt x="11656" y="6904"/>
                </a:cubicBezTo>
                <a:cubicBezTo>
                  <a:pt x="13507" y="10837"/>
                  <a:pt x="9889" y="15576"/>
                  <a:pt x="7697" y="19330"/>
                </a:cubicBezTo>
                <a:cubicBezTo>
                  <a:pt x="5975" y="22279"/>
                  <a:pt x="7483" y="26557"/>
                  <a:pt x="5498" y="29336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6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Пайка переключателей</a:t>
            </a:r>
            <a:endParaRPr/>
          </a:p>
        </p:txBody>
      </p:sp>
      <p:pic>
        <p:nvPicPr>
          <p:cNvPr id="704" name="Google Shape;704;p66"/>
          <p:cNvPicPr preferRelativeResize="0"/>
          <p:nvPr/>
        </p:nvPicPr>
        <p:blipFill rotWithShape="1">
          <a:blip r:embed="rId3">
            <a:alphaModFix/>
          </a:blip>
          <a:srcRect b="28162" l="13331" r="32167" t="24980"/>
          <a:stretch/>
        </p:blipFill>
        <p:spPr>
          <a:xfrm>
            <a:off x="494186" y="678725"/>
            <a:ext cx="3112890" cy="3564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66"/>
          <p:cNvPicPr preferRelativeResize="0"/>
          <p:nvPr/>
        </p:nvPicPr>
        <p:blipFill rotWithShape="1">
          <a:blip r:embed="rId4">
            <a:alphaModFix/>
          </a:blip>
          <a:srcRect b="31958" l="27320" r="31585" t="15079"/>
          <a:stretch/>
        </p:blipFill>
        <p:spPr>
          <a:xfrm>
            <a:off x="5461175" y="678725"/>
            <a:ext cx="2076639" cy="356474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66"/>
          <p:cNvSpPr/>
          <p:nvPr/>
        </p:nvSpPr>
        <p:spPr>
          <a:xfrm>
            <a:off x="977650" y="937838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66"/>
          <p:cNvSpPr txBox="1"/>
          <p:nvPr/>
        </p:nvSpPr>
        <p:spPr>
          <a:xfrm>
            <a:off x="948400" y="753113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-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708" name="Google Shape;708;p66"/>
          <p:cNvSpPr/>
          <p:nvPr/>
        </p:nvSpPr>
        <p:spPr>
          <a:xfrm>
            <a:off x="6317375" y="1122563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66"/>
          <p:cNvSpPr txBox="1"/>
          <p:nvPr/>
        </p:nvSpPr>
        <p:spPr>
          <a:xfrm>
            <a:off x="6288125" y="937838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-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710" name="Google Shape;710;p66"/>
          <p:cNvSpPr/>
          <p:nvPr/>
        </p:nvSpPr>
        <p:spPr>
          <a:xfrm>
            <a:off x="1928650" y="365902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66"/>
          <p:cNvSpPr txBox="1"/>
          <p:nvPr/>
        </p:nvSpPr>
        <p:spPr>
          <a:xfrm>
            <a:off x="1870150" y="350362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712" name="Google Shape;712;p66"/>
          <p:cNvSpPr/>
          <p:nvPr/>
        </p:nvSpPr>
        <p:spPr>
          <a:xfrm>
            <a:off x="7272200" y="281845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66"/>
          <p:cNvSpPr txBox="1"/>
          <p:nvPr/>
        </p:nvSpPr>
        <p:spPr>
          <a:xfrm>
            <a:off x="7213700" y="266305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714" name="Google Shape;714;p66"/>
          <p:cNvSpPr/>
          <p:nvPr/>
        </p:nvSpPr>
        <p:spPr>
          <a:xfrm>
            <a:off x="1240500" y="318625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66"/>
          <p:cNvSpPr txBox="1"/>
          <p:nvPr/>
        </p:nvSpPr>
        <p:spPr>
          <a:xfrm>
            <a:off x="1182000" y="303085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716" name="Google Shape;716;p66"/>
          <p:cNvSpPr/>
          <p:nvPr/>
        </p:nvSpPr>
        <p:spPr>
          <a:xfrm>
            <a:off x="3271700" y="309470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66"/>
          <p:cNvSpPr txBox="1"/>
          <p:nvPr/>
        </p:nvSpPr>
        <p:spPr>
          <a:xfrm>
            <a:off x="3213200" y="293930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718" name="Google Shape;718;p66"/>
          <p:cNvSpPr/>
          <p:nvPr/>
        </p:nvSpPr>
        <p:spPr>
          <a:xfrm>
            <a:off x="5520800" y="318625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66"/>
          <p:cNvSpPr txBox="1"/>
          <p:nvPr/>
        </p:nvSpPr>
        <p:spPr>
          <a:xfrm>
            <a:off x="5462300" y="303085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720" name="Google Shape;720;p66"/>
          <p:cNvSpPr/>
          <p:nvPr/>
        </p:nvSpPr>
        <p:spPr>
          <a:xfrm>
            <a:off x="6753100" y="365902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66"/>
          <p:cNvSpPr txBox="1"/>
          <p:nvPr/>
        </p:nvSpPr>
        <p:spPr>
          <a:xfrm>
            <a:off x="6694600" y="350362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722" name="Google Shape;722;p66"/>
          <p:cNvSpPr/>
          <p:nvPr/>
        </p:nvSpPr>
        <p:spPr>
          <a:xfrm rot="-1430297">
            <a:off x="5976085" y="596266"/>
            <a:ext cx="815030" cy="836932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66"/>
          <p:cNvSpPr txBox="1"/>
          <p:nvPr/>
        </p:nvSpPr>
        <p:spPr>
          <a:xfrm>
            <a:off x="3607075" y="1399100"/>
            <a:ext cx="1724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У всех переключателей красный провод идет на один и тот же черный провод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724" name="Google Shape;724;p66"/>
          <p:cNvCxnSpPr>
            <a:stCxn id="723" idx="3"/>
            <a:endCxn id="722" idx="2"/>
          </p:cNvCxnSpPr>
          <p:nvPr/>
        </p:nvCxnSpPr>
        <p:spPr>
          <a:xfrm flipH="1" rot="10800000">
            <a:off x="5331475" y="1179350"/>
            <a:ext cx="679500" cy="958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5" name="Google Shape;725;p66"/>
          <p:cNvSpPr txBox="1"/>
          <p:nvPr/>
        </p:nvSpPr>
        <p:spPr>
          <a:xfrm>
            <a:off x="7612725" y="1003300"/>
            <a:ext cx="1341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Обязательно изолируйте провода!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726" name="Google Shape;726;p66"/>
          <p:cNvCxnSpPr>
            <a:stCxn id="725" idx="1"/>
            <a:endCxn id="722" idx="5"/>
          </p:cNvCxnSpPr>
          <p:nvPr/>
        </p:nvCxnSpPr>
        <p:spPr>
          <a:xfrm rot="10800000">
            <a:off x="6766725" y="1169050"/>
            <a:ext cx="846000" cy="249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7" name="Google Shape;727;p66"/>
          <p:cNvSpPr/>
          <p:nvPr/>
        </p:nvSpPr>
        <p:spPr>
          <a:xfrm>
            <a:off x="1731950" y="1800801"/>
            <a:ext cx="602050" cy="349157"/>
          </a:xfrm>
          <a:custGeom>
            <a:rect b="b" l="l" r="r" t="t"/>
            <a:pathLst>
              <a:path extrusionOk="0" h="12152" w="24082">
                <a:moveTo>
                  <a:pt x="0" y="12152"/>
                </a:moveTo>
                <a:cubicBezTo>
                  <a:pt x="0" y="7723"/>
                  <a:pt x="2129" y="1744"/>
                  <a:pt x="6378" y="496"/>
                </a:cubicBezTo>
                <a:cubicBezTo>
                  <a:pt x="12552" y="-1318"/>
                  <a:pt x="21547" y="2278"/>
                  <a:pt x="24082" y="8193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28" name="Google Shape;728;p66"/>
          <p:cNvSpPr/>
          <p:nvPr/>
        </p:nvSpPr>
        <p:spPr>
          <a:xfrm>
            <a:off x="1687950" y="2353375"/>
            <a:ext cx="38900" cy="654275"/>
          </a:xfrm>
          <a:custGeom>
            <a:rect b="b" l="l" r="r" t="t"/>
            <a:pathLst>
              <a:path extrusionOk="0" h="26171" w="1556">
                <a:moveTo>
                  <a:pt x="0" y="26171"/>
                </a:moveTo>
                <a:cubicBezTo>
                  <a:pt x="0" y="17444"/>
                  <a:pt x="2887" y="8467"/>
                  <a:pt x="770" y="0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29" name="Google Shape;729;p66"/>
          <p:cNvSpPr/>
          <p:nvPr/>
        </p:nvSpPr>
        <p:spPr>
          <a:xfrm>
            <a:off x="2485200" y="1926936"/>
            <a:ext cx="599275" cy="1014750"/>
          </a:xfrm>
          <a:custGeom>
            <a:rect b="b" l="l" r="r" t="t"/>
            <a:pathLst>
              <a:path extrusionOk="0" h="40590" w="23971">
                <a:moveTo>
                  <a:pt x="0" y="6282"/>
                </a:moveTo>
                <a:cubicBezTo>
                  <a:pt x="1871" y="-295"/>
                  <a:pt x="17283" y="-2473"/>
                  <a:pt x="20343" y="3642"/>
                </a:cubicBezTo>
                <a:cubicBezTo>
                  <a:pt x="25880" y="14709"/>
                  <a:pt x="20571" y="28691"/>
                  <a:pt x="23971" y="40590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0" name="Google Shape;730;p66"/>
          <p:cNvSpPr/>
          <p:nvPr/>
        </p:nvSpPr>
        <p:spPr>
          <a:xfrm>
            <a:off x="2413725" y="1882745"/>
            <a:ext cx="410825" cy="1243100"/>
          </a:xfrm>
          <a:custGeom>
            <a:rect b="b" l="l" r="r" t="t"/>
            <a:pathLst>
              <a:path extrusionOk="0" h="49724" w="16433">
                <a:moveTo>
                  <a:pt x="0" y="6729"/>
                </a:moveTo>
                <a:cubicBezTo>
                  <a:pt x="1540" y="4027"/>
                  <a:pt x="3613" y="-747"/>
                  <a:pt x="6597" y="131"/>
                </a:cubicBezTo>
                <a:cubicBezTo>
                  <a:pt x="11633" y="1613"/>
                  <a:pt x="15661" y="7343"/>
                  <a:pt x="16274" y="12557"/>
                </a:cubicBezTo>
                <a:cubicBezTo>
                  <a:pt x="17226" y="20653"/>
                  <a:pt x="13135" y="29277"/>
                  <a:pt x="7917" y="35539"/>
                </a:cubicBezTo>
                <a:cubicBezTo>
                  <a:pt x="5217" y="38779"/>
                  <a:pt x="10776" y="44730"/>
                  <a:pt x="8357" y="48185"/>
                </a:cubicBezTo>
                <a:cubicBezTo>
                  <a:pt x="7699" y="49125"/>
                  <a:pt x="5848" y="48728"/>
                  <a:pt x="5278" y="49724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1" name="Google Shape;731;p66"/>
          <p:cNvSpPr/>
          <p:nvPr/>
        </p:nvSpPr>
        <p:spPr>
          <a:xfrm>
            <a:off x="6597450" y="2014108"/>
            <a:ext cx="448100" cy="314525"/>
          </a:xfrm>
          <a:custGeom>
            <a:rect b="b" l="l" r="r" t="t"/>
            <a:pathLst>
              <a:path extrusionOk="0" h="12581" w="17924">
                <a:moveTo>
                  <a:pt x="0" y="6753"/>
                </a:moveTo>
                <a:cubicBezTo>
                  <a:pt x="3200" y="3549"/>
                  <a:pt x="7448" y="-794"/>
                  <a:pt x="11876" y="155"/>
                </a:cubicBezTo>
                <a:cubicBezTo>
                  <a:pt x="16380" y="1121"/>
                  <a:pt x="17924" y="7974"/>
                  <a:pt x="17924" y="12581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2" name="Google Shape;732;p66"/>
          <p:cNvSpPr/>
          <p:nvPr/>
        </p:nvSpPr>
        <p:spPr>
          <a:xfrm>
            <a:off x="7078525" y="2683250"/>
            <a:ext cx="33000" cy="277675"/>
          </a:xfrm>
          <a:custGeom>
            <a:rect b="b" l="l" r="r" t="t"/>
            <a:pathLst>
              <a:path extrusionOk="0" h="11107" w="1320">
                <a:moveTo>
                  <a:pt x="0" y="0"/>
                </a:moveTo>
                <a:cubicBezTo>
                  <a:pt x="0" y="3728"/>
                  <a:pt x="1320" y="7379"/>
                  <a:pt x="1320" y="11107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3" name="Google Shape;733;p66"/>
          <p:cNvSpPr/>
          <p:nvPr/>
        </p:nvSpPr>
        <p:spPr>
          <a:xfrm>
            <a:off x="6677175" y="2002980"/>
            <a:ext cx="290600" cy="1268575"/>
          </a:xfrm>
          <a:custGeom>
            <a:rect b="b" l="l" r="r" t="t"/>
            <a:pathLst>
              <a:path extrusionOk="0" h="50743" w="11624">
                <a:moveTo>
                  <a:pt x="0" y="51"/>
                </a:moveTo>
                <a:cubicBezTo>
                  <a:pt x="7718" y="-762"/>
                  <a:pt x="12953" y="12805"/>
                  <a:pt x="11326" y="20394"/>
                </a:cubicBezTo>
                <a:cubicBezTo>
                  <a:pt x="10089" y="26164"/>
                  <a:pt x="5678" y="30781"/>
                  <a:pt x="3408" y="36228"/>
                </a:cubicBezTo>
                <a:cubicBezTo>
                  <a:pt x="2212" y="39099"/>
                  <a:pt x="5380" y="42424"/>
                  <a:pt x="4728" y="45465"/>
                </a:cubicBezTo>
                <a:cubicBezTo>
                  <a:pt x="4267" y="47615"/>
                  <a:pt x="2326" y="49189"/>
                  <a:pt x="769" y="50743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4" name="Google Shape;734;p66"/>
          <p:cNvSpPr/>
          <p:nvPr/>
        </p:nvSpPr>
        <p:spPr>
          <a:xfrm>
            <a:off x="5801692" y="1944146"/>
            <a:ext cx="630800" cy="1222950"/>
          </a:xfrm>
          <a:custGeom>
            <a:rect b="b" l="l" r="r" t="t"/>
            <a:pathLst>
              <a:path extrusionOk="0" h="48918" w="25232">
                <a:moveTo>
                  <a:pt x="710" y="48918"/>
                </a:moveTo>
                <a:cubicBezTo>
                  <a:pt x="710" y="42561"/>
                  <a:pt x="3202" y="36142"/>
                  <a:pt x="2030" y="29894"/>
                </a:cubicBezTo>
                <a:cubicBezTo>
                  <a:pt x="650" y="22541"/>
                  <a:pt x="-2067" y="13144"/>
                  <a:pt x="2800" y="7462"/>
                </a:cubicBezTo>
                <a:cubicBezTo>
                  <a:pt x="6436" y="3217"/>
                  <a:pt x="12313" y="-559"/>
                  <a:pt x="17864" y="94"/>
                </a:cubicBezTo>
                <a:cubicBezTo>
                  <a:pt x="21635" y="538"/>
                  <a:pt x="25232" y="4984"/>
                  <a:pt x="25232" y="8781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67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Проверка работоспособности</a:t>
            </a:r>
            <a:endParaRPr/>
          </a:p>
        </p:txBody>
      </p:sp>
      <p:pic>
        <p:nvPicPr>
          <p:cNvPr id="740" name="Google Shape;740;p67"/>
          <p:cNvPicPr preferRelativeResize="0"/>
          <p:nvPr/>
        </p:nvPicPr>
        <p:blipFill rotWithShape="1">
          <a:blip r:embed="rId3">
            <a:alphaModFix/>
          </a:blip>
          <a:srcRect b="7037" l="31133" r="28648" t="0"/>
          <a:stretch/>
        </p:blipFill>
        <p:spPr>
          <a:xfrm rot="5400000">
            <a:off x="5476609" y="-777472"/>
            <a:ext cx="1330531" cy="409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67"/>
          <p:cNvPicPr preferRelativeResize="0"/>
          <p:nvPr/>
        </p:nvPicPr>
        <p:blipFill rotWithShape="1">
          <a:blip r:embed="rId4">
            <a:alphaModFix/>
          </a:blip>
          <a:srcRect b="5393" l="29958" r="35540" t="0"/>
          <a:stretch/>
        </p:blipFill>
        <p:spPr>
          <a:xfrm rot="5400000">
            <a:off x="4236275" y="587726"/>
            <a:ext cx="1121549" cy="409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67"/>
          <p:cNvPicPr preferRelativeResize="0"/>
          <p:nvPr/>
        </p:nvPicPr>
        <p:blipFill rotWithShape="1">
          <a:blip r:embed="rId5">
            <a:alphaModFix/>
          </a:blip>
          <a:srcRect b="5393" l="28275" r="34585" t="0"/>
          <a:stretch/>
        </p:blipFill>
        <p:spPr>
          <a:xfrm rot="5400000">
            <a:off x="2877125" y="1891325"/>
            <a:ext cx="1207299" cy="409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Устанавливаем защитный кожух</a:t>
            </a:r>
            <a:endParaRPr/>
          </a:p>
        </p:txBody>
      </p:sp>
      <p:pic>
        <p:nvPicPr>
          <p:cNvPr id="748" name="Google Shape;748;p68"/>
          <p:cNvPicPr preferRelativeResize="0"/>
          <p:nvPr/>
        </p:nvPicPr>
        <p:blipFill rotWithShape="1">
          <a:blip r:embed="rId3">
            <a:alphaModFix/>
          </a:blip>
          <a:srcRect b="36904" l="29594" r="35684" t="39172"/>
          <a:stretch/>
        </p:blipFill>
        <p:spPr>
          <a:xfrm>
            <a:off x="2786075" y="2115427"/>
            <a:ext cx="2357710" cy="216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68"/>
          <p:cNvPicPr preferRelativeResize="0"/>
          <p:nvPr/>
        </p:nvPicPr>
        <p:blipFill rotWithShape="1">
          <a:blip r:embed="rId4">
            <a:alphaModFix/>
          </a:blip>
          <a:srcRect b="38715" l="25124" r="34659" t="15744"/>
          <a:stretch/>
        </p:blipFill>
        <p:spPr>
          <a:xfrm>
            <a:off x="314347" y="869475"/>
            <a:ext cx="2257353" cy="34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68"/>
          <p:cNvPicPr preferRelativeResize="0"/>
          <p:nvPr/>
        </p:nvPicPr>
        <p:blipFill rotWithShape="1">
          <a:blip r:embed="rId5">
            <a:alphaModFix/>
          </a:blip>
          <a:srcRect b="8857" l="0" r="18976" t="12272"/>
          <a:stretch/>
        </p:blipFill>
        <p:spPr>
          <a:xfrm>
            <a:off x="5358150" y="864388"/>
            <a:ext cx="2633676" cy="34147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1" name="Google Shape;751;p68"/>
          <p:cNvCxnSpPr>
            <a:stCxn id="748" idx="1"/>
          </p:cNvCxnSpPr>
          <p:nvPr/>
        </p:nvCxnSpPr>
        <p:spPr>
          <a:xfrm rot="10800000">
            <a:off x="2300375" y="2007461"/>
            <a:ext cx="485700" cy="11898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2" name="Google Shape;752;p68"/>
          <p:cNvSpPr txBox="1"/>
          <p:nvPr/>
        </p:nvSpPr>
        <p:spPr>
          <a:xfrm>
            <a:off x="2891675" y="869463"/>
            <a:ext cx="214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Расстояние от низа серой трубки 1 см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753" name="Google Shape;753;p68"/>
          <p:cNvCxnSpPr>
            <a:stCxn id="752" idx="2"/>
          </p:cNvCxnSpPr>
          <p:nvPr/>
        </p:nvCxnSpPr>
        <p:spPr>
          <a:xfrm>
            <a:off x="3964925" y="1485063"/>
            <a:ext cx="1407300" cy="493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4" name="Google Shape;754;p68"/>
          <p:cNvCxnSpPr/>
          <p:nvPr/>
        </p:nvCxnSpPr>
        <p:spPr>
          <a:xfrm flipH="1">
            <a:off x="5336250" y="1785950"/>
            <a:ext cx="1121700" cy="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68"/>
          <p:cNvCxnSpPr/>
          <p:nvPr/>
        </p:nvCxnSpPr>
        <p:spPr>
          <a:xfrm rot="10800000">
            <a:off x="5322025" y="2164550"/>
            <a:ext cx="1343100" cy="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68"/>
          <p:cNvCxnSpPr/>
          <p:nvPr/>
        </p:nvCxnSpPr>
        <p:spPr>
          <a:xfrm>
            <a:off x="5372100" y="1800225"/>
            <a:ext cx="0" cy="3930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Устанавливаем защитный кожух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2" name="Google Shape;762;p69"/>
          <p:cNvPicPr preferRelativeResize="0"/>
          <p:nvPr/>
        </p:nvPicPr>
        <p:blipFill rotWithShape="1">
          <a:blip r:embed="rId3">
            <a:alphaModFix/>
          </a:blip>
          <a:srcRect b="36409" l="10258" r="4476" t="41647"/>
          <a:stretch/>
        </p:blipFill>
        <p:spPr>
          <a:xfrm>
            <a:off x="369350" y="1833750"/>
            <a:ext cx="4305950" cy="14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69"/>
          <p:cNvPicPr preferRelativeResize="0"/>
          <p:nvPr/>
        </p:nvPicPr>
        <p:blipFill rotWithShape="1">
          <a:blip r:embed="rId4">
            <a:alphaModFix/>
          </a:blip>
          <a:srcRect b="29772" l="16649" r="34266" t="30409"/>
          <a:stretch/>
        </p:blipFill>
        <p:spPr>
          <a:xfrm>
            <a:off x="4914900" y="942975"/>
            <a:ext cx="3014650" cy="325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Фиксируем защитный кожух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9" name="Google Shape;769;p70"/>
          <p:cNvPicPr preferRelativeResize="0"/>
          <p:nvPr/>
        </p:nvPicPr>
        <p:blipFill rotWithShape="1">
          <a:blip r:embed="rId3">
            <a:alphaModFix/>
          </a:blip>
          <a:srcRect b="9182" l="0" r="8651" t="15250"/>
          <a:stretch/>
        </p:blipFill>
        <p:spPr>
          <a:xfrm>
            <a:off x="1126675" y="742088"/>
            <a:ext cx="3243274" cy="3573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70"/>
          <p:cNvPicPr preferRelativeResize="0"/>
          <p:nvPr/>
        </p:nvPicPr>
        <p:blipFill rotWithShape="1">
          <a:blip r:embed="rId4">
            <a:alphaModFix/>
          </a:blip>
          <a:srcRect b="30305" l="20149" r="11503" t="13957"/>
          <a:stretch/>
        </p:blipFill>
        <p:spPr>
          <a:xfrm>
            <a:off x="4703947" y="742088"/>
            <a:ext cx="3289928" cy="357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Готово!!!</a:t>
            </a:r>
            <a:endParaRPr/>
          </a:p>
        </p:txBody>
      </p:sp>
      <p:pic>
        <p:nvPicPr>
          <p:cNvPr id="776" name="Google Shape;776;p71"/>
          <p:cNvPicPr preferRelativeResize="0"/>
          <p:nvPr/>
        </p:nvPicPr>
        <p:blipFill rotWithShape="1">
          <a:blip r:embed="rId3">
            <a:alphaModFix/>
          </a:blip>
          <a:srcRect b="13923" l="6878" r="5954" t="33617"/>
          <a:stretch/>
        </p:blipFill>
        <p:spPr>
          <a:xfrm>
            <a:off x="1912562" y="658075"/>
            <a:ext cx="5295425" cy="424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72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Проверяем различные режимы работы</a:t>
            </a:r>
            <a:endParaRPr/>
          </a:p>
        </p:txBody>
      </p:sp>
      <p:pic>
        <p:nvPicPr>
          <p:cNvPr id="782" name="Google Shape;782;p72"/>
          <p:cNvPicPr preferRelativeResize="0"/>
          <p:nvPr/>
        </p:nvPicPr>
        <p:blipFill rotWithShape="1">
          <a:blip r:embed="rId3">
            <a:alphaModFix/>
          </a:blip>
          <a:srcRect b="32119" l="6026" r="8745" t="32240"/>
          <a:stretch/>
        </p:blipFill>
        <p:spPr>
          <a:xfrm>
            <a:off x="878687" y="799687"/>
            <a:ext cx="3643299" cy="11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72"/>
          <p:cNvPicPr preferRelativeResize="0"/>
          <p:nvPr/>
        </p:nvPicPr>
        <p:blipFill rotWithShape="1">
          <a:blip r:embed="rId4">
            <a:alphaModFix/>
          </a:blip>
          <a:srcRect b="34880" l="9964" r="11457" t="32261"/>
          <a:stretch/>
        </p:blipFill>
        <p:spPr>
          <a:xfrm>
            <a:off x="878688" y="1999837"/>
            <a:ext cx="3643299" cy="11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72"/>
          <p:cNvPicPr preferRelativeResize="0"/>
          <p:nvPr/>
        </p:nvPicPr>
        <p:blipFill rotWithShape="1">
          <a:blip r:embed="rId5">
            <a:alphaModFix/>
          </a:blip>
          <a:srcRect b="35819" l="11535" r="8246" t="30636"/>
          <a:stretch/>
        </p:blipFill>
        <p:spPr>
          <a:xfrm>
            <a:off x="878688" y="3199987"/>
            <a:ext cx="3643299" cy="11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72"/>
          <p:cNvPicPr preferRelativeResize="0"/>
          <p:nvPr/>
        </p:nvPicPr>
        <p:blipFill rotWithShape="1">
          <a:blip r:embed="rId6">
            <a:alphaModFix/>
          </a:blip>
          <a:srcRect b="41817" l="12634" r="6531" t="24377"/>
          <a:stretch/>
        </p:blipFill>
        <p:spPr>
          <a:xfrm>
            <a:off x="4622012" y="799688"/>
            <a:ext cx="3643299" cy="11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72"/>
          <p:cNvPicPr preferRelativeResize="0"/>
          <p:nvPr/>
        </p:nvPicPr>
        <p:blipFill rotWithShape="1">
          <a:blip r:embed="rId7">
            <a:alphaModFix/>
          </a:blip>
          <a:srcRect b="36968" l="9546" r="3903" t="26838"/>
          <a:stretch/>
        </p:blipFill>
        <p:spPr>
          <a:xfrm>
            <a:off x="4622013" y="1999838"/>
            <a:ext cx="3643299" cy="11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72"/>
          <p:cNvPicPr preferRelativeResize="0"/>
          <p:nvPr/>
        </p:nvPicPr>
        <p:blipFill rotWithShape="1">
          <a:blip r:embed="rId8">
            <a:alphaModFix/>
          </a:blip>
          <a:srcRect b="40380" l="11866" r="2024" t="23611"/>
          <a:stretch/>
        </p:blipFill>
        <p:spPr>
          <a:xfrm>
            <a:off x="4622012" y="3199988"/>
            <a:ext cx="3643299" cy="114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Световой меч готов!</a:t>
            </a:r>
            <a:endParaRPr/>
          </a:p>
        </p:txBody>
      </p:sp>
      <p:pic>
        <p:nvPicPr>
          <p:cNvPr id="793" name="Google Shape;793;p73"/>
          <p:cNvPicPr preferRelativeResize="0"/>
          <p:nvPr/>
        </p:nvPicPr>
        <p:blipFill rotWithShape="1">
          <a:blip r:embed="rId3">
            <a:alphaModFix/>
          </a:blip>
          <a:srcRect b="29480" l="8508" r="7999" t="32240"/>
          <a:stretch/>
        </p:blipFill>
        <p:spPr>
          <a:xfrm>
            <a:off x="172200" y="1057275"/>
            <a:ext cx="8799600" cy="302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0" y="0"/>
            <a:ext cx="9144000" cy="514200"/>
          </a:xfrm>
          <a:prstGeom prst="rect">
            <a:avLst/>
          </a:prstGeom>
          <a:noFill/>
        </p:spPr>
        <p:txBody>
          <a:bodyPr wrap="square" anchor="t" lIns="91425" tIns="91425" rIns="91425" bIns="0">
            <a:spAutoFit/>
          </a:bodyPr>
          <a:lstStyle/>
          <a:p>
            <a:pPr algn="l"/>
            <a:r>
              <a:rPr sz="2300" b="0">
                <a:solidFill>
                  <a:srgbClr val="262626"/>
                </a:solidFill>
                <a:latin typeface="Arial"/>
              </a:rPr>
              <a:t>Короткое замыкание (КЗ)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000" y="660000"/>
            <a:ext cx="8300000" cy="400000"/>
          </a:xfrm>
          <a:prstGeom prst="roundRect">
            <a:avLst>
              <a:gd name="adj" fmla="val 12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КЗ — короткое замыкание: </a:t>
            </a:r>
            <a:r>
              <a:rPr sz="1800" b="0" i="0">
                <a:solidFill>
                  <a:srgbClr val="FFFFFF"/>
                </a:solidFill>
                <a:latin typeface="Arial"/>
              </a:rPr>
              <a:t>плюс (+) и минус (−) соединились напрямую, в обход светодиодной ленты.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1220000"/>
            <a:ext cx="7600000" cy="1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457200" indent="-342900">
              <a:lnSpc>
                <a:spcPct val="110000"/>
              </a:lnSpc>
              <a:spcAft>
                <a:spcPts val="1400"/>
              </a:spcAft>
              <a:buClr>
                <a:srgbClr val="FEA621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Arial"/>
              </a:rPr>
              <a:t>Ток идёт не через ленту, </a:t>
            </a:r>
            <a:r>
              <a:rPr sz="1800" b="0" i="0">
                <a:solidFill>
                  <a:srgbClr val="262626"/>
                </a:solidFill>
                <a:latin typeface="Arial"/>
              </a:rPr>
              <a:t>а напрямую между плюсом и минусом.</a:t>
            </a:r>
          </a:p>
          <a:p>
            <a:pPr algn="l" marL="457200" indent="-342900">
              <a:lnSpc>
                <a:spcPct val="110000"/>
              </a:lnSpc>
              <a:spcAft>
                <a:spcPts val="1400"/>
              </a:spcAft>
              <a:buClr>
                <a:srgbClr val="FEA621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Arial"/>
              </a:rPr>
              <a:t>Лента гаснет или светит тускло, </a:t>
            </a:r>
            <a:r>
              <a:rPr sz="1800" b="0" i="0">
                <a:solidFill>
                  <a:srgbClr val="262626"/>
                </a:solidFill>
                <a:latin typeface="Arial"/>
              </a:rPr>
              <a:t>батарейка греется и быстро садится.</a:t>
            </a:r>
          </a:p>
          <a:p>
            <a:pPr algn="l" marL="457200" indent="-342900">
              <a:lnSpc>
                <a:spcPct val="110000"/>
              </a:lnSpc>
              <a:spcAft>
                <a:spcPts val="1400"/>
              </a:spcAft>
              <a:buClr>
                <a:srgbClr val="FEA621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Arial"/>
              </a:rPr>
              <a:t>Пайка и провода в месте замыкания </a:t>
            </a:r>
            <a:r>
              <a:rPr sz="1800" b="0" i="0">
                <a:solidFill>
                  <a:srgbClr val="262626"/>
                </a:solidFill>
                <a:latin typeface="Arial"/>
              </a:rPr>
              <a:t>могут оплавиться.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000" y="3220000"/>
            <a:ext cx="8300000" cy="56000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62626"/>
                </a:solidFill>
                <a:latin typeface="Arial"/>
              </a:rPr>
              <a:t>Когда возникает в нашем мече: </a:t>
            </a:r>
            <a:r>
              <a:rPr sz="1800" b="0" i="0">
                <a:solidFill>
                  <a:srgbClr val="262626"/>
                </a:solidFill>
                <a:latin typeface="Arial"/>
              </a:rPr>
              <a:t>оголённые провода касаются друг друга, застряли в клемме или плохо изолированы.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000" y="3980000"/>
            <a:ext cx="8300000" cy="3800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Главное правило: плюс и минус никогда не должны касаться друг друга!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0" y="0"/>
            <a:ext cx="9144000" cy="514200"/>
          </a:xfrm>
          <a:prstGeom prst="rect">
            <a:avLst/>
          </a:prstGeom>
          <a:noFill/>
        </p:spPr>
        <p:txBody>
          <a:bodyPr wrap="square" anchor="t" lIns="91425" tIns="91425" rIns="91425" bIns="0">
            <a:spAutoFit/>
          </a:bodyPr>
          <a:lstStyle/>
          <a:p>
            <a:pPr algn="l"/>
            <a:r>
              <a:rPr sz="2300" b="0">
                <a:solidFill>
                  <a:srgbClr val="262626"/>
                </a:solidFill>
                <a:latin typeface="Arial"/>
              </a:rPr>
              <a:t>Как искать ошибки в схеме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680000"/>
            <a:ext cx="7600000" cy="3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457200" indent="-342900">
              <a:lnSpc>
                <a:spcPct val="110000"/>
              </a:lnSpc>
              <a:spcAft>
                <a:spcPts val="1800"/>
              </a:spcAft>
              <a:buClr>
                <a:srgbClr val="FEA621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Arial"/>
              </a:rPr>
              <a:t>1. Начни с батарейки. </a:t>
            </a:r>
            <a:r>
              <a:rPr sz="1800" b="0" i="0">
                <a:solidFill>
                  <a:srgbClr val="262626"/>
                </a:solidFill>
                <a:latin typeface="Arial"/>
              </a:rPr>
              <a:t>Проверь заряд и контакты в клеммнике.</a:t>
            </a:r>
          </a:p>
          <a:p>
            <a:pPr algn="l" marL="457200" indent="-342900">
              <a:lnSpc>
                <a:spcPct val="110000"/>
              </a:lnSpc>
              <a:spcAft>
                <a:spcPts val="1800"/>
              </a:spcAft>
              <a:buClr>
                <a:srgbClr val="FEA621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Arial"/>
              </a:rPr>
              <a:t>2. Проверь изоляцию. </a:t>
            </a:r>
            <a:r>
              <a:rPr sz="1800" b="0" i="0">
                <a:solidFill>
                  <a:srgbClr val="262626"/>
                </a:solidFill>
                <a:latin typeface="Arial"/>
              </a:rPr>
              <a:t>Огляди все спайки и клеммы: не касаются ли плюс и минус.</a:t>
            </a:r>
          </a:p>
          <a:p>
            <a:pPr algn="l" marL="457200" indent="-342900">
              <a:lnSpc>
                <a:spcPct val="110000"/>
              </a:lnSpc>
              <a:spcAft>
                <a:spcPts val="1800"/>
              </a:spcAft>
              <a:buClr>
                <a:srgbClr val="FEA621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Arial"/>
              </a:rPr>
              <a:t>3. Иди по схеме по порядку. </a:t>
            </a:r>
            <a:r>
              <a:rPr sz="1800" b="0" i="0">
                <a:solidFill>
                  <a:srgbClr val="262626"/>
                </a:solidFill>
                <a:latin typeface="Arial"/>
              </a:rPr>
              <a:t>Батарейка → клеммник → коннектор → лента. Проверь каждый узел глазами.</a:t>
            </a:r>
          </a:p>
          <a:p>
            <a:pPr algn="l" marL="457200" indent="-342900">
              <a:lnSpc>
                <a:spcPct val="110000"/>
              </a:lnSpc>
              <a:spcAft>
                <a:spcPts val="1800"/>
              </a:spcAft>
              <a:buClr>
                <a:srgbClr val="FEA621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Arial"/>
              </a:rPr>
              <a:t>4. Прозвони цепь. </a:t>
            </a:r>
            <a:r>
              <a:rPr sz="1800" b="0" i="0">
                <a:solidFill>
                  <a:srgbClr val="262626"/>
                </a:solidFill>
                <a:latin typeface="Arial"/>
              </a:rPr>
              <a:t>С преподавателем прозвони мультиметром: где нет сигнала — там обрыв.</a:t>
            </a:r>
          </a:p>
          <a:p>
            <a:pPr algn="l" marL="457200" indent="-342900">
              <a:lnSpc>
                <a:spcPct val="110000"/>
              </a:lnSpc>
              <a:spcAft>
                <a:spcPts val="1800"/>
              </a:spcAft>
              <a:buClr>
                <a:srgbClr val="FEA621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Arial"/>
              </a:rPr>
              <a:t>5. Перепаяй аккуратно. </a:t>
            </a:r>
            <a:r>
              <a:rPr sz="1800" b="0" i="0">
                <a:solidFill>
                  <a:srgbClr val="262626"/>
                </a:solidFill>
                <a:latin typeface="Arial"/>
              </a:rPr>
              <a:t>Часто ошибка уходит после перепайки одного узла.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0000" y="4000000"/>
            <a:ext cx="8300000" cy="46000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62626"/>
                </a:solidFill>
                <a:latin typeface="Arial"/>
              </a:rPr>
              <a:t>Правило: исправляем по одному узлу и сразу проверяем результат — не ждём, когда засветится всё сразу.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0" y="0"/>
            <a:ext cx="9144000" cy="514200"/>
          </a:xfrm>
          <a:prstGeom prst="rect">
            <a:avLst/>
          </a:prstGeom>
          <a:noFill/>
        </p:spPr>
        <p:txBody>
          <a:bodyPr wrap="square" anchor="t" lIns="91425" tIns="91425" rIns="91425" bIns="0">
            <a:spAutoFit/>
          </a:bodyPr>
          <a:lstStyle/>
          <a:p>
            <a:pPr algn="l"/>
            <a:r>
              <a:rPr sz="2300" b="0">
                <a:solidFill>
                  <a:srgbClr val="262626"/>
                </a:solidFill>
                <a:latin typeface="Arial"/>
              </a:rPr>
              <a:t>Разбор: не переключаются все цвета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000" y="660000"/>
            <a:ext cx="8300000" cy="380000"/>
          </a:xfrm>
          <a:prstGeom prst="roundRect">
            <a:avLst>
              <a:gd name="adj" fmla="val 12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Ситуация: </a:t>
            </a:r>
            <a:r>
              <a:rPr sz="1800" b="0" i="0">
                <a:solidFill>
                  <a:srgbClr val="FFFFFF"/>
                </a:solidFill>
                <a:latin typeface="Arial"/>
              </a:rPr>
              <a:t>лента горит только одним цветом, а кнопки не включают остальные.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1160000"/>
            <a:ext cx="76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457200" indent="-342900">
              <a:lnSpc>
                <a:spcPct val="110000"/>
              </a:lnSpc>
              <a:spcAft>
                <a:spcPts val="1400"/>
              </a:spcAft>
              <a:buClr>
                <a:srgbClr val="FEA621"/>
              </a:buClr>
              <a:buSzPts val="1800"/>
              <a:buFont typeface="Arial"/>
              <a:buChar char="●"/>
            </a:pPr>
            <a:r>
              <a:rPr sz="1800" b="0" i="0">
                <a:solidFill>
                  <a:srgbClr val="262626"/>
                </a:solidFill>
                <a:latin typeface="Arial"/>
              </a:rPr>
              <a:t>Три провода ленты отвечают за три цвета: </a:t>
            </a:r>
            <a:r>
              <a:rPr sz="1800" b="1" i="0">
                <a:solidFill>
                  <a:srgbClr val="262626"/>
                </a:solidFill>
                <a:latin typeface="Arial"/>
              </a:rPr>
              <a:t>R (красный), G (зелёный), B (синий) + общий минус.</a:t>
            </a:r>
          </a:p>
          <a:p>
            <a:pPr algn="l" marL="457200" indent="-342900">
              <a:lnSpc>
                <a:spcPct val="110000"/>
              </a:lnSpc>
              <a:spcAft>
                <a:spcPts val="1400"/>
              </a:spcAft>
              <a:buClr>
                <a:srgbClr val="FEA621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Arial"/>
              </a:rPr>
              <a:t>Не горит один цвет → </a:t>
            </a:r>
            <a:r>
              <a:rPr sz="1800" b="0" i="0">
                <a:solidFill>
                  <a:srgbClr val="262626"/>
                </a:solidFill>
                <a:latin typeface="Arial"/>
              </a:rPr>
              <a:t>обрыв или КЗ на его проводе. Проверь именно R, G или B.</a:t>
            </a:r>
          </a:p>
          <a:p>
            <a:pPr algn="l" marL="457200" indent="-342900">
              <a:lnSpc>
                <a:spcPct val="110000"/>
              </a:lnSpc>
              <a:spcAft>
                <a:spcPts val="1400"/>
              </a:spcAft>
              <a:buClr>
                <a:srgbClr val="FEA621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Arial"/>
              </a:rPr>
              <a:t>Не горит ничего → </a:t>
            </a:r>
            <a:r>
              <a:rPr sz="1800" b="0" i="0">
                <a:solidFill>
                  <a:srgbClr val="262626"/>
                </a:solidFill>
                <a:latin typeface="Arial"/>
              </a:rPr>
              <a:t>проверь общий минус (−) и питание.</a:t>
            </a:r>
          </a:p>
          <a:p>
            <a:pPr algn="l" marL="457200" indent="-342900">
              <a:lnSpc>
                <a:spcPct val="110000"/>
              </a:lnSpc>
              <a:spcAft>
                <a:spcPts val="1400"/>
              </a:spcAft>
              <a:buClr>
                <a:srgbClr val="FEA621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Arial"/>
              </a:rPr>
              <a:t>Кнопки — просто выключатели. </a:t>
            </a:r>
            <a:r>
              <a:rPr sz="1800" b="0" i="0">
                <a:solidFill>
                  <a:srgbClr val="262626"/>
                </a:solidFill>
                <a:latin typeface="Arial"/>
              </a:rPr>
              <a:t>Если кнопка не пропаяна, цвет до неё «не доходит».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000" y="3860000"/>
            <a:ext cx="8300000" cy="70000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62626"/>
                </a:solidFill>
                <a:latin typeface="Arial"/>
              </a:rPr>
              <a:t>Примени алгоритм «Как искать ошибки»: </a:t>
            </a:r>
            <a:r>
              <a:rPr sz="1800" b="0" i="0">
                <a:solidFill>
                  <a:srgbClr val="262626"/>
                </a:solidFill>
                <a:latin typeface="Arial"/>
              </a:rPr>
              <a:t>иди по цепочке по одному узлу.</a:t>
            </a:r>
          </a:p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62626"/>
                </a:solidFill>
                <a:latin typeface="Arial"/>
              </a:rPr>
              <a:t>Проверь: </a:t>
            </a:r>
            <a:r>
              <a:rPr sz="1700" b="0" i="0">
                <a:solidFill>
                  <a:srgbClr val="262626"/>
                </a:solidFill>
                <a:latin typeface="Arial"/>
              </a:rPr>
              <a:t>3 провода коннектора → пайки → переключатели → общий минус.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