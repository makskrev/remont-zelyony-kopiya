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sEcBjcbowg7i3Lu/ZWoUWIL4/g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Школа Изобретателей Эра Инженеров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6T07:12:44.419">
    <p:pos x="6000" y="0"/>
    <p:text>меняем в основном тексте длину винтов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06T07:13:28.142">
    <p:pos x="230" y="2718"/>
    <p:text>меняем комментарий на слайде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06T07:15:27.054">
    <p:pos x="6000" y="0"/>
    <p:text>вставить фото или нарисовать 2 провода как этап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k"/>
      </p:ext>
    </p:extLst>
  </p:cm>
  <p:cm authorId="0" idx="4" dt="2026-10-06T07:15:42.062">
    <p:pos x="6000" y="100"/>
    <p:text>перед этим слайдом вставить ТБ со стриппером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10-06T07:16:02.781">
    <p:pos x="6000" y="0"/>
    <p:text>над этим слайдом должен быть слайд с ТБ паяльником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w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10-06T07:24:12.869">
    <p:pos x="2966" y="1336"/>
    <p:text>шрифт мелкий, можно сделать больше 14-18. Обычно размер 18, если места хватает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07" name="Google Shape;2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Устанавливаем винт, с другой стороны накручиваем гайку и отверткой закручиваем. Там где будет отвертка, мы плотно закручиваем.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Основной винт здесь - М3х16. Если М3х16 нет, ставь М3х20 (в комплекте их 6 шт, на эти два шага нужно 4). В комплекте винтов М3х16 нет - докупить 4 шт: по 2 на этот слайд и на слайд «Подготавливаем детали для установки».</a:t>
            </a:r>
            <a:endParaRPr/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Неплотно фиксируем гайками. Необходимо чтобы вращались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Стенки расположены зеркально!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Основной винт здесь - М3х16. Если М3х16 нет, ставь М3х20 (в комплекте их 6 шт, на эти два шага нужно 4). В комплекте винтов М3х16 нет - докупить 4 шт: по 2 на этот слайд и на слайд «Подготавливаем детали для установки».</a:t>
            </a:r>
            <a:endParaRPr/>
          </a:p>
        </p:txBody>
      </p:sp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Фиксируем гайки клеем, чтобы они не раскручивались.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9" name="Google Shape;30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Провести правила безопасности перед подготовкой проводов.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Пять простых правил работы со стриппером (съемником изоляции).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Стриппер в этом проекте заменяет нож: снимает изоляцию с проводов 12-16 см. Следующий слайд - подготовка двух проводов. Правила короткие - назвать их вслух и показать движение руки.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58a166da900a7e0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h58a166da900a7e0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Показать, как подготовить два провода перед пайкой.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Нарезаем два провода по 12-16 см, зачищаем концы на 5 мм и проверяем жилы.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Перед этим слайдом идёт техника безопасности со стриппером (съемником изоляции), после - техника безопасности с паяльником. Длина проводов указана прямо на слайде, без ссылок на другие номера слайдов.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Провести правила безопасности перед пайкой.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Пять правил работы с паяльником и что делать при ожоге.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Паяльник применяется на слайде «Начнем пайку». Показать держатель, проверить, что волосы и рукава не свисают, проветрить комнату. При ожоге - холодная вода и взрослый.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начало пайки: два провода, кнопка и плата.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Паяем схему, как показано на фото.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Перед этим слайдом идёт техника безопасности с паяльником. Провода подготовлены на предыдущем слайде, длина 12-16 см. Ссылки на номера слайдов не давать - в уроках нумерация другая.</a:t>
            </a:r>
            <a:endParaRPr/>
          </a:p>
        </p:txBody>
      </p:sp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2" name="Google Shape;36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58a166da900a7e0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76" name="Google Shape;376;h58a166da900a7e00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3" name="Google Shape;38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6" name="Google Shape;39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02" name="Google Shape;40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08" name="Google Shape;40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установку электроники в корпус.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Электроника ставится так же, как кнопка и схема на слайде «Начнем пайку».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Раньше здесь была ссылка без номера - ребенок не понимал, куда смотреть. Теперь ссылка дана названием слайда: номера слайдов в уроках отличаются, поэтому в тексте номера не указываем. Рядом добавлено фото.</a:t>
            </a:r>
            <a:endParaRPr/>
          </a:p>
        </p:txBody>
      </p:sp>
      <p:sp>
        <p:nvSpPr>
          <p:cNvPr id="414" name="Google Shape;41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Дать ребенку заранее подготовить все детали на занятие 2.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Список деталей перед началом занятия.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Оформление - по образцу следующего слайда («Начинаем сборку!»). Итого гаек М3 нужно 10 шт.: стенка - 2, детали с винтами - 2, корпус - 3, вторая деталь - 3. На слайде «Начинаем сборку!» указано 8 гаек - там не посчитаны 2 гайки для деталей с винтами. Номера слайдов в тексте не указываем: в уроках нумерация другая.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58a166da900a7e0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h58a166da900a7e0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5" name="Google Shape;44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51" name="Google Shape;45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59" name="Google Shape;45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5" name="Google Shape;46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72" name="Google Shape;47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79" name="Google Shape;47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6" name="Google Shape;48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92" name="Google Shape;49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99" name="Google Shape;49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08" name="Google Shape;50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14" name="Google Shape;51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1" name="Google Shape;52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58a166da900a7e0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30" name="Google Shape;530;h58a166da900a7e00_0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h58a166da900a7e00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37" name="Google Shape;537;h58a166da900a7e00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h571b35902b68402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готовый результат - как шагоход ходит.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Гифка работы шагохода.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Гифка (1,7 МБ) уже вставлена в слайд - подпись «Добавить гифку работы» была незакрытой задачей, заменена на название слайда.</a:t>
            </a:r>
            <a:endParaRPr/>
          </a:p>
        </p:txBody>
      </p:sp>
      <p:sp>
        <p:nvSpPr>
          <p:cNvPr id="543" name="Google Shape;543;h571b35902b68402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порядок поиска неисправности, чтобы не гадать.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Пять проверок: питание, кнопка, провода, крепления, шайбы.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Попросите ребёнка называть каждый пункт вслух и отмечать выполненный. Чаще всего шагоход не едет из-за батареек, кнопки или ослабшей гайки.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Научить узнавать типовые неисправности по симптому.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Шесть самых частых жалоб и что делать в каждом случае.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Таблицу можно распечатать и держать на рабочем столе при сборке.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готовые узлы, которые проверяем перед первым запуском.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Четыре фото из инструкции с короткими подписями.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Фото взяты из других слайдов этой же инструкции (электроника, приклеивание, стенка, шайбы). Можно использовать как памятку - распечатать отдельно. Номера слайдов не указываем: в уроках нумерация другая.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43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pc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pc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pc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43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pc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pc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1" name="Google Shape;3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8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8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9" name="Google Shape;3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pc="0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pc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pc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pc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pc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pc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49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9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9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9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0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pc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0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0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0" name="Google Shape;6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1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2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5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3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3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4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5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6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7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pc="0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7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8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8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8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pc="0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pc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8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8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9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9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9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59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59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60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6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1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1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61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1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1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2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2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3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3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63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4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64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64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5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5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5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5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pc="0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pc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5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pc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3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4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" Target="/ppt/slides/slide20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comments" Target="../comments/comment5.xml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/>
          <p:nvPr>
            <p:ph type="title"/>
          </p:nvPr>
        </p:nvSpPr>
        <p:spPr>
          <a:xfrm>
            <a:off x="1136100" y="1663200"/>
            <a:ext cx="34359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Шагоход</a:t>
            </a:r>
            <a:endParaRPr/>
          </a:p>
        </p:txBody>
      </p:sp>
      <p:sp>
        <p:nvSpPr>
          <p:cNvPr id="202" name="Google Shape;202;p1"/>
          <p:cNvSpPr txBox="1"/>
          <p:nvPr>
            <p:ph idx="1" type="subTitle"/>
          </p:nvPr>
        </p:nvSpPr>
        <p:spPr>
          <a:xfrm>
            <a:off x="1354350" y="2469650"/>
            <a:ext cx="2999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u"/>
              <a:t>инструкция по сборке</a:t>
            </a:r>
            <a:endParaRPr/>
          </a:p>
        </p:txBody>
      </p:sp>
      <p:sp>
        <p:nvSpPr>
          <p:cNvPr id="203" name="Google Shape;203;p1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5,5-7 лет</a:t>
            </a:r>
            <a:endParaRPr/>
          </a:p>
        </p:txBody>
      </p:sp>
      <p:sp>
        <p:nvSpPr>
          <p:cNvPr id="204" name="Google Shape;204;p1"/>
          <p:cNvSpPr txBox="1"/>
          <p:nvPr>
            <p:ph idx="3" type="subTitle"/>
          </p:nvPr>
        </p:nvSpPr>
        <p:spPr>
          <a:xfrm>
            <a:off x="7478275" y="3878900"/>
            <a:ext cx="1491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Начальная школа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"/>
          <p:cNvSpPr/>
          <p:nvPr/>
        </p:nvSpPr>
        <p:spPr>
          <a:xfrm>
            <a:off x="1106625" y="1157250"/>
            <a:ext cx="2501700" cy="2829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1303725" y="1357650"/>
            <a:ext cx="2107500" cy="242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1745675" y="1570275"/>
            <a:ext cx="1324836" cy="2026242"/>
          </a:xfrm>
          <a:prstGeom prst="lightningBolt">
            <a:avLst/>
          </a:prstGeom>
          <a:solidFill>
            <a:srgbClr val="FFFF00"/>
          </a:solidFill>
          <a:ln cap="flat" cmpd="sng" w="2857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"/>
          <p:cNvSpPr txBox="1"/>
          <p:nvPr/>
        </p:nvSpPr>
        <p:spPr>
          <a:xfrm>
            <a:off x="4644725" y="2002825"/>
            <a:ext cx="399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моменты в сборке, на которых лучше задержаться и внимательно проверить себя и детей.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2"/>
          <p:cNvGrpSpPr/>
          <p:nvPr/>
        </p:nvGrpSpPr>
        <p:grpSpPr>
          <a:xfrm>
            <a:off x="8549125" y="269225"/>
            <a:ext cx="537900" cy="599700"/>
            <a:chOff x="8549125" y="269225"/>
            <a:chExt cx="537900" cy="599700"/>
          </a:xfrm>
        </p:grpSpPr>
        <p:sp>
          <p:nvSpPr>
            <p:cNvPr id="214" name="Google Shape;214;p2"/>
            <p:cNvSpPr/>
            <p:nvPr/>
          </p:nvSpPr>
          <p:spPr>
            <a:xfrm>
              <a:off x="8549125" y="269225"/>
              <a:ext cx="537900" cy="5997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8591498" y="311714"/>
              <a:ext cx="453000" cy="514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8686510" y="356795"/>
              <a:ext cx="284796" cy="429624"/>
            </a:xfrm>
            <a:prstGeom prst="lightningBolt">
              <a:avLst/>
            </a:prstGeom>
            <a:solidFill>
              <a:srgbClr val="FFFF00"/>
            </a:solidFill>
            <a:ln cap="flat" cmpd="sng" w="19050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Важные и сложные моменты сборки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/>
          <p:nvPr/>
        </p:nvSpPr>
        <p:spPr>
          <a:xfrm>
            <a:off x="4514125" y="2032950"/>
            <a:ext cx="39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места, где есть комментарии к слайдам 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504100" y="1432550"/>
            <a:ext cx="3341700" cy="229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823750" y="1681250"/>
            <a:ext cx="2702400" cy="17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0"/>
              <a:buFont typeface="Arial"/>
              <a:buNone/>
            </a:pPr>
            <a:r>
              <a:rPr b="1" i="0" lang="ru" spc="0" sz="12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</a:t>
            </a:r>
            <a:endParaRPr b="1" i="0" spc="0" sz="125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26" name="Google Shape;226;p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Комментарии по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 txBox="1"/>
          <p:nvPr/>
        </p:nvSpPr>
        <p:spPr>
          <a:xfrm>
            <a:off x="0" y="224850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1</a:t>
            </a:r>
            <a:endParaRPr b="1" i="1" spc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/>
          </a:blip>
          <a:srcRect b="44489" l="16793" r="26723" t="16233"/>
          <a:stretch/>
        </p:blipFill>
        <p:spPr>
          <a:xfrm>
            <a:off x="581000" y="880300"/>
            <a:ext cx="3927924" cy="364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/>
          <p:cNvPicPr preferRelativeResize="0"/>
          <p:nvPr/>
        </p:nvPicPr>
        <p:blipFill rotWithShape="1">
          <a:blip r:embed="rId5">
            <a:alphaModFix/>
          </a:blip>
          <a:srcRect b="15030" l="20510" r="17769" t="46112"/>
          <a:stretch/>
        </p:blipFill>
        <p:spPr>
          <a:xfrm rot="10800000">
            <a:off x="4572000" y="880299"/>
            <a:ext cx="4057075" cy="34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 txBox="1"/>
          <p:nvPr/>
        </p:nvSpPr>
        <p:spPr>
          <a:xfrm>
            <a:off x="112725" y="676488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</a:t>
            </a:r>
            <a:r>
              <a:rPr b="1" i="1" lang="ru" sz="1800"/>
              <a:t>20</a:t>
            </a: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759513" y="3502125"/>
            <a:ext cx="1624976" cy="1529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43" name="Google Shape;243;p5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5"/>
          <p:cNvSpPr txBox="1"/>
          <p:nvPr>
            <p:ph type="title"/>
          </p:nvPr>
        </p:nvSpPr>
        <p:spPr>
          <a:xfrm>
            <a:off x="0" y="0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Возьмем корпус и установим винты</a:t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5440680" y="4315968"/>
            <a:ext cx="3566160" cy="658368"/>
          </a:xfrm>
          <a:prstGeom prst="roundRect">
            <a:avLst>
              <a:gd fmla="val 12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2800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pc="0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дотягивается М3х16 — </a:t>
            </a:r>
            <a:r>
              <a:rPr b="0" i="0" lang="ru" spc="0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возьми М3х20.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6"/>
          <p:cNvPicPr preferRelativeResize="0"/>
          <p:nvPr/>
        </p:nvPicPr>
        <p:blipFill rotWithShape="1">
          <a:blip r:embed="rId3">
            <a:alphaModFix/>
          </a:blip>
          <a:srcRect b="31444" l="53421" r="22486" t="35170"/>
          <a:stretch/>
        </p:blipFill>
        <p:spPr>
          <a:xfrm rot="-5400000">
            <a:off x="296001" y="1631301"/>
            <a:ext cx="1985274" cy="206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"/>
          <p:cNvPicPr preferRelativeResize="0"/>
          <p:nvPr/>
        </p:nvPicPr>
        <p:blipFill rotWithShape="1">
          <a:blip r:embed="rId4">
            <a:alphaModFix/>
          </a:blip>
          <a:srcRect b="39580" l="49434" r="30892" t="33767"/>
          <a:stretch/>
        </p:blipFill>
        <p:spPr>
          <a:xfrm>
            <a:off x="3662525" y="1742525"/>
            <a:ext cx="1811802" cy="184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6"/>
          <p:cNvPicPr preferRelativeResize="0"/>
          <p:nvPr/>
        </p:nvPicPr>
        <p:blipFill rotWithShape="1">
          <a:blip r:embed="rId5">
            <a:alphaModFix/>
          </a:blip>
          <a:srcRect b="51677" l="30274" r="34751" t="24930"/>
          <a:stretch/>
        </p:blipFill>
        <p:spPr>
          <a:xfrm>
            <a:off x="6816550" y="1657900"/>
            <a:ext cx="2254176" cy="20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90005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- 1шт.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М3 - 1шт.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6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601400" y="348735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крепление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7"/>
          <p:cNvPicPr preferRelativeResize="0"/>
          <p:nvPr/>
        </p:nvPicPr>
        <p:blipFill rotWithShape="1">
          <a:blip r:embed="rId3">
            <a:alphaModFix/>
          </a:blip>
          <a:srcRect b="42805" l="25581" r="24853" t="29139"/>
          <a:stretch/>
        </p:blipFill>
        <p:spPr>
          <a:xfrm>
            <a:off x="2623275" y="1014525"/>
            <a:ext cx="4126601" cy="3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pc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- 3шт.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М3 - 3шт.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903375" y="13989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три таких детали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8"/>
          <p:cNvPicPr preferRelativeResize="0"/>
          <p:nvPr/>
        </p:nvPicPr>
        <p:blipFill rotWithShape="1">
          <a:blip r:embed="rId3">
            <a:alphaModFix/>
          </a:blip>
          <a:srcRect b="31018" l="10620" r="21302" t="24652"/>
          <a:stretch/>
        </p:blipFill>
        <p:spPr>
          <a:xfrm>
            <a:off x="229700" y="896250"/>
            <a:ext cx="3859999" cy="33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8"/>
          <p:cNvPicPr preferRelativeResize="0"/>
          <p:nvPr/>
        </p:nvPicPr>
        <p:blipFill rotWithShape="1">
          <a:blip r:embed="rId4">
            <a:alphaModFix/>
          </a:blip>
          <a:srcRect b="33270" l="6707" r="9877" t="26891"/>
          <a:stretch/>
        </p:blipFill>
        <p:spPr>
          <a:xfrm>
            <a:off x="4235100" y="896250"/>
            <a:ext cx="4138750" cy="26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крепления на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9"/>
          <p:cNvPicPr preferRelativeResize="0"/>
          <p:nvPr/>
        </p:nvPicPr>
        <p:blipFill rotWithShape="1">
          <a:blip r:embed="rId3">
            <a:alphaModFix/>
          </a:blip>
          <a:srcRect b="39158" l="5934" r="12884" t="23248"/>
          <a:stretch/>
        </p:blipFill>
        <p:spPr>
          <a:xfrm>
            <a:off x="1968825" y="730275"/>
            <a:ext cx="5490024" cy="339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80" name="Google Shape;280;p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Неплотно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0"/>
          <p:cNvPicPr preferRelativeResize="0"/>
          <p:nvPr/>
        </p:nvPicPr>
        <p:blipFill rotWithShape="1">
          <a:blip r:embed="rId3">
            <a:alphaModFix/>
          </a:blip>
          <a:srcRect b="4763" l="29377" r="33441" t="1840"/>
          <a:stretch/>
        </p:blipFill>
        <p:spPr>
          <a:xfrm rot="5400000">
            <a:off x="2542588" y="-913188"/>
            <a:ext cx="3613226" cy="680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10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89" name="Google Shape;289;p10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1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Начинаем сборку второй внутренней стенки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1"/>
          <p:cNvPicPr preferRelativeResize="0"/>
          <p:nvPr/>
        </p:nvPicPr>
        <p:blipFill rotWithShape="1">
          <a:blip r:embed="rId4">
            <a:alphaModFix/>
          </a:blip>
          <a:srcRect b="40982" l="0" r="4589" t="23010"/>
          <a:stretch/>
        </p:blipFill>
        <p:spPr>
          <a:xfrm>
            <a:off x="1049425" y="653825"/>
            <a:ext cx="6713474" cy="33780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 txBox="1"/>
          <p:nvPr/>
        </p:nvSpPr>
        <p:spPr>
          <a:xfrm>
            <a:off x="1049425" y="3446688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</a:t>
            </a:r>
            <a:r>
              <a:rPr b="1" i="1" lang="ru" sz="1800"/>
              <a:t>20</a:t>
            </a: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5">
            <a:alphaModFix/>
          </a:blip>
          <a:srcRect b="3408" l="0" r="0" t="2457"/>
          <a:stretch/>
        </p:blipFill>
        <p:spPr>
          <a:xfrm>
            <a:off x="7600350" y="763025"/>
            <a:ext cx="1508974" cy="14205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Подготавливаем детали для установки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65760" y="4315968"/>
            <a:ext cx="4937760" cy="566928"/>
          </a:xfrm>
          <a:prstGeom prst="roundRect">
            <a:avLst>
              <a:gd fmla="val 12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2800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2"/>
          <p:cNvPicPr preferRelativeResize="0"/>
          <p:nvPr/>
        </p:nvPicPr>
        <p:blipFill rotWithShape="1">
          <a:blip r:embed="rId3">
            <a:alphaModFix/>
          </a:blip>
          <a:srcRect b="42642" l="13234" r="10575" t="20420"/>
          <a:stretch/>
        </p:blipFill>
        <p:spPr>
          <a:xfrm>
            <a:off x="1548675" y="679112"/>
            <a:ext cx="5855976" cy="37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92550" y="558475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pc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Капаем клеем и фиксируем гайки</a:t>
            </a:r>
            <a:endParaRPr b="0" i="0" spc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>
            <a:off x="4442575" y="1031625"/>
            <a:ext cx="4499400" cy="29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 flipH="1">
            <a:off x="92551" y="1077475"/>
            <a:ext cx="4396699" cy="2988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1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15" name="Google Shape;315;p1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p1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/>
              <a:t>Техника безопасности</a:t>
            </a:r>
            <a:endParaRPr/>
          </a:p>
        </p:txBody>
      </p:sp>
      <p:sp>
        <p:nvSpPr>
          <p:cNvPr id="323" name="Google Shape;323;p40"/>
          <p:cNvSpPr/>
          <p:nvPr/>
        </p:nvSpPr>
        <p:spPr>
          <a:xfrm>
            <a:off x="365760" y="603504"/>
            <a:ext cx="8412480" cy="530352"/>
          </a:xfrm>
          <a:prstGeom prst="roundRect">
            <a:avLst>
              <a:gd fmla="val 14000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pc="0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Стриппер снимает только изоляцию - держи провод пальцами позади лезвия.</a:t>
            </a:r>
            <a:endParaRPr/>
          </a:p>
        </p:txBody>
      </p:sp>
      <p:sp>
        <p:nvSpPr>
          <p:cNvPr id="324" name="Google Shape;324;p40"/>
          <p:cNvSpPr txBox="1"/>
          <p:nvPr/>
        </p:nvSpPr>
        <p:spPr>
          <a:xfrm>
            <a:off x="457200" y="1325880"/>
            <a:ext cx="5669280" cy="291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608" lvl="0" marL="29260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Работаем за столом - не на коленях и не на ходу.</a:t>
            </a:r>
            <a:endParaRPr/>
          </a:p>
          <a:p>
            <a:pPr indent="-292100" lvl="0" marL="2921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Провод держим пальцами позади лезвия, а не перед ним.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Направляй стриппер от себя и снимай только изоляцию - жилу не режь.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Проверь конец после зачистки: жилы целые и блестят.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После работы убери стриппер на место, лезвие закрыто.</a:t>
            </a:r>
            <a:endParaRPr/>
          </a:p>
        </p:txBody>
      </p:sp>
      <p:pic>
        <p:nvPicPr>
          <p:cNvPr id="325" name="Google Shape;3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8341" y="1480391"/>
            <a:ext cx="2631173" cy="241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58a166da900a7e00_0_20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Готовим два провода длиной 12-16 см</a:t>
            </a:r>
            <a:endParaRPr/>
          </a:p>
        </p:txBody>
      </p:sp>
      <p:cxnSp>
        <p:nvCxnSpPr>
          <p:cNvPr id="331" name="Google Shape;331;h58a166da900a7e00_0_208"/>
          <p:cNvCxnSpPr/>
          <p:nvPr/>
        </p:nvCxnSpPr>
        <p:spPr>
          <a:xfrm>
            <a:off x="822960" y="1417320"/>
            <a:ext cx="7086600" cy="0"/>
          </a:xfrm>
          <a:prstGeom prst="straightConnector1">
            <a:avLst/>
          </a:prstGeom>
          <a:noFill/>
          <a:ln cap="flat" cmpd="sng" w="19050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2" name="Google Shape;332;h58a166da900a7e00_0_208"/>
          <p:cNvCxnSpPr/>
          <p:nvPr/>
        </p:nvCxnSpPr>
        <p:spPr>
          <a:xfrm>
            <a:off x="822960" y="132588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h58a166da900a7e00_0_208"/>
          <p:cNvCxnSpPr/>
          <p:nvPr/>
        </p:nvCxnSpPr>
        <p:spPr>
          <a:xfrm>
            <a:off x="7909560" y="132588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5F5F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4" name="Google Shape;334;h58a166da900a7e00_0_208"/>
          <p:cNvSpPr/>
          <p:nvPr/>
        </p:nvSpPr>
        <p:spPr>
          <a:xfrm>
            <a:off x="3200400" y="118872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pc="0" sz="18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12-16 см</a:t>
            </a:r>
            <a:endParaRPr/>
          </a:p>
        </p:txBody>
      </p:sp>
      <p:sp>
        <p:nvSpPr>
          <p:cNvPr id="335" name="Google Shape;335;h58a166da900a7e00_0_208"/>
          <p:cNvSpPr/>
          <p:nvPr/>
        </p:nvSpPr>
        <p:spPr>
          <a:xfrm>
            <a:off x="822960" y="1920240"/>
            <a:ext cx="6492240" cy="237744"/>
          </a:xfrm>
          <a:prstGeom prst="roundRect">
            <a:avLst>
              <a:gd fmla="val 50000" name="adj"/>
            </a:avLst>
          </a:prstGeom>
          <a:solidFill>
            <a:srgbClr val="D93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h58a166da900a7e00_0_208"/>
          <p:cNvSpPr/>
          <p:nvPr/>
        </p:nvSpPr>
        <p:spPr>
          <a:xfrm>
            <a:off x="7315200" y="1984248"/>
            <a:ext cx="594360" cy="10972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h58a166da900a7e00_0_208"/>
          <p:cNvSpPr/>
          <p:nvPr/>
        </p:nvSpPr>
        <p:spPr>
          <a:xfrm>
            <a:off x="365760" y="1883664"/>
            <a:ext cx="310896" cy="310896"/>
          </a:xfrm>
          <a:prstGeom prst="ellipse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8" name="Google Shape;338;h58a166da900a7e00_0_208"/>
          <p:cNvSpPr/>
          <p:nvPr/>
        </p:nvSpPr>
        <p:spPr>
          <a:xfrm>
            <a:off x="822960" y="2834640"/>
            <a:ext cx="6492240" cy="237744"/>
          </a:xfrm>
          <a:prstGeom prst="roundRect">
            <a:avLst>
              <a:gd fmla="val 50000" name="adj"/>
            </a:avLst>
          </a:prstGeom>
          <a:solidFill>
            <a:srgbClr val="2B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58a166da900a7e00_0_208"/>
          <p:cNvSpPr/>
          <p:nvPr/>
        </p:nvSpPr>
        <p:spPr>
          <a:xfrm>
            <a:off x="7315200" y="2898648"/>
            <a:ext cx="594360" cy="10972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58a166da900a7e00_0_208"/>
          <p:cNvSpPr/>
          <p:nvPr/>
        </p:nvSpPr>
        <p:spPr>
          <a:xfrm>
            <a:off x="365760" y="2798064"/>
            <a:ext cx="310896" cy="310896"/>
          </a:xfrm>
          <a:prstGeom prst="ellipse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1" name="Google Shape;341;h58a166da900a7e00_0_208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fmla="val 10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pc="0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Концы зачисти на 5 мм с каждой стороны: жилы целые и блестят.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pc="0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Оба провода одинаковой длины - оба пойдут на двигатель.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/>
              <a:t>Техника безопасности </a:t>
            </a:r>
            <a:endParaRPr/>
          </a:p>
        </p:txBody>
      </p:sp>
      <p:sp>
        <p:nvSpPr>
          <p:cNvPr id="347" name="Google Shape;347;p66"/>
          <p:cNvSpPr/>
          <p:nvPr/>
        </p:nvSpPr>
        <p:spPr>
          <a:xfrm>
            <a:off x="214278" y="644817"/>
            <a:ext cx="8412480" cy="530352"/>
          </a:xfrm>
          <a:prstGeom prst="roundRect">
            <a:avLst>
              <a:gd fmla="val 14000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45700" lIns="146300" spcFirstLastPara="1" rIns="146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pc="0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Жало паяльника нагревается до 300-400 градусов - трогать нельзя!</a:t>
            </a:r>
            <a:endParaRPr/>
          </a:p>
        </p:txBody>
      </p:sp>
      <p:sp>
        <p:nvSpPr>
          <p:cNvPr id="348" name="Google Shape;348;p66"/>
          <p:cNvSpPr txBox="1"/>
          <p:nvPr/>
        </p:nvSpPr>
        <p:spPr>
          <a:xfrm>
            <a:off x="457200" y="1325880"/>
            <a:ext cx="56692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608" lvl="0" marL="292608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Паяльник ставим только в держатель - не на стол и не на бумагу.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Подноси провод к жалу, а не жало к руке; волосы и рукава убраны.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Дым от припоя не вдыхай - работай в проветриваемой комнате.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Отпаял - выключи из розетки и убери в держатель.</a:t>
            </a:r>
            <a:endParaRPr/>
          </a:p>
          <a:p>
            <a:pPr indent="-292608" lvl="0" marL="292608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FEA621"/>
              </a:buClr>
              <a:buSzPts val="1360"/>
              <a:buFont typeface="Arial"/>
              <a:buChar char="●"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Жало горячее еще 10 минут после выключения - не трогай.</a:t>
            </a:r>
            <a:endParaRPr/>
          </a:p>
        </p:txBody>
      </p:sp>
      <p:pic>
        <p:nvPicPr>
          <p:cNvPr id="349" name="Google Shape;34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976" y="1788578"/>
            <a:ext cx="2414990" cy="1766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14"/>
          <p:cNvPicPr preferRelativeResize="0"/>
          <p:nvPr/>
        </p:nvPicPr>
        <p:blipFill rotWithShape="1">
          <a:blip r:embed="rId4">
            <a:alphaModFix/>
          </a:blip>
          <a:srcRect b="12110" l="20151" r="7047" t="1393"/>
          <a:stretch/>
        </p:blipFill>
        <p:spPr>
          <a:xfrm>
            <a:off x="378888" y="703500"/>
            <a:ext cx="4193100" cy="373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5" name="Google Shape;35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8475" y="687825"/>
            <a:ext cx="3074025" cy="365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Начнем пайку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4450425" y="4188825"/>
            <a:ext cx="25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Эти провода длиной 12-16 см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14"/>
          <p:cNvCxnSpPr>
            <a:stCxn id="357" idx="1"/>
          </p:cNvCxnSpPr>
          <p:nvPr/>
        </p:nvCxnSpPr>
        <p:spPr>
          <a:xfrm rot="10800000">
            <a:off x="2793825" y="3913275"/>
            <a:ext cx="1656600" cy="64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9" name="Google Shape;359;p14"/>
          <p:cNvCxnSpPr/>
          <p:nvPr/>
        </p:nvCxnSpPr>
        <p:spPr>
          <a:xfrm rot="10800000">
            <a:off x="1862025" y="4308075"/>
            <a:ext cx="2588400" cy="40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15"/>
          <p:cNvPicPr preferRelativeResize="0"/>
          <p:nvPr/>
        </p:nvPicPr>
        <p:blipFill rotWithShape="1">
          <a:blip r:embed="rId3">
            <a:alphaModFix/>
          </a:blip>
          <a:srcRect b="35551" l="39190" r="16597" t="24617"/>
          <a:stretch/>
        </p:blipFill>
        <p:spPr>
          <a:xfrm>
            <a:off x="780350" y="1046450"/>
            <a:ext cx="2408100" cy="289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65" name="Google Shape;365;p15"/>
          <p:cNvPicPr preferRelativeResize="0"/>
          <p:nvPr/>
        </p:nvPicPr>
        <p:blipFill rotWithShape="1">
          <a:blip r:embed="rId4">
            <a:alphaModFix/>
          </a:blip>
          <a:srcRect b="21773" l="18689" r="16552" t="9757"/>
          <a:stretch/>
        </p:blipFill>
        <p:spPr>
          <a:xfrm>
            <a:off x="4572000" y="1013900"/>
            <a:ext cx="3729900" cy="295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66" name="Google Shape;366;p1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кнопку и спаиваем схему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16"/>
          <p:cNvPicPr preferRelativeResize="0"/>
          <p:nvPr/>
        </p:nvPicPr>
        <p:blipFill rotWithShape="1">
          <a:blip r:embed="rId3">
            <a:alphaModFix/>
          </a:blip>
          <a:srcRect b="0" l="0" r="0" t="18341"/>
          <a:stretch/>
        </p:blipFill>
        <p:spPr>
          <a:xfrm rot="1332464">
            <a:off x="870050" y="1568375"/>
            <a:ext cx="4367099" cy="26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4125" y="842275"/>
            <a:ext cx="3236050" cy="32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h58a166da900a7e00_0_214"/>
          <p:cNvPicPr preferRelativeResize="0"/>
          <p:nvPr/>
        </p:nvPicPr>
        <p:blipFill rotWithShape="1">
          <a:blip r:embed="rId3">
            <a:alphaModFix/>
          </a:blip>
          <a:srcRect b="21773" l="18689" r="16552" t="9757"/>
          <a:stretch/>
        </p:blipFill>
        <p:spPr>
          <a:xfrm>
            <a:off x="1934725" y="667150"/>
            <a:ext cx="5267400" cy="41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9" name="Google Shape;379;h58a166da900a7e00_0_2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h58a166da900a7e00_0_214"/>
          <p:cNvSpPr/>
          <p:nvPr/>
        </p:nvSpPr>
        <p:spPr>
          <a:xfrm>
            <a:off x="3480400" y="4052025"/>
            <a:ext cx="693600" cy="70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7"/>
          <p:cNvPicPr preferRelativeResize="0"/>
          <p:nvPr/>
        </p:nvPicPr>
        <p:blipFill rotWithShape="1">
          <a:blip r:embed="rId3">
            <a:alphaModFix/>
          </a:blip>
          <a:srcRect b="19334" l="14659" r="19308" t="16390"/>
          <a:stretch/>
        </p:blipFill>
        <p:spPr>
          <a:xfrm>
            <a:off x="909525" y="628145"/>
            <a:ext cx="3051154" cy="39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7"/>
          <p:cNvSpPr txBox="1"/>
          <p:nvPr/>
        </p:nvSpPr>
        <p:spPr>
          <a:xfrm>
            <a:off x="4937875" y="16517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М3х30 - 2шт.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Возвращаемся к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8"/>
          <p:cNvPicPr preferRelativeResize="0"/>
          <p:nvPr/>
        </p:nvPicPr>
        <p:blipFill rotWithShape="1">
          <a:blip r:embed="rId3">
            <a:alphaModFix/>
          </a:blip>
          <a:srcRect b="36122" l="16033" r="16087" t="22854"/>
          <a:stretch/>
        </p:blipFill>
        <p:spPr>
          <a:xfrm>
            <a:off x="1934875" y="704399"/>
            <a:ext cx="4870850" cy="392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19"/>
          <p:cNvPicPr preferRelativeResize="0"/>
          <p:nvPr/>
        </p:nvPicPr>
        <p:blipFill rotWithShape="1">
          <a:blip r:embed="rId3">
            <a:alphaModFix/>
          </a:blip>
          <a:srcRect b="15377" l="10304" r="13933" t="22166"/>
          <a:stretch/>
        </p:blipFill>
        <p:spPr>
          <a:xfrm>
            <a:off x="2525750" y="591175"/>
            <a:ext cx="3835075" cy="42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 винты устанавливаем двигатель (клеммами на нас)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0"/>
          <p:cNvPicPr preferRelativeResize="0"/>
          <p:nvPr/>
        </p:nvPicPr>
        <p:blipFill rotWithShape="1">
          <a:blip r:embed="rId3">
            <a:alphaModFix/>
          </a:blip>
          <a:srcRect b="13671" l="7787" r="3521" t="12512"/>
          <a:stretch/>
        </p:blipFill>
        <p:spPr>
          <a:xfrm>
            <a:off x="2680363" y="590125"/>
            <a:ext cx="3783276" cy="41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Подготовим крепления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21"/>
          <p:cNvPicPr preferRelativeResize="0"/>
          <p:nvPr/>
        </p:nvPicPr>
        <p:blipFill rotWithShape="1">
          <a:blip r:embed="rId3">
            <a:alphaModFix/>
          </a:blip>
          <a:srcRect b="9480" l="9983" r="6753" t="15993"/>
          <a:stretch/>
        </p:blipFill>
        <p:spPr>
          <a:xfrm>
            <a:off x="2805038" y="589075"/>
            <a:ext cx="3533926" cy="42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приклеиваем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2"/>
          <p:cNvPicPr preferRelativeResize="0"/>
          <p:nvPr/>
        </p:nvPicPr>
        <p:blipFill rotWithShape="1">
          <a:blip r:embed="rId3">
            <a:alphaModFix/>
          </a:blip>
          <a:srcRect b="27742" l="9672" r="14409" t="16564"/>
          <a:stretch/>
        </p:blipFill>
        <p:spPr>
          <a:xfrm>
            <a:off x="3368000" y="618800"/>
            <a:ext cx="4192001" cy="41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Устанавливаем электронику</a:t>
            </a:r>
            <a:endParaRPr/>
          </a:p>
        </p:txBody>
      </p:sp>
      <p:pic>
        <p:nvPicPr>
          <p:cNvPr descr="image.png" id="418" name="Google Shape;418;p22"/>
          <p:cNvPicPr preferRelativeResize="0"/>
          <p:nvPr/>
        </p:nvPicPr>
        <p:blipFill rotWithShape="1">
          <a:blip r:embed="rId4">
            <a:alphaModFix/>
          </a:blip>
          <a:srcRect b="22263" l="15190" r="14840" t="10438"/>
          <a:stretch/>
        </p:blipFill>
        <p:spPr>
          <a:xfrm>
            <a:off x="137150" y="792525"/>
            <a:ext cx="3016749" cy="23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2"/>
          <p:cNvSpPr txBox="1"/>
          <p:nvPr/>
        </p:nvSpPr>
        <p:spPr>
          <a:xfrm>
            <a:off x="137160" y="31546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ru" spc="0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Кнопку и электронику устанавливаем как на </a:t>
            </a:r>
            <a:r>
              <a:rPr b="0" i="1" lang="ru" spc="0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5"/>
              </a:rPr>
              <a:t>слайде</a:t>
            </a:r>
            <a:endParaRPr b="0" i="1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 txBox="1"/>
          <p:nvPr/>
        </p:nvSpPr>
        <p:spPr>
          <a:xfrm>
            <a:off x="0" y="2248500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pc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</a:t>
            </a:r>
            <a:endParaRPr b="1" i="1" spc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pc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2: что понадобится</a:t>
            </a:r>
            <a:endParaRPr/>
          </a:p>
        </p:txBody>
      </p:sp>
      <p:grpSp>
        <p:nvGrpSpPr>
          <p:cNvPr id="430" name="Google Shape;430;p24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31" name="Google Shape;431;p24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24"/>
          <p:cNvSpPr txBox="1"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pc="0" sz="1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Разложи детали по группам перед занятием - так соберешь быстрее.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Шагоход не поедет? Разбор неисправностей - в конце инструкции.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 txBox="1"/>
          <p:nvPr>
            <p:ph idx="1" type="subTitle"/>
          </p:nvPr>
        </p:nvSpPr>
        <p:spPr>
          <a:xfrm>
            <a:off x="320040" y="658368"/>
            <a:ext cx="411480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Что понадобится на занятии 2: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Винты М3х20 - 2 шт. и гайки М3 - 2 шт. - детали с винтами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Гайки М3 - 8 шт.: стенка - 2, корпус - 3, вторая деталь - 3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шайбы - на 3 места: вал двигателя, крепление, вторая деталь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Электроника с занятия 1: батарейки, кнопка, двигатель,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Клей и инструмент - как на занятии 1</a:t>
            </a:r>
            <a:endParaRPr b="0" sz="1800"/>
          </a:p>
        </p:txBody>
      </p:sp>
      <p:pic>
        <p:nvPicPr>
          <p:cNvPr id="435" name="Google Shape;435;p24"/>
          <p:cNvPicPr preferRelativeResize="0"/>
          <p:nvPr/>
        </p:nvPicPr>
        <p:blipFill rotWithShape="1">
          <a:blip r:embed="rId3">
            <a:alphaModFix/>
          </a:blip>
          <a:srcRect b="29721" l="0" r="0" t="27168"/>
          <a:stretch/>
        </p:blipFill>
        <p:spPr>
          <a:xfrm>
            <a:off x="4572000" y="905256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58a166da900a7e00_0_2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Начинаем сборку!</a:t>
            </a:r>
            <a:endParaRPr/>
          </a:p>
        </p:txBody>
      </p:sp>
      <p:sp>
        <p:nvSpPr>
          <p:cNvPr id="441" name="Google Shape;441;h58a166da900a7e00_0_221"/>
          <p:cNvSpPr txBox="1"/>
          <p:nvPr>
            <p:ph idx="1" type="subTitle"/>
          </p:nvPr>
        </p:nvSpPr>
        <p:spPr>
          <a:xfrm>
            <a:off x="105850" y="615900"/>
            <a:ext cx="3132600" cy="4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Подготовим необходимые элементы: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детали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переключатель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батарейка 3 В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батарейный отсек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соединительные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светодиода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винта М3х20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8 гайки М3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резинка</a:t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</p:txBody>
      </p:sp>
      <p:pic>
        <p:nvPicPr>
          <p:cNvPr id="442" name="Google Shape;442;h58a166da900a7e00_0_221"/>
          <p:cNvPicPr preferRelativeResize="0"/>
          <p:nvPr/>
        </p:nvPicPr>
        <p:blipFill rotWithShape="1">
          <a:blip r:embed="rId3">
            <a:alphaModFix/>
          </a:blip>
          <a:srcRect b="29721" l="0" r="0" t="27168"/>
          <a:stretch/>
        </p:blipFill>
        <p:spPr>
          <a:xfrm>
            <a:off x="3710900" y="901125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5"/>
          <p:cNvPicPr preferRelativeResize="0"/>
          <p:nvPr/>
        </p:nvPicPr>
        <p:blipFill rotWithShape="1">
          <a:blip r:embed="rId3">
            <a:alphaModFix/>
          </a:blip>
          <a:srcRect b="9433" l="10484" r="9305" t="10490"/>
          <a:stretch/>
        </p:blipFill>
        <p:spPr>
          <a:xfrm>
            <a:off x="2893575" y="604975"/>
            <a:ext cx="3145224" cy="41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вторую стенку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26"/>
          <p:cNvPicPr preferRelativeResize="0"/>
          <p:nvPr/>
        </p:nvPicPr>
        <p:blipFill rotWithShape="1">
          <a:blip r:embed="rId3">
            <a:alphaModFix/>
          </a:blip>
          <a:srcRect b="25353" l="8250" r="8921" t="19772"/>
          <a:stretch/>
        </p:blipFill>
        <p:spPr>
          <a:xfrm>
            <a:off x="2190725" y="657575"/>
            <a:ext cx="4548749" cy="401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6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27500" y="934725"/>
            <a:ext cx="2107950" cy="19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стенку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6" name="Google Shape;456;p26"/>
          <p:cNvSpPr txBox="1"/>
          <p:nvPr/>
        </p:nvSpPr>
        <p:spPr>
          <a:xfrm>
            <a:off x="6839712" y="960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pc="0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7"/>
          <p:cNvPicPr preferRelativeResize="0"/>
          <p:nvPr/>
        </p:nvPicPr>
        <p:blipFill rotWithShape="1">
          <a:blip r:embed="rId3">
            <a:alphaModFix/>
          </a:blip>
          <a:srcRect b="21535" l="13823" r="0" t="3999"/>
          <a:stretch/>
        </p:blipFill>
        <p:spPr>
          <a:xfrm>
            <a:off x="2818375" y="596750"/>
            <a:ext cx="3605774" cy="415447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Установим на вал двигателя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28"/>
          <p:cNvPicPr preferRelativeResize="0"/>
          <p:nvPr/>
        </p:nvPicPr>
        <p:blipFill rotWithShape="1">
          <a:blip r:embed="rId3">
            <a:alphaModFix/>
          </a:blip>
          <a:srcRect b="12297" l="8071" r="5334" t="14379"/>
          <a:stretch/>
        </p:blipFill>
        <p:spPr>
          <a:xfrm>
            <a:off x="1446150" y="595625"/>
            <a:ext cx="3379001" cy="38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8"/>
          <p:cNvPicPr preferRelativeResize="0"/>
          <p:nvPr/>
        </p:nvPicPr>
        <p:blipFill rotWithShape="1">
          <a:blip r:embed="rId4">
            <a:alphaModFix/>
          </a:blip>
          <a:srcRect b="12296" l="13403" r="8307" t="12544"/>
          <a:stretch/>
        </p:blipFill>
        <p:spPr>
          <a:xfrm>
            <a:off x="4979500" y="595625"/>
            <a:ext cx="2951174" cy="37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29"/>
          <p:cNvPicPr preferRelativeResize="0"/>
          <p:nvPr/>
        </p:nvPicPr>
        <p:blipFill rotWithShape="1">
          <a:blip r:embed="rId3">
            <a:alphaModFix/>
          </a:blip>
          <a:srcRect b="10028" l="19467" r="14743" t="13309"/>
          <a:stretch/>
        </p:blipFill>
        <p:spPr>
          <a:xfrm rot="-5400000">
            <a:off x="2603425" y="-349599"/>
            <a:ext cx="3677899" cy="57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2 детали с винтами как на фото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6" name="Google Shape;476;p29"/>
          <p:cNvSpPr txBox="1"/>
          <p:nvPr/>
        </p:nvSpPr>
        <p:spPr>
          <a:xfrm>
            <a:off x="198025" y="39236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М3х20 - 2шт.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0"/>
          <p:cNvPicPr preferRelativeResize="0"/>
          <p:nvPr/>
        </p:nvPicPr>
        <p:blipFill rotWithShape="1">
          <a:blip r:embed="rId3">
            <a:alphaModFix/>
          </a:blip>
          <a:srcRect b="26287" l="9113" r="12999" t="18348"/>
          <a:stretch/>
        </p:blipFill>
        <p:spPr>
          <a:xfrm>
            <a:off x="913650" y="646375"/>
            <a:ext cx="3727925" cy="35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0"/>
          <p:cNvPicPr preferRelativeResize="0"/>
          <p:nvPr/>
        </p:nvPicPr>
        <p:blipFill rotWithShape="1">
          <a:blip r:embed="rId4">
            <a:alphaModFix/>
          </a:blip>
          <a:srcRect b="31574" l="9144" r="12968" t="17972"/>
          <a:stretch/>
        </p:blipFill>
        <p:spPr>
          <a:xfrm>
            <a:off x="4641575" y="646368"/>
            <a:ext cx="4054800" cy="350210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Приклеим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1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 flipH="1">
            <a:off x="2162550" y="736738"/>
            <a:ext cx="5299874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32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внешний корпус и неплотно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6" name="Google Shape;496;p32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b="0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33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2" name="Google Shape;502;p3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03" name="Google Shape;503;p3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p3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Подклеиваем гайки, чтобы они не раскручивались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34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>
            <a:off x="2239675" y="728225"/>
            <a:ext cx="4761526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5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вторую деталь и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pc="0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b="0" i="1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6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p36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25" name="Google Shape;525;p36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" name="Google Shape;527;p3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Фиксируем гайки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h58a166da900a7e00_0_437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93825" y="680763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h58a166da900a7e00_0_43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 sz="2100">
                <a:solidFill>
                  <a:schemeClr val="dk1"/>
                </a:solidFill>
              </a:rPr>
              <a:t>Устанавливаем батарейки соблюдая полярность и проверяем работу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34" name="Google Shape;534;h58a166da900a7e00_0_4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7301" y="1348600"/>
            <a:ext cx="2191376" cy="219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h58a166da900a7e00_0_429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h58a166da900a7e00_0_42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Проект готов!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571b35902b684027_0_197"/>
          <p:cNvSpPr/>
          <p:nvPr/>
        </p:nvSpPr>
        <p:spPr>
          <a:xfrm>
            <a:off x="0" y="0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pc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Шагоход в движении</a:t>
            </a:r>
            <a:endParaRPr b="0" i="0" spc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h571b35902b684027_0_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75" y="0"/>
            <a:ext cx="91469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Шагоход не едет - проверяем по порядку</a:t>
            </a:r>
            <a:endParaRPr/>
          </a:p>
        </p:txBody>
      </p:sp>
      <p:grpSp>
        <p:nvGrpSpPr>
          <p:cNvPr id="552" name="Google Shape;552;p37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53" name="Google Shape;553;p37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37"/>
          <p:cNvSpPr/>
          <p:nvPr/>
        </p:nvSpPr>
        <p:spPr>
          <a:xfrm>
            <a:off x="320100" y="1117564"/>
            <a:ext cx="8503800" cy="2342700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256025" spcFirstLastPara="1" rIns="201150" wrap="square" tIns="164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pc="0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 заряжены и вставлены до конца, плюс к плюсу.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pc="0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Кнопка нажимается, контакты чистые, клей их не залил.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pc="0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Оба провода подключены к клеммам двигателя, обрыва нет.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pc="0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Все гайки затянуты и зафиксированы клеем, стенки целые.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ru" spc="0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Шайбы на валу на месте, лапы крутятся от руки без заеданий.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7"/>
          <p:cNvSpPr txBox="1"/>
          <p:nvPr/>
        </p:nvSpPr>
        <p:spPr>
          <a:xfrm>
            <a:off x="320040" y="3767328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" spc="0" sz="1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Все пункты в порядке? Ставим на ровную поверхность и проверяем ход.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pc="0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Не едет - возвращаемся к списку и проверяем по одному пункту. Несколько проблем встречаются вместе, поэтому идём по порядку сверху вниз.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Частые проблемы и что делать</a:t>
            </a:r>
            <a:endParaRPr/>
          </a:p>
        </p:txBody>
      </p:sp>
      <p:grpSp>
        <p:nvGrpSpPr>
          <p:cNvPr id="562" name="Google Shape;562;p38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63" name="Google Shape;563;p38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5" name="Google Shape;565;p38"/>
          <p:cNvSpPr/>
          <p:nvPr/>
        </p:nvSpPr>
        <p:spPr>
          <a:xfrm>
            <a:off x="31089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" spc="0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едет совсем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Батарейки, кнопка или контакт у двигателя. Проверь пункты 1-3.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8"/>
          <p:cNvSpPr/>
          <p:nvPr/>
        </p:nvSpPr>
        <p:spPr>
          <a:xfrm>
            <a:off x="460857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" spc="0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Один мотор молчит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Обрыв или плохой контакт в клемме. Перепаяй и заизолируй клеем.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31089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" spc="0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рывками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Окислились клеммы или батарейка вставлена не до конца.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460857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" spc="0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Гудит, но еле едет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Заклинило вал или перекос шайб. Поправь шайбы и зазор.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31089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" spc="0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криво, цепляет корпус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Не затянуты гайки или разъехались стенки. Подтяни и подклей.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8"/>
          <p:cNvSpPr/>
          <p:nvPr/>
        </p:nvSpPr>
        <p:spPr>
          <a:xfrm>
            <a:off x="460857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ru" spc="0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Батарейки садятся быстро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pc="0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Где-то замыкает кнопка или провод. Отключи провод двигателя.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Перед запуском: питание, шайбы и крепления</a:t>
            </a:r>
            <a:endParaRPr/>
          </a:p>
        </p:txBody>
      </p:sp>
      <p:grpSp>
        <p:nvGrpSpPr>
          <p:cNvPr id="576" name="Google Shape;576;p3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77" name="Google Shape;577;p3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pc="0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pc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579" name="Google Shape;57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450" y="603504"/>
            <a:ext cx="1334859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9"/>
          <p:cNvSpPr txBox="1"/>
          <p:nvPr/>
        </p:nvSpPr>
        <p:spPr>
          <a:xfrm>
            <a:off x="365760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pc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Батарейный отсек закреплен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81" name="Google Shape;58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5037" y="603504"/>
            <a:ext cx="1514485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9"/>
          <p:cNvSpPr txBox="1"/>
          <p:nvPr/>
        </p:nvSpPr>
        <p:spPr>
          <a:xfrm>
            <a:off x="4709160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pc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Электроника установлена, провода </a:t>
            </a:r>
            <a:r>
              <a:rPr b="0" i="0" lang="ru" spc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заизолированы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83" name="Google Shape;58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6039" y="2651760"/>
            <a:ext cx="1285682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9"/>
          <p:cNvSpPr txBox="1"/>
          <p:nvPr/>
        </p:nvSpPr>
        <p:spPr>
          <a:xfrm>
            <a:off x="365760" y="4169663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pc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Деревянные шайбы на валу двигателя на месте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85" name="Google Shape;58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00951" y="2651760"/>
            <a:ext cx="2222658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9"/>
          <p:cNvSpPr txBox="1"/>
          <p:nvPr/>
        </p:nvSpPr>
        <p:spPr>
          <a:xfrm>
            <a:off x="4709160" y="4169663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pc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Гайки подклеены - не раскрутятся на ходу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