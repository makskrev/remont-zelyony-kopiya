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omments/comment8.xml" ContentType="application/vnd.openxmlformats-officedocument.presentationml.comments+xml"/>
  <Override PartName="/ppt/comments/comment9.xml" ContentType="application/vnd.openxmlformats-officedocument.presentationml.comments+xml"/>
  <Override PartName="/ppt/comments/comment10.xml" ContentType="application/vnd.openxmlformats-officedocument.presentationml.comments+xml"/>
  <Override PartName="/ppt/comments/comment11.xml" ContentType="application/vnd.openxmlformats-officedocument.presentationml.comments+xml"/>
  <Override PartName="/ppt/comments/comment12.xml" ContentType="application/vnd.openxmlformats-officedocument.presentationml.comments+xml"/>
  <Override PartName="/ppt/comments/comment13.xml" ContentType="application/vnd.openxmlformats-officedocument.presentationml.comments+xml"/>
  <Override PartName="/ppt/comments/comment14.xml" ContentType="application/vnd.openxmlformats-officedocument.presentationml.comments+xml"/>
  <Override PartName="/ppt/comments/comment15.xml" ContentType="application/vnd.openxmlformats-officedocument.presentationml.comments+xml"/>
  <Override PartName="/ppt/comments/comment16.xml" ContentType="application/vnd.openxmlformats-officedocument.presentationml.comments+xml"/>
  <Override PartName="/ppt/comments/comment17.xml" ContentType="application/vnd.openxmlformats-officedocument.presentationml.comments+xml"/>
  <Override PartName="/ppt/comments/comment18.xml" ContentType="application/vnd.openxmlformats-officedocument.presentationml.comments+xml"/>
  <Override PartName="/ppt/comments/comment19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7" r:id="rId1"/>
    <p:sldMasterId id="2147483698" r:id="rId2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Преподаватель" initials="Пр" lastIdx="19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3D6417-B0C5-434F-AE58-70A175F9A0A9}" v="3" dt="2026-09-24T16:30:05.5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4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3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2.fntdata"/><Relationship Id="rId32" Type="http://schemas.microsoft.com/office/2015/10/relationships/revisionInfo" Target="revisionInfo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">
    <p:pos x="915000" y="400000"/>
    <p:text>Титульный слайд.
1. Поприветствуем, назовём тему: «Сегодня каждый станет изобретателем».
2. Спросите: «Кто такой изобретатель? Что он делает?» — короткие ответы с мест.
3. Объявите задачу мастер-класса: научиться решать задачи по одному алгоритму.
4. Разделите класс на команды по 4–5 человек (им понадобятся лист и ручка).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2">
    <p:pos x="915000" y="400000"/>
    <p:text>План занятия.
Покажите маршрут и скажите: «Все этапы пройдём за 45 минут».
Подчеркните логику: разминка → теория → практика → защита.
Если времени мало, места сокращения: слайды «Эдисон» и «ИКР» (можно быстрее).
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3">
    <p:pos x="915000" y="400000"/>
    <p:text>Слайд-разделитель «Игра Разминка».
Время: ~3 минуты. Тема: «Кто такой изобретатель?»
Приём: записывайте ВСЕ ответы детей — даже смешные. Правило на весь урок: идеи не критикуем.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4">
    <p:pos x="915000" y="400000"/>
    <p:text>Упражнение со скрепкой (2 мин).
За 30 секунд команды придумывают способы использования скрепки и записывают.
Спросите 2–3 команды по одной самой необычной идее и похвалите.
Вывод, который нужно подвести: у обычной вещи есть скрытые «ресурсы» — это и использует изобретатель.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5">
    <p:pos x="915000" y="400000"/>
    <p:text>Слайд-разделитель «ТЕОРИЯ».
Мостик: «Разминка показала — идеи уже есть. Теперь узнаем правила, по которым рождаются сильные решения».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6">
    <p:pos x="915000" y="400000"/>
    <p:text>Эдисон и «10 000 материалов» (2–3 мин).
Расскажите историю: Эдисон испробовал около 10 000 материалов для нити лампочки.
Спросите: «Сильное ли это решение?» Вывод: перебор работает, но это долго и дорого.
Анонс: ТРИЗ позволяет решать без слепого перебора — за минуты.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7">
    <p:pos x="915000" y="400000"/>
    <p:text>Что такое ТРИЗ (2 мин).
Расшифруйте аббревиатуру по буквам (Т-Р-И-З).
Ключевая мысль: изобретать — это НАВЫК, а не врождённый талант. Ему можно научиться.
Сегодня освоим 3 инструмента: противоречие, ИКР, 4 приёма.</p:text>
  </p:cm>
</p:cmLst>
</file>

<file path=ppt/comments/comment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8">
    <p:pos x="915000" y="400000"/>
    <p:text>Генрих Альтшуллер (3 мин).
Расскажите: в 17 лет изобрёл «мотокар» (спасает записку от огня струёй воздуха).
Изучив десятки тысяч патентов, увидел: сильные решения повторяются.
В 1946 году создал ТРИЗ. Вывод: можно не изобретать заново, а применять найденные законы.</p:text>
  </p:cm>
</p:cmLst>
</file>

<file path=ppt/comments/comment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9">
    <p:pos x="915000" y="400000"/>
    <p:text>ПРОТИВОРЕЧИЕ — главный слайд теории (5 мин).
Прочитайте определение. Разберите зонт: хотим БОЛЬШОЙ (накрывает) и МАЛЕНЬКИЙ (носим в рюкзаке).
Спросите класс: «Как разрешить?» Ждём ответ «складывается».
Закрепите: попросите придумать ещё 1–2 противоречия из жизни (например, чай горячий и не обжигает).
Этот навык — опора для практикумов, не пропускайте.</p:text>
  </p:cm>
</p:cmLst>
</file>

<file path=ppt/comments/comment10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0">
    <p:pos x="915000" y="400000"/>
    <p:text>ИКР — Идеальный Конечный Результат (3 мин).
Объясните: представляем, что задача решается САМА (посуда моется сама, свет загорается сам).
Важно: ИКР редко достижим на 100%, но он задаёт направление.
Правило урока: «Сначала сформулируй ИКР — потом ищи ответ».</p:text>
  </p:cm>
</p:cmLst>
</file>

<file path=ppt/comments/comment1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1">
    <p:pos x="915000" y="400000"/>
    <p:text>4 приёма (4 мин).
Разберите по одному, приведите пример из жизни: ДРОБЛЕНИЕ (шоколад на дольки), ОБЪЕДИНЕНИЕ (ручка с ластиком), МАТРЁШКА (складная мебель), НАОБОРОТ (не тащим груз — он катится).
Попросите класс дать свой пример на любой приём.
Эти приёмы пригодятся в задачах «Рюкзак», «Продукты», «Мост».</p:text>
  </p:cm>
</p:cmLst>
</file>

<file path=ppt/comments/comment1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2">
    <p:pos x="915000" y="400000"/>
    <p:text>Слайд-разделитель «ПРАКТИКА».
Переход: «Теперь применяем теорию». Время: 8 мин на два задания «Рюкзак» и «Продукты».
Напомните регламент: решение записываем, защита — по номерам.</p:text>
  </p:cm>
</p:cmLst>
</file>

<file path=ppt/comments/comment1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3">
    <p:pos x="915000" y="400000"/>
    <p:text>Задача «Тяжёлый рюкзак» (4 мин).
Зачитайте ситуацию. Не раскрывайте готовый ответ — направляйте вопросами:
«Что на самом деле создаёт вес? Нужны ли завтрашние учебники? Что можно заменить?»
Подсказка-направление: сформулировать ИКР («рюкзак сам становится лёгким»).
Возможные решения: носить только обязательное, электронные версии, разложить по дням.</p:text>
  </p:cm>
</p:cmLst>
</file>

<file path=ppt/comments/comment1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4">
    <p:pos x="915000" y="400000"/>
    <p:text>Задача «Продукты в походе» (4 мин).
Зачитайте ситуацию. Наводящие вопросы:
— какое здесь противоречие? (хочется свежее и вкусное, но тяжело нести и портится)
— что рациональнее взять? (лёгкое и сытное: орехи, сухофрукты; горячее — в термосе)
Разрешено несколько верных решений — поощряйте это.</p:text>
  </p:cm>
</p:cmLst>
</file>

<file path=ppt/comments/comment1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5">
    <p:pos x="915000" y="400000"/>
    <p:text>Практика №2 «Бумажный мост» (7 мин) — конструирование.
Выдайте каждой команде: 1 лист А4, ножницы, скотч, 2 книги, ластик.
Критерии (на слайде): пролёт не меньше 8 см, держит ластик 5 секунд, только выданные материалы.
Не показывайте решение сразу! Если команда строит плоский лист — пусть сама обнаружит нехватку жёсткости.
Ожидаемые решения: лист «гармошкой», рёбра жёсткости (загнутые края), балка из складок.</p:text>
  </p:cm>
</p:cmLst>
</file>

<file path=ppt/comments/comment1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6">
    <p:pos x="915000" y="400000"/>
    <p:text>Слайд-разделитель «ЗАЩИТА».
Соберите внимание, озвучьте регламент: 1 минута на команду.
Напомните пять шагов выступления (следующий слайд).</p:text>
  </p:cm>
</p:cmLst>
</file>

<file path=ppt/comments/comment1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7">
    <p:pos x="915000" y="400000"/>
    <p:text>Как докладывать решение (3 мин).
Проведите защиты по шагам 1–5: Проблема → Противоречие → ИКР → Приёмы → Решение.
Каждой команде задайте контрольный вопрос: «Где здесь противоречие?» — главный навык урока.
Хвалите ход мысли, а не только итоговый ответ.</p:text>
  </p:cm>
</p:cmLst>
</file>

<file path=ppt/comments/comment18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8">
    <p:pos x="915000" y="400000"/>
    <p:text>Рефлексия (2 мин).
Вопросы дайте в парах — 30 секунд на обсуждение каждого.
Пройдитесь по ответам 2–3 пар, чтобы закрепить термины.
</p:text>
  </p:cm>
</p:cmLst>
</file>

<file path=ppt/comments/comment19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24T10:00:00" idx="19">
    <p:pos x="915000" y="400000"/>
    <p:text>Финал (1 мин).
Поблагодарите команды. Эмоциональное резюме: «ТРИЗ — это не магия, а навык, который теперь у вас».
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info@obraz.pro" TargetMode="Externa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mailto:info@obraz.pro" TargetMode="Externa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hyperlink" Target="mailto:info@obraz.pro" TargetMode="Externa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hyperlink" Target="mailto:info@obraz.pro" TargetMode="Externa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2.png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4_1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7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3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">
  <p:cSld name="CUSTOM_2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">
  <p:cSld name="CUSTOM_2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">
  <p:cSld name="TITLE_2_3_1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5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5"/>
          <p:cNvSpPr/>
          <p:nvPr/>
        </p:nvSpPr>
        <p:spPr>
          <a:xfrm rot="10800000" flipH="1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>
  <p:cSld name="TITLE_3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ubTitle" idx="1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занятие">
  <p:cSld name="CUSTOM_4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sz="27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7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 1">
  <p:cSld name="CUSTOM_2_1_1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8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6" name="Google Shape;5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">
  <p:cSld name="TITLE_2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0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9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0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 rot="10800000" flipH="1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8" name="Google Shape;68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2">
  <p:cSld name="TITLE_2_4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1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1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Разминка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/>
          <p:nvPr/>
        </p:nvSpPr>
        <p:spPr>
          <a:xfrm rot="10800000" flipH="1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1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2 1">
  <p:cSld name="TITLE_2_4_1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2"/>
          <p:cNvSpPr txBox="1"/>
          <p:nvPr/>
        </p:nvSpPr>
        <p:spPr>
          <a:xfrm>
            <a:off x="827923" y="10527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>
                <a:solidFill>
                  <a:srgbClr val="FEA621"/>
                </a:solidFill>
              </a:rPr>
              <a:t>Игра на 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2"/>
          <p:cNvSpPr/>
          <p:nvPr/>
        </p:nvSpPr>
        <p:spPr>
          <a:xfrm rot="10800000" flipH="1">
            <a:off x="1869889" y="235480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">
  <p:cSld name="TITLE_2_3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3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rot="10800000" flipH="1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2">
  <p:cSld name="TITLE_2_3_1_2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rot="10800000" flipH="1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">
  <p:cSld name="TITLE_2_3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5"/>
          <p:cNvSpPr/>
          <p:nvPr/>
        </p:nvSpPr>
        <p:spPr>
          <a:xfrm rot="10800000" flipH="1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">
  <p:cSld name="TITLE_2_3_1_1_1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6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6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6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">
  <p:cSld name="TITLE_2_3_1_1_1_1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7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7"/>
          <p:cNvSpPr/>
          <p:nvPr/>
        </p:nvSpPr>
        <p:spPr>
          <a:xfrm rot="10800000" flipH="1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7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 1">
  <p:cSld name="TITLE_2_3_1_1_1_1_1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8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8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8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РЕВНОВАНИЯ">
  <p:cSld name="CUSTOM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2">
            <a:alphaModFix/>
          </a:blip>
          <a:srcRect t="15609" b="907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27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sz="72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 rot="10800000" flipH="1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9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">
  <p:cSld name="CUSTOM_1_1_1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0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9" name="Google Shape;149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body" idx="1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ubTitle" idx="4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2">
  <p:cSld name="CUSTOM_1_1_1_4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1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body" idx="1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66" name="Google Shape;16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1">
  <p:cSld name="CUSTOM_1_1_1_3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0" name="Google Shape;17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2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2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body" idx="1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9" name="Google Shape;17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/>
          <p:nvPr/>
        </p:nvSpPr>
        <p:spPr>
          <a:xfrm rot="10800000" flipH="1">
            <a:off x="4162568" y="-72"/>
            <a:ext cx="4981500" cy="10632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3"/>
          <p:cNvSpPr/>
          <p:nvPr/>
        </p:nvSpPr>
        <p:spPr>
          <a:xfrm rot="10800000" flipH="1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3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6" name="Google Shape;186;p23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87" name="Google Shape;18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OBJECT_2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4"/>
          <p:cNvSpPr/>
          <p:nvPr/>
        </p:nvSpPr>
        <p:spPr>
          <a:xfrm rot="-5400000" flipH="1">
            <a:off x="5963525" y="1981200"/>
            <a:ext cx="5216400" cy="11811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 rot="10800000" flipH="1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95" name="Google Shape;19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колонки">
  <p:cSld name="OBJECT_1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5"/>
          <p:cNvSpPr/>
          <p:nvPr/>
        </p:nvSpPr>
        <p:spPr>
          <a:xfrm rot="10800000" flipH="1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2" name="Google Shape;202;p25"/>
          <p:cNvSpPr txBox="1">
            <a:spLocks noGrp="1"/>
          </p:cNvSpPr>
          <p:nvPr>
            <p:ph type="body" idx="2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3" name="Google Shape;203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">
  <p:cSld name="CUSTOM_3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6"/>
          <p:cNvPicPr preferRelativeResize="0"/>
          <p:nvPr/>
        </p:nvPicPr>
        <p:blipFill rotWithShape="1">
          <a:blip r:embed="rId2">
            <a:alphaModFix/>
          </a:blip>
          <a:srcRect t="5873" b="10915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6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4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6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6"/>
          <p:cNvSpPr/>
          <p:nvPr/>
        </p:nvSpPr>
        <p:spPr>
          <a:xfrm rot="10800000" flipH="1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 1">
  <p:cSld name="CUSTOM_3_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7"/>
          <p:cNvPicPr preferRelativeResize="0"/>
          <p:nvPr/>
        </p:nvPicPr>
        <p:blipFill rotWithShape="1">
          <a:blip r:embed="rId2">
            <a:alphaModFix/>
          </a:blip>
          <a:srcRect t="5875" b="10910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7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7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7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>
                <a:solidFill>
                  <a:srgbClr val="FEA621"/>
                </a:solidFill>
              </a:rPr>
              <a:t>УБОРКА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7"/>
          <p:cNvSpPr/>
          <p:nvPr/>
        </p:nvSpPr>
        <p:spPr>
          <a:xfrm rot="10800000" flipH="1">
            <a:off x="1984300" y="3079450"/>
            <a:ext cx="49122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9" name="Google Shape;219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4_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9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title"/>
          </p:nvPr>
        </p:nvSpPr>
        <p:spPr>
          <a:xfrm>
            <a:off x="1616850" y="1546550"/>
            <a:ext cx="24840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  <a:defRPr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subTitle" idx="1"/>
          </p:nvPr>
        </p:nvSpPr>
        <p:spPr>
          <a:xfrm>
            <a:off x="1359100" y="2108800"/>
            <a:ext cx="29994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  <a:defRPr sz="26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ubTitle" idx="2"/>
          </p:nvPr>
        </p:nvSpPr>
        <p:spPr>
          <a:xfrm>
            <a:off x="6725225" y="4669700"/>
            <a:ext cx="2244300" cy="3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0" name="Google Shape;230;p29"/>
          <p:cNvSpPr txBox="1">
            <a:spLocks noGrp="1"/>
          </p:cNvSpPr>
          <p:nvPr>
            <p:ph type="subTitle" idx="3"/>
          </p:nvPr>
        </p:nvSpPr>
        <p:spPr>
          <a:xfrm>
            <a:off x="7639100" y="3878900"/>
            <a:ext cx="1330500" cy="85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">
  <p:cSld name="CUSTOM_2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A621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6" name="Google Shape;236;p30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">
  <p:cSld name="CUSTOM_2_1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1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1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3" name="Google Shape;243;p31"/>
          <p:cNvSpPr txBox="1">
            <a:spLocks noGrp="1"/>
          </p:cNvSpPr>
          <p:nvPr>
            <p:ph type="subTitle" idx="1"/>
          </p:nvPr>
        </p:nvSpPr>
        <p:spPr>
          <a:xfrm>
            <a:off x="4273700" y="772775"/>
            <a:ext cx="4534200" cy="3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2"/>
          </p:nvPr>
        </p:nvSpPr>
        <p:spPr>
          <a:xfrm>
            <a:off x="4273700" y="1238950"/>
            <a:ext cx="3951000" cy="30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45" name="Google Shape;24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">
  <p:cSld name="TITLE_2_3_1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3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32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РЕПЕТИЦИЯ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32"/>
          <p:cNvSpPr/>
          <p:nvPr/>
        </p:nvSpPr>
        <p:spPr>
          <a:xfrm rot="10800000" flipH="1">
            <a:off x="1085475" y="3118750"/>
            <a:ext cx="6861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>
  <p:cSld name="TITLE_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3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33"/>
          <p:cNvSpPr txBox="1">
            <a:spLocks noGrp="1"/>
          </p:cNvSpPr>
          <p:nvPr>
            <p:ph type="title"/>
          </p:nvPr>
        </p:nvSpPr>
        <p:spPr>
          <a:xfrm>
            <a:off x="1580550" y="886775"/>
            <a:ext cx="5982900" cy="16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8" name="Google Shape;258;p33"/>
          <p:cNvSpPr txBox="1">
            <a:spLocks noGrp="1"/>
          </p:cNvSpPr>
          <p:nvPr>
            <p:ph type="subTitle" idx="1"/>
          </p:nvPr>
        </p:nvSpPr>
        <p:spPr>
          <a:xfrm>
            <a:off x="1586400" y="2530475"/>
            <a:ext cx="5971200" cy="5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9" name="Google Shape;259;p33"/>
          <p:cNvSpPr txBox="1">
            <a:spLocks noGrp="1"/>
          </p:cNvSpPr>
          <p:nvPr>
            <p:ph type="body" idx="2"/>
          </p:nvPr>
        </p:nvSpPr>
        <p:spPr>
          <a:xfrm>
            <a:off x="0" y="4694100"/>
            <a:ext cx="6491400" cy="4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за занятие">
  <p:cSld name="CUSTOM_4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2" cy="5141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74850" y="93616"/>
            <a:ext cx="3568444" cy="140338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/>
          <p:nvPr/>
        </p:nvSpPr>
        <p:spPr>
          <a:xfrm>
            <a:off x="1347394" y="1333688"/>
            <a:ext cx="3151800" cy="22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ru" sz="2700" b="1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ЖДЕМ НА ЗАНЯТИЯХ В ШКОЛАХ ЭРЫ ИНЖЕНЕРОВ!!</a:t>
            </a:r>
            <a:endParaRPr sz="27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6533344" y="1479547"/>
            <a:ext cx="25410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Сеть школ изобретателей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«Эра Инженеров»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4"/>
          <p:cNvSpPr txBox="1"/>
          <p:nvPr/>
        </p:nvSpPr>
        <p:spPr>
          <a:xfrm>
            <a:off x="6940596" y="1977092"/>
            <a:ext cx="2029200" cy="6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era.obraz.pro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info@obraz.pro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8 495 748 00 67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ВЕДЕНИЕ 1 1">
  <p:cSld name="CUSTOM_2_1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5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72" name="Google Shape;27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3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title">
  <p:cSld name="TITLE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6" name="Google Shape;27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">
  <p:cSld name="TITLE_2"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7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7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7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ПЕРЕРЫВ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7"/>
          <p:cNvSpPr/>
          <p:nvPr/>
        </p:nvSpPr>
        <p:spPr>
          <a:xfrm rot="10800000" flipH="1">
            <a:off x="1836964" y="3118757"/>
            <a:ext cx="52743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7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">
  <p:cSld name="TITLE_2_3"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38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38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8"/>
          <p:cNvSpPr txBox="1"/>
          <p:nvPr/>
        </p:nvSpPr>
        <p:spPr>
          <a:xfrm>
            <a:off x="933298" y="1838089"/>
            <a:ext cx="70701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ВИКТОРИНА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38"/>
          <p:cNvSpPr/>
          <p:nvPr/>
        </p:nvSpPr>
        <p:spPr>
          <a:xfrm rot="10800000" flipH="1">
            <a:off x="1206075" y="3118750"/>
            <a:ext cx="66390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8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2">
  <p:cSld name="TITLE_2_3_1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9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9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9"/>
          <p:cNvSpPr txBox="1"/>
          <p:nvPr/>
        </p:nvSpPr>
        <p:spPr>
          <a:xfrm>
            <a:off x="530725" y="1838100"/>
            <a:ext cx="80619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ЧТО ДАЛЬШЕ?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39"/>
          <p:cNvSpPr/>
          <p:nvPr/>
        </p:nvSpPr>
        <p:spPr>
          <a:xfrm rot="10800000" flipH="1">
            <a:off x="627225" y="3118750"/>
            <a:ext cx="77184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9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0" name="Google Shape;30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">
  <p:cSld name="TITLE_2_3_1_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0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0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0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ПОВТОРЕНИЕ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0"/>
          <p:cNvSpPr/>
          <p:nvPr/>
        </p:nvSpPr>
        <p:spPr>
          <a:xfrm rot="10800000" flipH="1">
            <a:off x="844300" y="3118750"/>
            <a:ext cx="74469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0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8" name="Google Shape;30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">
  <p:cSld name="TITLE_2_3_1_1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41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1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1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ЗАЩИТА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41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1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6" name="Google Shape;316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">
  <p:cSld name="TITLE_2_3_1_1_1_1"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2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42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2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ПРАКТИКА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2"/>
          <p:cNvSpPr/>
          <p:nvPr/>
        </p:nvSpPr>
        <p:spPr>
          <a:xfrm rot="10800000" flipH="1">
            <a:off x="1718625" y="3118750"/>
            <a:ext cx="5716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2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4" name="Google Shape;324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2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ЕРЕРЫВ 1 1 1 1 1 1">
  <p:cSld name="TITLE_2_3_1_1_1_1_1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Google Shape;327;p43"/>
          <p:cNvPicPr preferRelativeResize="0"/>
          <p:nvPr/>
        </p:nvPicPr>
        <p:blipFill rotWithShape="1">
          <a:blip r:embed="rId2">
            <a:alphaModFix/>
          </a:blip>
          <a:srcRect t="4251" b="11396"/>
          <a:stretch/>
        </p:blipFill>
        <p:spPr>
          <a:xfrm>
            <a:off x="0" y="0"/>
            <a:ext cx="9144006" cy="5143503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43"/>
          <p:cNvSpPr/>
          <p:nvPr/>
        </p:nvSpPr>
        <p:spPr>
          <a:xfrm>
            <a:off x="-9527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43"/>
          <p:cNvSpPr txBox="1"/>
          <p:nvPr/>
        </p:nvSpPr>
        <p:spPr>
          <a:xfrm>
            <a:off x="530725" y="1838100"/>
            <a:ext cx="79896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600"/>
              <a:buFont typeface="Arial"/>
              <a:buNone/>
            </a:pPr>
            <a:r>
              <a:rPr lang="ru" sz="86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ТЕОРИЯ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43"/>
          <p:cNvSpPr/>
          <p:nvPr/>
        </p:nvSpPr>
        <p:spPr>
          <a:xfrm rot="10800000" flipH="1">
            <a:off x="2255275" y="3118750"/>
            <a:ext cx="46431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43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4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3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ОРЕВНОВАНИЯ">
  <p:cSld name="CUSTOM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44"/>
          <p:cNvPicPr preferRelativeResize="0"/>
          <p:nvPr/>
        </p:nvPicPr>
        <p:blipFill rotWithShape="1">
          <a:blip r:embed="rId2">
            <a:alphaModFix/>
          </a:blip>
          <a:srcRect t="15612" b="902"/>
          <a:stretch/>
        </p:blipFill>
        <p:spPr>
          <a:xfrm>
            <a:off x="-9450" y="0"/>
            <a:ext cx="9153450" cy="5087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44"/>
          <p:cNvSpPr/>
          <p:nvPr/>
        </p:nvSpPr>
        <p:spPr>
          <a:xfrm>
            <a:off x="-14215" y="0"/>
            <a:ext cx="9153300" cy="5143500"/>
          </a:xfrm>
          <a:prstGeom prst="rect">
            <a:avLst/>
          </a:prstGeom>
          <a:solidFill>
            <a:schemeClr val="lt1">
              <a:alpha val="8863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4"/>
          <p:cNvSpPr txBox="1"/>
          <p:nvPr/>
        </p:nvSpPr>
        <p:spPr>
          <a:xfrm>
            <a:off x="89119" y="1838081"/>
            <a:ext cx="8917800" cy="13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СОРЕВНОВАНИЯ</a:t>
            </a:r>
            <a:endParaRPr sz="72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44"/>
          <p:cNvSpPr/>
          <p:nvPr/>
        </p:nvSpPr>
        <p:spPr>
          <a:xfrm rot="10800000" flipH="1">
            <a:off x="700238" y="2942156"/>
            <a:ext cx="77535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4"/>
          <p:cNvSpPr/>
          <p:nvPr/>
        </p:nvSpPr>
        <p:spPr>
          <a:xfrm rot="10800000" flipH="1">
            <a:off x="-19052" y="5087699"/>
            <a:ext cx="9163200" cy="558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0" name="Google Shape;340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44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">
  <p:cSld name="CUSTOM_1_1_1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45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45"/>
          <p:cNvSpPr/>
          <p:nvPr/>
        </p:nvSpPr>
        <p:spPr>
          <a:xfrm>
            <a:off x="260521" y="2406827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45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7" name="Google Shape;347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3605" y="2496156"/>
            <a:ext cx="361254" cy="361254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45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9" name="Google Shape;349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45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45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2" name="Google Shape;352;p45"/>
          <p:cNvSpPr txBox="1">
            <a:spLocks noGrp="1"/>
          </p:cNvSpPr>
          <p:nvPr>
            <p:ph type="body" idx="1"/>
          </p:nvPr>
        </p:nvSpPr>
        <p:spPr>
          <a:xfrm>
            <a:off x="995875" y="3210300"/>
            <a:ext cx="5101200" cy="13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3" name="Google Shape;353;p45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4" name="Google Shape;354;p45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5" name="Google Shape;355;p45"/>
          <p:cNvSpPr txBox="1">
            <a:spLocks noGrp="1"/>
          </p:cNvSpPr>
          <p:nvPr>
            <p:ph type="subTitle" idx="4"/>
          </p:nvPr>
        </p:nvSpPr>
        <p:spPr>
          <a:xfrm>
            <a:off x="995875" y="2434963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56" name="Google Shape;356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7" name="Google Shape;357;p45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2">
  <p:cSld name="CUSTOM_1_1_1_4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46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6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6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4" name="Google Shape;364;p46"/>
          <p:cNvSpPr txBox="1">
            <a:spLocks noGrp="1"/>
          </p:cNvSpPr>
          <p:nvPr>
            <p:ph type="body" idx="1"/>
          </p:nvPr>
        </p:nvSpPr>
        <p:spPr>
          <a:xfrm>
            <a:off x="995875" y="1589700"/>
            <a:ext cx="5101200" cy="292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5" name="Google Shape;365;p46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66" name="Google Shape;366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6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егодня на занятии 1 1">
  <p:cSld name="CUSTOM_1_1_1_3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7"/>
          <p:cNvSpPr/>
          <p:nvPr/>
        </p:nvSpPr>
        <p:spPr>
          <a:xfrm>
            <a:off x="262584" y="747211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1166" y="845017"/>
            <a:ext cx="338788" cy="33878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7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7"/>
          <p:cNvSpPr/>
          <p:nvPr/>
        </p:nvSpPr>
        <p:spPr>
          <a:xfrm>
            <a:off x="260559" y="1553586"/>
            <a:ext cx="540000" cy="540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3" name="Google Shape;373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1344" y="1654361"/>
            <a:ext cx="338367" cy="338367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7"/>
          <p:cNvSpPr/>
          <p:nvPr/>
        </p:nvSpPr>
        <p:spPr>
          <a:xfrm rot="10800000" flipH="1">
            <a:off x="-31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7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6" name="Google Shape;376;p47"/>
          <p:cNvSpPr txBox="1">
            <a:spLocks noGrp="1"/>
          </p:cNvSpPr>
          <p:nvPr>
            <p:ph type="body" idx="1"/>
          </p:nvPr>
        </p:nvSpPr>
        <p:spPr>
          <a:xfrm>
            <a:off x="995875" y="2434975"/>
            <a:ext cx="5101200" cy="20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7" name="Google Shape;377;p47"/>
          <p:cNvSpPr txBox="1">
            <a:spLocks noGrp="1"/>
          </p:cNvSpPr>
          <p:nvPr>
            <p:ph type="subTitle" idx="2"/>
          </p:nvPr>
        </p:nvSpPr>
        <p:spPr>
          <a:xfrm>
            <a:off x="995875" y="744425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8" name="Google Shape;378;p47"/>
          <p:cNvSpPr txBox="1">
            <a:spLocks noGrp="1"/>
          </p:cNvSpPr>
          <p:nvPr>
            <p:ph type="subTitle" idx="3"/>
          </p:nvPr>
        </p:nvSpPr>
        <p:spPr>
          <a:xfrm>
            <a:off x="995875" y="1589688"/>
            <a:ext cx="4956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79" name="Google Shape;379;p4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7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8"/>
          <p:cNvSpPr/>
          <p:nvPr/>
        </p:nvSpPr>
        <p:spPr>
          <a:xfrm rot="10800000" flipH="1">
            <a:off x="4162568" y="-72"/>
            <a:ext cx="4981500" cy="10632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8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8"/>
          <p:cNvSpPr/>
          <p:nvPr/>
        </p:nvSpPr>
        <p:spPr>
          <a:xfrm rot="10800000" flipH="1">
            <a:off x="-26" y="509100"/>
            <a:ext cx="8295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8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48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87" name="Google Shape;387;p4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48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 1">
  <p:cSld name="OBJECT_2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9"/>
          <p:cNvSpPr/>
          <p:nvPr/>
        </p:nvSpPr>
        <p:spPr>
          <a:xfrm rot="-5400000" flipH="1">
            <a:off x="5963525" y="1981200"/>
            <a:ext cx="5216400" cy="1181100"/>
          </a:xfrm>
          <a:prstGeom prst="triangle">
            <a:avLst>
              <a:gd name="adj" fmla="val 78693"/>
            </a:avLst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9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9"/>
          <p:cNvSpPr/>
          <p:nvPr/>
        </p:nvSpPr>
        <p:spPr>
          <a:xfrm rot="10800000" flipH="1">
            <a:off x="-25" y="509100"/>
            <a:ext cx="91623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9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4" name="Google Shape;394;p49"/>
          <p:cNvSpPr txBox="1">
            <a:spLocks noGrp="1"/>
          </p:cNvSpPr>
          <p:nvPr>
            <p:ph type="body" idx="1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5" name="Google Shape;395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7257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9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колонки">
  <p:cSld name="OBJECT_1"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50"/>
          <p:cNvSpPr/>
          <p:nvPr/>
        </p:nvSpPr>
        <p:spPr>
          <a:xfrm rot="10800000" flipH="1">
            <a:off x="-19052" y="5096100"/>
            <a:ext cx="9163200" cy="474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50"/>
          <p:cNvSpPr/>
          <p:nvPr/>
        </p:nvSpPr>
        <p:spPr>
          <a:xfrm rot="10800000" flipH="1">
            <a:off x="-25" y="509100"/>
            <a:ext cx="9138900" cy="540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50"/>
          <p:cNvSpPr txBox="1">
            <a:spLocks noGrp="1"/>
          </p:cNvSpPr>
          <p:nvPr>
            <p:ph type="title"/>
          </p:nvPr>
        </p:nvSpPr>
        <p:spPr>
          <a:xfrm>
            <a:off x="-11725" y="-5125"/>
            <a:ext cx="9144000" cy="5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1" name="Google Shape;401;p50"/>
          <p:cNvSpPr txBox="1">
            <a:spLocks noGrp="1"/>
          </p:cNvSpPr>
          <p:nvPr>
            <p:ph type="body" idx="1"/>
          </p:nvPr>
        </p:nvSpPr>
        <p:spPr>
          <a:xfrm>
            <a:off x="48037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2" name="Google Shape;402;p50"/>
          <p:cNvSpPr txBox="1">
            <a:spLocks noGrp="1"/>
          </p:cNvSpPr>
          <p:nvPr>
            <p:ph type="body" idx="2"/>
          </p:nvPr>
        </p:nvSpPr>
        <p:spPr>
          <a:xfrm>
            <a:off x="460325" y="744725"/>
            <a:ext cx="3963000" cy="38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3" name="Google Shape;403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50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дача наборов">
  <p:cSld name="CUSTOM_3"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51"/>
          <p:cNvPicPr preferRelativeResize="0"/>
          <p:nvPr/>
        </p:nvPicPr>
        <p:blipFill rotWithShape="1">
          <a:blip r:embed="rId2">
            <a:alphaModFix/>
          </a:blip>
          <a:srcRect t="5875" b="10910"/>
          <a:stretch/>
        </p:blipFill>
        <p:spPr>
          <a:xfrm>
            <a:off x="-141168" y="-1"/>
            <a:ext cx="9310994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51"/>
          <p:cNvSpPr/>
          <p:nvPr/>
        </p:nvSpPr>
        <p:spPr>
          <a:xfrm>
            <a:off x="-141168" y="-20362"/>
            <a:ext cx="9311100" cy="5172600"/>
          </a:xfrm>
          <a:prstGeom prst="rect">
            <a:avLst/>
          </a:prstGeom>
          <a:solidFill>
            <a:schemeClr val="lt1">
              <a:alpha val="89800"/>
            </a:scheme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51"/>
          <p:cNvSpPr/>
          <p:nvPr/>
        </p:nvSpPr>
        <p:spPr>
          <a:xfrm rot="10800000" flipH="1">
            <a:off x="-139826" y="5115113"/>
            <a:ext cx="9309600" cy="573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51"/>
          <p:cNvSpPr txBox="1"/>
          <p:nvPr/>
        </p:nvSpPr>
        <p:spPr>
          <a:xfrm>
            <a:off x="-141167" y="1947734"/>
            <a:ext cx="9428700" cy="11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ru" sz="72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СДАЧА НАБОРОВ</a:t>
            </a:r>
            <a:endParaRPr sz="11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1"/>
          <p:cNvSpPr/>
          <p:nvPr/>
        </p:nvSpPr>
        <p:spPr>
          <a:xfrm rot="10800000" flipH="1">
            <a:off x="717284" y="3087943"/>
            <a:ext cx="7681800" cy="94500"/>
          </a:xfrm>
          <a:prstGeom prst="rect">
            <a:avLst/>
          </a:prstGeom>
          <a:solidFill>
            <a:srgbClr val="FEA62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FEA62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11" name="Google Shape;411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364" y="4369325"/>
            <a:ext cx="1685836" cy="663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1"/>
          <p:cNvSpPr/>
          <p:nvPr/>
        </p:nvSpPr>
        <p:spPr>
          <a:xfrm>
            <a:off x="575" y="4799850"/>
            <a:ext cx="3757200" cy="27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ru" sz="1400" b="0" i="0" u="none" strike="noStrike" cap="none">
                <a:solidFill>
                  <a:srgbClr val="FEA621"/>
                </a:solidFill>
                <a:latin typeface="Arial"/>
                <a:ea typeface="Arial"/>
                <a:cs typeface="Arial"/>
                <a:sym typeface="Arial"/>
              </a:rPr>
              <a:t> Школа изобретателей www.era.obraz.pro</a:t>
            </a:r>
            <a:endParaRPr sz="1400" b="0" i="0" u="none" strike="noStrike" cap="none">
              <a:solidFill>
                <a:srgbClr val="FEA62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theme" Target="../theme/theme2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  <p:sldLayoutId id="2147483696" r:id="rId2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8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16850" y="1884938"/>
            <a:ext cx="2484000" cy="585900"/>
          </a:xfrm>
        </p:spPr>
        <p:txBody>
          <a:bodyPr/>
          <a:lstStyle/>
          <a:p>
            <a:r>
              <a:rPr lang="en-US" dirty="0">
                <a:latin typeface="Roboto"/>
                <a:ea typeface="Roboto"/>
                <a:cs typeface="Roboto"/>
              </a:rPr>
              <a:t>ТРИЗ</a:t>
            </a:r>
            <a:endParaRPr lang="en-US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5041" y="2131359"/>
            <a:ext cx="4179998" cy="669841"/>
          </a:xfrm>
        </p:spPr>
        <p:txBody>
          <a:bodyPr/>
          <a:lstStyle/>
          <a:p>
            <a:pPr>
              <a:spcAft>
                <a:spcPts val="200"/>
              </a:spcAft>
            </a:pPr>
            <a:r>
              <a:rPr lang="en-US" sz="2100" dirty="0" err="1">
                <a:latin typeface="Roboto"/>
                <a:ea typeface="Roboto"/>
                <a:cs typeface="Roboto"/>
              </a:rPr>
              <a:t>теория</a:t>
            </a:r>
            <a:r>
              <a:rPr lang="en-US" sz="2100" dirty="0">
                <a:latin typeface="Roboto"/>
                <a:ea typeface="Roboto"/>
                <a:cs typeface="Roboto"/>
              </a:rPr>
              <a:t> </a:t>
            </a:r>
            <a:r>
              <a:rPr lang="en-US" sz="2100" dirty="0" err="1">
                <a:latin typeface="Roboto"/>
                <a:ea typeface="Roboto"/>
                <a:cs typeface="Roboto"/>
              </a:rPr>
              <a:t>решения</a:t>
            </a:r>
            <a:endParaRPr lang="en-US" sz="2100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r>
              <a:rPr lang="en-US" sz="2100" dirty="0" err="1">
                <a:latin typeface="Roboto"/>
                <a:ea typeface="Roboto"/>
                <a:cs typeface="Roboto"/>
              </a:rPr>
              <a:t>изобретательских</a:t>
            </a:r>
            <a:r>
              <a:rPr lang="en-US" sz="2100" dirty="0">
                <a:latin typeface="Roboto"/>
                <a:ea typeface="Roboto"/>
                <a:cs typeface="Roboto"/>
              </a:rPr>
              <a:t> </a:t>
            </a:r>
            <a:r>
              <a:rPr lang="en-US" sz="2100" dirty="0" err="1">
                <a:latin typeface="Roboto"/>
                <a:ea typeface="Roboto"/>
                <a:cs typeface="Roboto"/>
              </a:rPr>
              <a:t>задач</a:t>
            </a:r>
            <a:endParaRPr lang="en-US" sz="2100" b="0">
              <a:solidFill>
                <a:srgbClr val="000000"/>
              </a:solidFill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План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занятия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45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61612" y="938230"/>
            <a:ext cx="9217532" cy="3056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1. Разминка «Юный изобретатель»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3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2. Кто такой изобретатель?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2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3. Теория: ТРИЗ, Альтшуллер, противоречие, ИКР, приёмы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10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4. Практика №1: рюкзак и продукты в походе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8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5. Практика №2: «Бумажный мост»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7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6. Защита идей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4 мин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900" b="1" i="0">
                <a:solidFill>
                  <a:srgbClr val="262626"/>
                </a:solidFill>
                <a:latin typeface="Roboto"/>
              </a:rPr>
              <a:t>7. Рефлексия и домашнее задание</a:t>
            </a:r>
            <a:r>
              <a:rPr sz="1600" b="0" i="0">
                <a:solidFill>
                  <a:srgbClr val="7F7F7F"/>
                </a:solidFill>
                <a:latin typeface="Roboto"/>
              </a:rPr>
              <a:t> — 2 мин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Кто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такой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изобретатель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?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22559" y="685118"/>
            <a:ext cx="8173743" cy="515513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Roboto"/>
              </a:rPr>
              <a:t>Задание: за 30 секунд придумайте как можно больше способов использования обычной скрепки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480947"/>
            <a:ext cx="7255671" cy="1994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Работаем командами.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Каждая команда записывает идеи на свой листочек.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Правило изобретателей: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идеи не критикуем — записываем всё, даже самое необычное.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Скрепка — это «ресурс».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Уметь видеть ресурсы в обычных вещах — главный навык изобретателя.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7914" y="3796619"/>
            <a:ext cx="7700000" cy="52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Запомните: изобретатель смотрит на обычную вещь и видит в ней новые возможности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Раньше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изобретатели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перебирали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варианты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707678"/>
            <a:ext cx="7910552" cy="578071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Roboto"/>
              </a:rPr>
              <a:t>10 000 материалов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перепробовал Томас Эдисон, прежде чем нашёл нить для лампочки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5276" y="1393112"/>
            <a:ext cx="7000000" cy="22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0" i="0">
                <a:solidFill>
                  <a:srgbClr val="262626"/>
                </a:solidFill>
                <a:latin typeface="Roboto"/>
              </a:rPr>
              <a:t>Метод «проб и ошибок» работает, но это долго и дорого: сотни и тысячи вариантов, годы труда.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Эдисон о неудачах: </a:t>
            </a:r>
            <a:r>
              <a:rPr sz="1800" b="0" i="1">
                <a:solidFill>
                  <a:srgbClr val="262626"/>
                </a:solidFill>
                <a:latin typeface="Roboto"/>
              </a:rPr>
              <a:t>«Я не ошибался — я нашёл 10 000 способов, которые не работают».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ТРИЗ предлагает другое: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перебирать вслепую, а решать по правилам — за минуты, а не за годы.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245" y="3803664"/>
            <a:ext cx="7910551" cy="46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Вывод: </a:t>
            </a:r>
            <a:r>
              <a:rPr sz="1700" b="0" i="0">
                <a:solidFill>
                  <a:srgbClr val="262626"/>
                </a:solidFill>
                <a:latin typeface="Roboto"/>
              </a:rPr>
              <a:t>сильные решения не ищут перебором — их строят по законам ТРИЗ.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Что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такое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49606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Т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Теория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7283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Р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Решения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05118" y="699999"/>
            <a:ext cx="1887995" cy="110000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И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Изобретательских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0947" y="700000"/>
            <a:ext cx="1700000" cy="110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600"/>
              </a:spcAft>
            </a:pPr>
            <a:r>
              <a:rPr sz="5600" b="1" i="0">
                <a:solidFill>
                  <a:srgbClr val="FEA621"/>
                </a:solidFill>
                <a:latin typeface="Roboto"/>
              </a:rPr>
              <a:t>З</a:t>
            </a:r>
          </a:p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262626"/>
                </a:solidFill>
                <a:latin typeface="Roboto"/>
              </a:rPr>
              <a:t>Задач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2080000"/>
            <a:ext cx="7000000" cy="15871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ТРИЗ — это наука о том, как решать задачи без слепого перебора вариантов.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Сильные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решения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строятся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повторяющимся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законам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 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Эти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законы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можно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выучить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применять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0" i="0" dirty="0">
                <a:solidFill>
                  <a:srgbClr val="262626"/>
                </a:solidFill>
                <a:latin typeface="Roboto"/>
              </a:rPr>
              <a:t>Сегодня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освоим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три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инструмента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противоречие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, ИКР и 4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приёма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849" y="3828624"/>
            <a:ext cx="7700000" cy="50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62626"/>
                </a:solidFill>
                <a:latin typeface="Roboto"/>
              </a:rPr>
              <a:t>ТРИЗ = Теория Решения Изобретательских Задач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Как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появилась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Oval 3"/>
          <p:cNvSpPr/>
          <p:nvPr/>
        </p:nvSpPr>
        <p:spPr>
          <a:xfrm>
            <a:off x="-80947" y="3353993"/>
            <a:ext cx="3250520" cy="1152515"/>
          </a:xfrm>
          <a:prstGeom prst="ellipse">
            <a:avLst/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54000" tIns="50800" rIns="254000" bIns="50800" rtlCol="0" anchor="ctr"/>
          <a:lstStyle/>
          <a:p>
            <a:pPr algn="ctr">
              <a:spcAft>
                <a:spcPts val="400"/>
              </a:spcAft>
            </a:pPr>
            <a:r>
              <a:rPr sz="1800" b="1" i="0" dirty="0">
                <a:solidFill>
                  <a:srgbClr val="FFFFFF"/>
                </a:solidFill>
                <a:latin typeface="Roboto"/>
              </a:rPr>
              <a:t>Г. Альтшуллер</a:t>
            </a:r>
            <a:endParaRPr lang="ru-RU" sz="1800" b="1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ctr">
              <a:spcAft>
                <a:spcPts val="600"/>
              </a:spcAft>
            </a:pPr>
            <a:r>
              <a:rPr sz="1800" b="0" i="0" dirty="0">
                <a:solidFill>
                  <a:srgbClr val="FFFFFF"/>
                </a:solidFill>
                <a:latin typeface="Roboto"/>
              </a:rPr>
              <a:t>1926–1998</a:t>
            </a:r>
            <a:endParaRPr sz="1800" b="0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  <a:p>
            <a:pPr algn="ctr">
              <a:spcAft>
                <a:spcPts val="0"/>
              </a:spcAft>
            </a:pPr>
            <a:r>
              <a:rPr sz="1800" b="0" i="0" dirty="0" err="1">
                <a:solidFill>
                  <a:srgbClr val="FFFFFF"/>
                </a:solidFill>
                <a:latin typeface="Roboto"/>
              </a:rPr>
              <a:t>создатель</a:t>
            </a:r>
            <a:r>
              <a:rPr sz="1800" b="0" i="0" dirty="0">
                <a:solidFill>
                  <a:srgbClr val="FFFFFF"/>
                </a:solidFill>
                <a:latin typeface="Roboto"/>
              </a:rPr>
              <a:t> ТРИЗ</a:t>
            </a:r>
            <a:endParaRPr sz="1800" b="0" i="0" dirty="0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72954" y="712322"/>
            <a:ext cx="5900000" cy="35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В 17 лет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Альтшуллер изобрёл «мотокар» — машину, которая струёй воздуха спасает записку от огня, не туша его.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Изучив десятки тысяч патентов,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заметил: самые сильные решения повторяются.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В 1946 году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собрал эти закономерности в систему — и назвал её ТРИЗ.</a:t>
            </a:r>
          </a:p>
          <a:p>
            <a:pPr marL="457200" indent="-342900" algn="l">
              <a:lnSpc>
                <a:spcPct val="110000"/>
              </a:lnSpc>
              <a:spcAft>
                <a:spcPts val="14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Он учил изобретать каждого: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его книги и сейчас учат думать нестандартно.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982414A-A045-408F-BF91-F24C7D08E5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48" y="714374"/>
            <a:ext cx="1756086" cy="251159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Противоречие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—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главный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инструмент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ТРИЗ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94724" y="624960"/>
            <a:ext cx="7993269" cy="710869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ПРОТИВОРЕЧИЕ —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когда одно и то же должно быть «таким» И «не таким» одновременно.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559" y="1485592"/>
            <a:ext cx="372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Хотим: зонт БОЛЬШОЙ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Roboto"/>
              </a:rPr>
              <a:t>чтобы спрятаться от ливня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0000" y="1485592"/>
            <a:ext cx="3720000" cy="16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Хотим: зонт МАЛЕНЬКИЙ</a:t>
            </a:r>
          </a:p>
          <a:p>
            <a:pPr algn="ctr">
              <a:spcAft>
                <a:spcPts val="0"/>
              </a:spcAft>
            </a:pPr>
            <a:r>
              <a:rPr sz="1700" b="0" i="0">
                <a:solidFill>
                  <a:srgbClr val="262626"/>
                </a:solidFill>
                <a:latin typeface="Roboto"/>
              </a:rPr>
              <a:t>чтобы помещался в рюкзак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599" y="3260553"/>
            <a:ext cx="7700000" cy="11500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800"/>
              </a:spcAft>
            </a:pPr>
            <a:r>
              <a:rPr sz="1800" b="1" i="0">
                <a:solidFill>
                  <a:srgbClr val="262626"/>
                </a:solidFill>
                <a:latin typeface="Roboto"/>
              </a:rPr>
              <a:t>Одновременно и большой, и маленький?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Это и есть противоречие.</a:t>
            </a:r>
          </a:p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FEA621"/>
                </a:solidFill>
                <a:latin typeface="Roboto"/>
              </a:rPr>
              <a:t>Решение ТРИЗ: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зонт-складышка — большой, когда нужен, и маленький, когда в рюкзаке.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ИКР —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Идеальный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Конечный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Результат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40000"/>
            <a:ext cx="7797756" cy="580473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ИКР: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представь, как задача решается САМА — «по идеалу», без затрат.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0000" y="1377914"/>
            <a:ext cx="7000000" cy="20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Системы нет, а результат есть: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посуда моется сама, свет зажигается без щелчка.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Чем ближе твоё решение к ИКР —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тем оно сильнее и проще.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0" i="0">
                <a:solidFill>
                  <a:srgbClr val="262626"/>
                </a:solidFill>
                <a:latin typeface="Roboto"/>
              </a:rPr>
              <a:t>ИКР почти никогда не выполняется на 100%, </a:t>
            </a:r>
            <a:r>
              <a:rPr sz="1800" b="1" i="0">
                <a:solidFill>
                  <a:srgbClr val="262626"/>
                </a:solidFill>
                <a:latin typeface="Roboto"/>
              </a:rPr>
              <a:t>но он показывает верное направление.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0000" y="3681105"/>
            <a:ext cx="7700000" cy="52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262626"/>
                </a:solidFill>
                <a:latin typeface="Roboto"/>
              </a:rPr>
              <a:t>Помни: сначала сформулируй ИКР — и только потом ищи ответ!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приёма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,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которые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решают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задачи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:</a:t>
            </a:r>
            <a:endParaRPr lang="en-US" dirty="0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41691" y="825276"/>
            <a:ext cx="3720000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ДРОБЛЕНИЕ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Раздели объект на части: шоколад на дольки, лист на полоски.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56967" y="825276"/>
            <a:ext cx="3915513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ОБЪЕДИНЕНИЕ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Соедини полезное в одном: ручка с ластиком, мост из слоёв бумаги.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1691" y="2570632"/>
            <a:ext cx="3720000" cy="1420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МАТРЁШКА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Вложи одно в другое: стопка бумаг, складная мебель.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7" y="2570632"/>
            <a:ext cx="3915513" cy="136736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1000"/>
              </a:spcAft>
            </a:pPr>
            <a:r>
              <a:rPr sz="2200" b="1" i="0">
                <a:solidFill>
                  <a:srgbClr val="FEA621"/>
                </a:solidFill>
                <a:latin typeface="Roboto"/>
              </a:rPr>
              <a:t>НАОБОРОТ</a:t>
            </a:r>
          </a:p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262626"/>
                </a:solidFill>
                <a:latin typeface="Roboto"/>
              </a:rPr>
              <a:t>Сделай наоборот: груз не тащим — пусть катится сам.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Задача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Тяжёлый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рюкзак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24961"/>
            <a:ext cx="8316617" cy="9401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FEA621"/>
                </a:solidFill>
                <a:latin typeface="Roboto"/>
              </a:rPr>
              <a:t>Ситуация</a:t>
            </a:r>
            <a:r>
              <a:rPr lang="ru-RU" sz="1700" b="1" dirty="0">
                <a:solidFill>
                  <a:srgbClr val="FEA621"/>
                </a:solidFill>
                <a:latin typeface="Roboto"/>
              </a:rPr>
              <a:t>:</a:t>
            </a:r>
            <a:endParaRPr lang="ru-RU" sz="1700" b="1" i="0" dirty="0">
              <a:solidFill>
                <a:srgbClr val="FEA621"/>
              </a:solidFill>
              <a:latin typeface="Roboto"/>
              <a:ea typeface="Roboto"/>
              <a:cs typeface="Roboto"/>
            </a:endParaRP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262626"/>
                </a:solidFill>
                <a:latin typeface="Roboto"/>
              </a:rPr>
              <a:t>Каждое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утро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ученик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тащит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в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школу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тяжёлый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рюкзак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там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все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учебники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 А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выбросить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ничего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нельзя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—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всё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нужно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</a:t>
            </a:r>
            <a:endParaRPr sz="1800" b="0" i="0" dirty="0">
              <a:solidFill>
                <a:srgbClr val="262626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0000" y="1620000"/>
            <a:ext cx="8316617" cy="600473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сделай рюкзак лёгким так, чтобы всё нужное осталось под рукой.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2243" y="2295196"/>
            <a:ext cx="7210553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Подумай: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что на самом деле делает рюкзак тяжёлым? Какие учебники нужны сегодня, а какие нет?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Какие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приёмы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помогут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ДРОБЛЕНИЕ, ОБЪЕДИНЕНИЕ, НАОБОРОТ?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ИКР: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рюкзак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становится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лёгким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как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только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что-то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перестаёт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быть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нужным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243" y="3920947"/>
            <a:ext cx="8316617" cy="595356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Сильное решение найдёт та команда, которая сначала сформулирует ИКР, а потом будет искать приёмы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Задача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Продукты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в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походе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4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40000"/>
            <a:ext cx="7700000" cy="88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l">
              <a:spcAft>
                <a:spcPts val="600"/>
              </a:spcAft>
            </a:pPr>
            <a:r>
              <a:rPr sz="1700" b="1" i="0" dirty="0">
                <a:solidFill>
                  <a:srgbClr val="FEA621"/>
                </a:solidFill>
                <a:latin typeface="Roboto"/>
              </a:rPr>
              <a:t>Ситуация</a:t>
            </a:r>
            <a:r>
              <a:rPr lang="ru-RU" sz="1700" b="1" dirty="0">
                <a:solidFill>
                  <a:srgbClr val="FEA621"/>
                </a:solidFill>
                <a:latin typeface="Roboto"/>
              </a:rPr>
              <a:t>:</a:t>
            </a:r>
            <a:endParaRPr lang="ru-RU" sz="1700" b="1" i="0" dirty="0">
              <a:solidFill>
                <a:srgbClr val="FEA621"/>
              </a:solidFill>
              <a:latin typeface="Roboto"/>
              <a:ea typeface="Roboto"/>
              <a:cs typeface="Roboto"/>
            </a:endParaRP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262626"/>
                </a:solidFill>
                <a:latin typeface="Roboto"/>
              </a:rPr>
              <a:t>Семья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идёт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в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однодневный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поход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 Хочется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есть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вкусно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полезно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нести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тяжело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, а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продукты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800" b="0" i="0" dirty="0" err="1">
                <a:solidFill>
                  <a:srgbClr val="262626"/>
                </a:solidFill>
                <a:latin typeface="Roboto"/>
              </a:rPr>
              <a:t>портятся</a:t>
            </a:r>
            <a:r>
              <a:rPr sz="1800" b="0" i="0" dirty="0">
                <a:solidFill>
                  <a:srgbClr val="262626"/>
                </a:solidFill>
                <a:latin typeface="Roboto"/>
              </a:rPr>
              <a:t>.</a:t>
            </a:r>
            <a:endParaRPr sz="1800" b="0" i="0" dirty="0">
              <a:solidFill>
                <a:srgbClr val="262626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00000" y="1620000"/>
            <a:ext cx="7700000" cy="610394"/>
          </a:xfrm>
          <a:prstGeom prst="roundRect">
            <a:avLst>
              <a:gd name="adj" fmla="val 12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собери обед на день так, чтобы было и вкусно, и легко, и ничего не испортилось.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0000" y="2240000"/>
            <a:ext cx="7000000" cy="17851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Выбирай лёгкое и сытное: 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орехи, сухофрукты, батончики, бутерброды.</a:t>
            </a:r>
            <a:endParaRPr lang="ru-RU" sz="16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Свежее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быстро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1" i="0" dirty="0" err="1">
                <a:solidFill>
                  <a:srgbClr val="262626"/>
                </a:solidFill>
                <a:latin typeface="Roboto"/>
              </a:rPr>
              <a:t>портится</a:t>
            </a:r>
            <a:r>
              <a:rPr sz="1600" b="1" i="0" dirty="0">
                <a:solidFill>
                  <a:srgbClr val="262626"/>
                </a:solidFill>
                <a:latin typeface="Roboto"/>
              </a:rPr>
              <a:t>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бери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что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переживёт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день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Горячее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— в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термосе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600" b="1" i="0" dirty="0">
                <a:solidFill>
                  <a:srgbClr val="262626"/>
                </a:solidFill>
                <a:latin typeface="Roboto"/>
              </a:rPr>
              <a:t>ИКР: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еда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сохраняется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сама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утоляет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голод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и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почти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ничего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не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1600" b="0" i="0" dirty="0" err="1">
                <a:solidFill>
                  <a:srgbClr val="262626"/>
                </a:solidFill>
                <a:latin typeface="Roboto"/>
              </a:rPr>
              <a:t>весит</a:t>
            </a:r>
            <a:r>
              <a:rPr sz="1600" b="0" i="0" dirty="0">
                <a:solidFill>
                  <a:srgbClr val="262626"/>
                </a:solidFill>
                <a:latin typeface="Roboto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2243" y="4023664"/>
            <a:ext cx="7700000" cy="440000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Вспомни приёмы: ОБЪЕДИНЕНИЕ и НАОБОРОТ — лучшие друзья туриста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Практика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№2 «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Бумажный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мост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» · 7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00000" y="660000"/>
            <a:ext cx="1095236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лист А4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607797" y="660000"/>
            <a:ext cx="1275709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ножницы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03586" y="660000"/>
            <a:ext cx="1000592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скотч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01697" y="660000"/>
            <a:ext cx="1695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2 книги-опоры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24296" y="660000"/>
            <a:ext cx="1465000" cy="36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62626"/>
                </a:solidFill>
                <a:latin typeface="Roboto"/>
              </a:rPr>
              <a:t>ластик-груз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0000" y="1120000"/>
            <a:ext cx="7700000" cy="640000"/>
          </a:xfrm>
          <a:prstGeom prst="roundRect">
            <a:avLst>
              <a:gd name="adj" fmla="val 10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Roboto"/>
              </a:rPr>
              <a:t>Задание: </a:t>
            </a:r>
            <a:r>
              <a:rPr sz="1800" b="0" i="0">
                <a:solidFill>
                  <a:srgbClr val="FFFFFF"/>
                </a:solidFill>
                <a:latin typeface="Roboto"/>
              </a:rPr>
              <a:t>построй мост из ОДНОГО листа А4 между двумя книгами, который выдержит ластик не меньше 5 секунд.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6888" y="2090552"/>
            <a:ext cx="8805400" cy="480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EA621"/>
                </a:solidFill>
                <a:latin typeface="Roboto"/>
              </a:rPr>
              <a:t>Проверка: </a:t>
            </a:r>
            <a:r>
              <a:rPr sz="1700" b="0" i="0">
                <a:solidFill>
                  <a:srgbClr val="262626"/>
                </a:solidFill>
                <a:latin typeface="Roboto"/>
              </a:rPr>
              <a:t>пролёт не меньше 8 см · мост стоит сам · только выданные материалы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402" y="2966224"/>
            <a:ext cx="8443789" cy="11653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Сложи лист «гармошкой» —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он станет жёсткой балкой.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Сделай рёбра жёсткости: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загни края, как у гофрокартона.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Приём «наоборот»: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ищем толстый материал — усиливаем форму.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Как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докладывать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решение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3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 dirty="0" err="1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136809" y="680000"/>
            <a:ext cx="182319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1 Проблема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30000" y="680000"/>
            <a:ext cx="2071341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2 Противоречие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6382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3 ИКР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01342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4 Приёмы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9020" y="680000"/>
            <a:ext cx="1560000" cy="520000"/>
          </a:xfrm>
          <a:prstGeom prst="roundRect">
            <a:avLst>
              <a:gd name="adj" fmla="val 14000"/>
            </a:avLst>
          </a:prstGeom>
          <a:solidFill>
            <a:srgbClr val="FEA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Roboto"/>
              </a:rPr>
              <a:t>5 Решение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000" y="1620632"/>
            <a:ext cx="7000000" cy="190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За 1 минуту команда проходит шаги 1–5: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так получается короткий и понятный рассказ о решении.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Говорят все, кто придумал.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Не читают листочек, а рассказывают своими словами.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1800" b="1" i="0">
                <a:solidFill>
                  <a:srgbClr val="262626"/>
                </a:solidFill>
                <a:latin typeface="Roboto"/>
              </a:rPr>
              <a:t>Побеждает не «правильный ответ», </a:t>
            </a:r>
            <a:r>
              <a:rPr sz="1800" b="0" i="0">
                <a:solidFill>
                  <a:srgbClr val="262626"/>
                </a:solidFill>
                <a:latin typeface="Roboto"/>
              </a:rPr>
              <a:t>а ход мысли — ТРИЗ-алгоритм.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0000" y="3841264"/>
            <a:ext cx="7782717" cy="527677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 w="19050">
            <a:solidFill>
              <a:srgbClr val="FEA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77800" tIns="76200" rIns="177800" bIns="76200" rtlCol="0" anchor="ctr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262626"/>
                </a:solidFill>
                <a:latin typeface="Roboto"/>
              </a:rPr>
              <a:t>1 минута на команду · слушаем всех · обязательный дежурный вопрос: «Где здесь противоречие?»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Рефлексия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: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чему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мы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научились</a:t>
            </a:r>
            <a:r>
              <a:rPr lang="en-US" b="1" dirty="0">
                <a:solidFill>
                  <a:srgbClr val="262626"/>
                </a:solidFill>
                <a:latin typeface="Roboto"/>
                <a:ea typeface="Roboto"/>
                <a:cs typeface="Roboto"/>
              </a:rPr>
              <a:t> · 2 </a:t>
            </a:r>
            <a:r>
              <a:rPr lang="en-US" b="1" dirty="0" err="1">
                <a:solidFill>
                  <a:srgbClr val="262626"/>
                </a:solidFill>
                <a:latin typeface="Roboto"/>
                <a:ea typeface="Roboto"/>
                <a:cs typeface="Roboto"/>
              </a:rPr>
              <a:t>минуты</a:t>
            </a:r>
            <a:endParaRPr lang="en-US">
              <a:latin typeface="Roboto"/>
              <a:ea typeface="Roboto"/>
              <a:cs typeface="Roboto"/>
            </a:endParaRPr>
          </a:p>
          <a:p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545118" y="1497092"/>
            <a:ext cx="8774656" cy="12606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1. 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Объясни соседу своими словами, что такое противоречие.</a:t>
            </a:r>
            <a:endParaRPr lang="ru-RU" sz="2000" b="0" i="0" dirty="0">
              <a:solidFill>
                <a:srgbClr val="262626"/>
              </a:solidFill>
              <a:latin typeface="Roboto"/>
            </a:endParaRP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2.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Назови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два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ТРИЗ-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приёма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из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сегодняшнего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урока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.</a:t>
            </a:r>
          </a:p>
          <a:p>
            <a:pPr marL="457200" indent="-342900" algn="l">
              <a:lnSpc>
                <a:spcPct val="105000"/>
              </a:lnSpc>
              <a:spcAft>
                <a:spcPts val="1200"/>
              </a:spcAft>
              <a:buClr>
                <a:srgbClr val="000000"/>
              </a:buClr>
              <a:buSzPts val="1800"/>
              <a:buFont typeface="Arial"/>
              <a:buChar char="●"/>
            </a:pPr>
            <a:r>
              <a:rPr sz="2000" b="1" i="0" dirty="0">
                <a:solidFill>
                  <a:srgbClr val="FEA621"/>
                </a:solidFill>
                <a:latin typeface="Roboto"/>
              </a:rPr>
              <a:t>3.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Придумай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,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где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дома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ты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уже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сегодня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</a:t>
            </a:r>
            <a:r>
              <a:rPr sz="2000" b="0" i="0" dirty="0" err="1">
                <a:solidFill>
                  <a:srgbClr val="262626"/>
                </a:solidFill>
                <a:latin typeface="Roboto"/>
              </a:rPr>
              <a:t>применишь</a:t>
            </a:r>
            <a:r>
              <a:rPr sz="2000" b="0" i="0" dirty="0">
                <a:solidFill>
                  <a:srgbClr val="262626"/>
                </a:solidFill>
                <a:latin typeface="Roboto"/>
              </a:rPr>
              <a:t> ТРИЗ.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0000" y="1500000"/>
            <a:ext cx="7700000" cy="9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FEA621"/>
                </a:solidFill>
                <a:latin typeface="Roboto"/>
              </a:rPr>
              <a:t>Спасибо за идеи!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0000" y="2560000"/>
            <a:ext cx="6200000" cy="7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262626"/>
                </a:solidFill>
                <a:latin typeface="Roboto"/>
              </a:rPr>
              <a:t>ТРИЗ — это не магия, а навык: находи противоречие, рисуй ИКР, применяй приёмы.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0000" y="3400000"/>
            <a:ext cx="6200000" cy="400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7F7F7F"/>
                </a:solidFill>
                <a:latin typeface="Roboto"/>
              </a:rPr>
              <a:t>Школа изобретателей «Эра Инженеров» · era.obraz.pro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Экран (16:9)</PresentationFormat>
  <Slides>19</Slides>
  <Notes>0</Notes>
  <HiddenSlides>0</HiddenSlides>
  <ScaleCrop>false</ScaleCrop>
  <HeadingPairs>
    <vt:vector size="4" baseType="variant"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19</vt:i4>
      </vt:variant>
    </vt:vector>
  </HeadingPairs>
  <TitlesOfParts>
    <vt:vector size="21" baseType="lpstr">
      <vt:lpstr>Тема Office</vt:lpstr>
      <vt:lpstr>Тема Office</vt:lpstr>
      <vt:lpstr>ТРИЗ </vt:lpstr>
      <vt:lpstr>План занятия · 45 минут </vt:lpstr>
      <vt:lpstr>Презентация PowerPoint</vt:lpstr>
      <vt:lpstr>Кто такой изобретатель? </vt:lpstr>
      <vt:lpstr>Презентация PowerPoint</vt:lpstr>
      <vt:lpstr>Раньше изобретатели перебирали варианты </vt:lpstr>
      <vt:lpstr>Что такое ТРИЗ </vt:lpstr>
      <vt:lpstr>Как появилась ТРИЗ </vt:lpstr>
      <vt:lpstr>Противоречие — главный инструмент ТРИЗ </vt:lpstr>
      <vt:lpstr>ИКР — Идеальный Конечный Результат </vt:lpstr>
      <vt:lpstr>4 приёма, которые решают задачи: </vt:lpstr>
      <vt:lpstr>Презентация PowerPoint</vt:lpstr>
      <vt:lpstr>Задача «Тяжёлый рюкзак» · 4 минуты </vt:lpstr>
      <vt:lpstr>Задача «Продукты в походе» · 4 минуты </vt:lpstr>
      <vt:lpstr>Практика №2 «Бумажный мост» · 7 минут </vt:lpstr>
      <vt:lpstr>Презентация PowerPoint</vt:lpstr>
      <vt:lpstr>Как докладывать решение · 3 минуты </vt:lpstr>
      <vt:lpstr>Рефлексия: чему мы научились · 2 минуты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115</cp:revision>
  <dcterms:modified xsi:type="dcterms:W3CDTF">2026-09-24T16:30:14Z</dcterms:modified>
</cp:coreProperties>
</file>