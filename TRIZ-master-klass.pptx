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  <p:sldMasterId id="2147483698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9E0C58-3F73-4C9E-85B3-B02D956A2561}" v="285" dt="2026-09-18T08:52:31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Титульный слайд.</a:t>
            </a:r>
          </a:p>
          <a:p>
            <a:r>
              <a:t>1. Поприветствуем, назовём тему: «Сегодня каждый станет изобретателем».</a:t>
            </a:r>
          </a:p>
          <a:p>
            <a:r>
              <a:t>2. Спросите: «Кто такой изобретатель? Что он делает?» — короткие ответы с мест.</a:t>
            </a:r>
          </a:p>
          <a:p>
            <a:r>
              <a:t>3. Объявите задачу мастер-класса: научиться решать задачи по одному алгоритму.</a:t>
            </a:r>
          </a:p>
          <a:p>
            <a:r>
              <a:t>4. Разделите класс на команды по 4–5 человек (им понадобятся лист и ручка).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План занятия.</a:t>
            </a:r>
          </a:p>
          <a:p>
            <a:r>
              <a:t>Покажите маршрут и скажите: «Все этапы пройдём за 45 минут».</a:t>
            </a:r>
          </a:p>
          <a:p>
            <a:r>
              <a:t>Подчеркните логику: разминка → теория → практика → защита.</a:t>
            </a:r>
          </a:p>
          <a:p>
            <a:r>
              <a:t>Если времени мало, места сокращения: слайды «Эдисон» и «ИКР» (можно быстрее).</a:t>
            </a:r>
          </a:p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Слайд-разделитель «Игра Разминка».</a:t>
            </a:r>
          </a:p>
          <a:p>
            <a:r>
              <a:t>Время: ~3 минуты. Тема: «Кто такой изобретатель?»</a:t>
            </a:r>
          </a:p>
          <a:p>
            <a:r>
              <a:t>Приём: записывайте ВСЕ ответы детей — даже смешные. Правило на весь урок: идеи не критикуем.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Упражнение со скрепкой (2 мин).</a:t>
            </a:r>
          </a:p>
          <a:p>
            <a:r>
              <a:t>За 30 секунд команды придумывают способы использования скрепки и записывают.</a:t>
            </a:r>
          </a:p>
          <a:p>
            <a:r>
              <a:t>Спросите 2–3 команды по одной самой необычной идее и похвалите.</a:t>
            </a:r>
          </a:p>
          <a:p>
            <a:r>
              <a:t>Вывод, который нужно подвести: у обычной вещи есть скрытые «ресурсы» — это и использует изобретатель.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Слайд-разделитель «ТЕОРИЯ».</a:t>
            </a:r>
          </a:p>
          <a:p>
            <a:r>
              <a:t>Мостик: «Разминка показала — идеи уже есть. Теперь узнаем правила, по которым рождаются сильные решения».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Эдисон и «10 000 материалов» (2–3 мин).</a:t>
            </a:r>
          </a:p>
          <a:p>
            <a:r>
              <a:t>Расскажите историю: Эдисон испробовал около 10 000 материалов для нити лампочки.</a:t>
            </a:r>
          </a:p>
          <a:p>
            <a:r>
              <a:t>Спросите: «Сильное ли это решение?» Вывод: перебор работает, но это долго и дорого.</a:t>
            </a:r>
          </a:p>
          <a:p>
            <a:r>
              <a:t>Анонс: ТРИЗ позволяет решать без слепого перебора — за минуты.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Что такое ТРИЗ (2 мин).</a:t>
            </a:r>
          </a:p>
          <a:p>
            <a:r>
              <a:t>Расшифруйте аббревиатуру по буквам (Т-Р-И-З).</a:t>
            </a:r>
          </a:p>
          <a:p>
            <a:r>
              <a:t>Ключевая мысль: изобретать — это НАВЫК, а не врождённый талант. Ему можно научиться.</a:t>
            </a:r>
          </a:p>
          <a:p>
            <a:r>
              <a:t>Сегодня освоим 3 инструмента: противоречие, ИКР, 4 приёма.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Генрих Альтшуллер (3 мин).</a:t>
            </a:r>
          </a:p>
          <a:p>
            <a:r>
              <a:t>Расскажите: в 17 лет изобрёл «мотокар» (спасает записку от огня струёй воздуха).</a:t>
            </a:r>
          </a:p>
          <a:p>
            <a:r>
              <a:t>Изучив десятки тысяч патентов, увидел: сильные решения повторяются.</a:t>
            </a:r>
          </a:p>
          <a:p>
            <a:r>
              <a:t>В 1946 году создал ТРИЗ. Вывод: можно не изобретать заново, а применять найденные законы.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ПРОТИВОРЕЧИЕ — главный слайд теории (5 мин).</a:t>
            </a:r>
          </a:p>
          <a:p>
            <a:r>
              <a:t>Прочитайте определение. Разберите зонт: хотим БОЛЬШОЙ (накрывает) и МАЛЕНЬКИЙ (носим в рюкзаке).</a:t>
            </a:r>
          </a:p>
          <a:p>
            <a:r>
              <a:t>Спросите класс: «Как разрешить?» Ждём ответ «складывается».</a:t>
            </a:r>
          </a:p>
          <a:p>
            <a:r>
              <a:t>Закрепите: попросите придумать ещё 1–2 противоречия из жизни (например, чай горячий и не обжигает).</a:t>
            </a:r>
          </a:p>
          <a:p>
            <a:r>
              <a:t>Этот навык — опора для практикумов, не пропускайте.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ИКР — Идеальный Конечный Результат (3 мин).</a:t>
            </a:r>
          </a:p>
          <a:p>
            <a:r>
              <a:t>Объясните: представляем, что задача решается САМА (посуда моется сама, свет загорается сам).</a:t>
            </a:r>
          </a:p>
          <a:p>
            <a:r>
              <a:t>Важно: ИКР редко достижим на 100%, но он задаёт направление.</a:t>
            </a:r>
          </a:p>
          <a:p>
            <a:r>
              <a:t>Правило урока: «Сначала сформулируй ИКР — потом ищи ответ».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 приёма (4 мин).</a:t>
            </a:r>
          </a:p>
          <a:p>
            <a:r>
              <a:t>Разберите по одному, приведите пример из жизни: ДРОБЛЕНИЕ (шоколад на дольки), ОБЪЕДИНЕНИЕ (ручка с ластиком), МАТРЁШКА (складная мебель), НАОБОРОТ (не тащим груз — он катится).</a:t>
            </a:r>
          </a:p>
          <a:p>
            <a:r>
              <a:t>Попросите класс дать свой пример на любой приём.</a:t>
            </a:r>
          </a:p>
          <a:p>
            <a:r>
              <a:t>Эти приёмы пригодятся в задачах «Рюкзак», «Продукты», «Мост».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Слайд-разделитель «ПРАКТИКА».</a:t>
            </a:r>
          </a:p>
          <a:p>
            <a:r>
              <a:t>Переход: «Теперь применяем теорию». Время: 8 мин на два задания «Рюкзак» и «Продукты».</a:t>
            </a:r>
          </a:p>
          <a:p>
            <a:r>
              <a:t>Напомните регламент: решение записываем, защита — по номерам.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Задача «Тяжёлый рюкзак» (4 мин).</a:t>
            </a:r>
          </a:p>
          <a:p>
            <a:r>
              <a:t>Зачитайте ситуацию. Не раскрывайте готовый ответ — направляйте вопросами:</a:t>
            </a:r>
          </a:p>
          <a:p>
            <a:r>
              <a:t>«Что на самом деле создаёт вес? Нужны ли завтрашние учебники? Что можно заменить?»</a:t>
            </a:r>
          </a:p>
          <a:p>
            <a:r>
              <a:t>Подсказка-направление: сформулировать ИКР («рюкзак сам становится лёгким»).</a:t>
            </a:r>
          </a:p>
          <a:p>
            <a:r>
              <a:t>Возможные решения: носить только обязательное, электронные версии, разложить по дням.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Задача «Продукты в походе» (4 мин).</a:t>
            </a:r>
          </a:p>
          <a:p>
            <a:r>
              <a:t>Зачитайте ситуацию. Наводящие вопросы:</a:t>
            </a:r>
          </a:p>
          <a:p>
            <a:r>
              <a:t>— какое здесь противоречие? (хочется свежее и вкусное, но тяжело нести и портится)</a:t>
            </a:r>
          </a:p>
          <a:p>
            <a:r>
              <a:t>— что рациональнее взять? (лёгкое и сытное: орехи, сухофрукты; горячее — в термосе)</a:t>
            </a:r>
          </a:p>
          <a:p>
            <a:r>
              <a:t>Разрешено несколько верных решений — поощряйте это.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Практика №2 «Бумажный мост» (7 мин) — конструирование.</a:t>
            </a:r>
          </a:p>
          <a:p>
            <a:r>
              <a:t>Выдайте каждой команде: 1 лист А4, ножницы, скотч, 2 книги, ластик.</a:t>
            </a:r>
          </a:p>
          <a:p>
            <a:r>
              <a:t>Критерии (на слайде): пролёт не меньше 8 см, держит ластик 5 секунд, только выданные материалы.</a:t>
            </a:r>
          </a:p>
          <a:p>
            <a:r>
              <a:t>Не показывайте решение сразу! Если команда строит плоский лист — пусть сама обнаружит нехватку жёсткости.</a:t>
            </a:r>
          </a:p>
          <a:p>
            <a:r>
              <a:t>Ожидаемые решения: лист «гармошкой», рёбра жёсткости (загнутые края), балка из складок.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Слайд-разделитель «ЗАЩИТА».</a:t>
            </a:r>
          </a:p>
          <a:p>
            <a:r>
              <a:t>Соберите внимание, озвучьте регламент: 1 минута на команду.</a:t>
            </a:r>
          </a:p>
          <a:p>
            <a:r>
              <a:t>Напомните пять шагов выступления (следующий слайд).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докладывать решение (3 мин).</a:t>
            </a:r>
          </a:p>
          <a:p>
            <a:r>
              <a:t>Проведите защиты по шагам 1–5: Проблема → Противоречие → ИКР → Приёмы → Решение.</a:t>
            </a:r>
          </a:p>
          <a:p>
            <a:r>
              <a:t>Каждой команде задайте контрольный вопрос: «Где здесь противоречие?» — главный навык урока.</a:t>
            </a:r>
          </a:p>
          <a:p>
            <a:r>
              <a:t>Хвалите ход мысли, а не только итоговый ответ.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Рефлексия (2 мин).</a:t>
            </a:r>
          </a:p>
          <a:p>
            <a:r>
              <a:t>Вопросы дайте в парах — 30 секунд на обсуждение каждого.</a:t>
            </a:r>
          </a:p>
          <a:p>
            <a:r>
              <a:t>Пройдитесь по ответам 2–3 пар, чтобы закрепить термины.</a:t>
            </a:r>
          </a:p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Финал (1 мин).</a:t>
            </a:r>
          </a:p>
          <a:p>
            <a:r>
              <a:t>Поблагодарите команды. Эмоциональное резюме: «ТРИЗ — это не магия, а навык, который теперь у вас».</a:t>
            </a:r>
          </a:p>
          <a:p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mailto:info@obraz.pro" TargetMode="Externa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4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">
  <p:cSld name="CUSTOM_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">
  <p:cSld name="CUSTOM_2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">
  <p:cSld name="TITLE_2_3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 rot="10800000" flipH="1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>
  <p:cSld name="TITLE_3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ubTitle" idx="1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занятие">
  <p:cSld name="CUSTOM_4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sz="27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 1">
  <p:cSld name="CUSTOM_2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">
  <p:cSld name="TITLE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 rot="10800000" flipH="1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2">
  <p:cSld name="TITLE_2_4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827923" y="10527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>
                <a:solidFill>
                  <a:srgbClr val="FEA621"/>
                </a:solidFill>
              </a:rPr>
              <a:t>Игра Разминка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 rot="10800000" flipH="1">
            <a:off x="1869889" y="235480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2 1">
  <p:cSld name="TITLE_2_4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827923" y="10527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>
                <a:solidFill>
                  <a:srgbClr val="FEA621"/>
                </a:solidFill>
              </a:rPr>
              <a:t>Игра на 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2"/>
          <p:cNvSpPr/>
          <p:nvPr/>
        </p:nvSpPr>
        <p:spPr>
          <a:xfrm rot="10800000" flipH="1">
            <a:off x="1869889" y="235480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">
  <p:cSld name="TITLE_2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rot="10800000" flipH="1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2">
  <p:cSld name="TITLE_2_3_1_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rot="10800000" flipH="1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">
  <p:cSld name="TITLE_2_3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 rot="10800000" flipH="1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">
  <p:cSld name="TITLE_2_3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">
  <p:cSld name="TITLE_2_3_1_1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 rot="10800000" flipH="1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 1">
  <p:cSld name="TITLE_2_3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ОРЕВНОВАНИЯ">
  <p:cSld name="CUSTOM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2">
            <a:alphaModFix/>
          </a:blip>
          <a:srcRect t="15609" b="907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sz="72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 rot="10800000" flipH="1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">
  <p:cSld name="CUSTOM_1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ubTitle" idx="4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2">
  <p:cSld name="CUSTOM_1_1_1_4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6" name="Google Shape;16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1">
  <p:cSld name="CUSTOM_1_1_1_3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1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rot="10800000" flipH="1">
            <a:off x="4162568" y="-72"/>
            <a:ext cx="4981500" cy="10632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 rot="10800000" flipH="1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OBJECT_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 rot="-5400000" flipH="1">
            <a:off x="5963525" y="1981200"/>
            <a:ext cx="5216400" cy="11811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 rot="10800000" flipH="1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колонки">
  <p:cSld name="OBJECT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/>
          <p:nvPr/>
        </p:nvSpPr>
        <p:spPr>
          <a:xfrm rot="10800000" flipH="1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body" idx="2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">
  <p:cSld name="CUSTOM_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/>
          <p:cNvPicPr preferRelativeResize="0"/>
          <p:nvPr/>
        </p:nvPicPr>
        <p:blipFill rotWithShape="1">
          <a:blip r:embed="rId2">
            <a:alphaModFix/>
          </a:blip>
          <a:srcRect t="5873" b="10915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 rot="10800000" flipH="1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 1">
  <p:cSld name="CUSTOM_3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7"/>
          <p:cNvPicPr preferRelativeResize="0"/>
          <p:nvPr/>
        </p:nvPicPr>
        <p:blipFill rotWithShape="1">
          <a:blip r:embed="rId2">
            <a:alphaModFix/>
          </a:blip>
          <a:srcRect t="5875" b="10910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7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>
                <a:solidFill>
                  <a:srgbClr val="FEA621"/>
                </a:solidFill>
              </a:rPr>
              <a:t>УБОРКА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 rot="10800000" flipH="1">
            <a:off x="1984300" y="3079450"/>
            <a:ext cx="49122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4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subTitle" idx="1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ubTitle" idx="2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ubTitle" idx="3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">
  <p:cSld name="CUSTOM_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">
  <p:cSld name="CUSTOM_2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5" name="Google Shape;24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">
  <p:cSld name="TITLE_2_3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2"/>
          <p:cNvSpPr/>
          <p:nvPr/>
        </p:nvSpPr>
        <p:spPr>
          <a:xfrm rot="10800000" flipH="1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>
  <p:cSld name="TITLE_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 txBox="1">
            <a:spLocks noGrp="1"/>
          </p:cNvSpPr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subTitle" idx="1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33"/>
          <p:cNvSpPr txBox="1">
            <a:spLocks noGrp="1"/>
          </p:cNvSpPr>
          <p:nvPr>
            <p:ph type="body" idx="2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занятие">
  <p:cSld name="CUSTOM_4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sz="27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 1">
  <p:cSld name="CUSTOM_2_1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72" name="Google Shape;27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">
  <p:cSld name="TITLE_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7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7"/>
          <p:cNvSpPr/>
          <p:nvPr/>
        </p:nvSpPr>
        <p:spPr>
          <a:xfrm rot="10800000" flipH="1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">
  <p:cSld name="TITLE_2_3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8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8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8"/>
          <p:cNvSpPr/>
          <p:nvPr/>
        </p:nvSpPr>
        <p:spPr>
          <a:xfrm rot="10800000" flipH="1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8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2">
  <p:cSld name="TITLE_2_3_1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9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9"/>
          <p:cNvSpPr/>
          <p:nvPr/>
        </p:nvSpPr>
        <p:spPr>
          <a:xfrm rot="10800000" flipH="1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9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">
  <p:cSld name="TITLE_2_3_1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0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0"/>
          <p:cNvSpPr/>
          <p:nvPr/>
        </p:nvSpPr>
        <p:spPr>
          <a:xfrm rot="10800000" flipH="1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0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">
  <p:cSld name="TITLE_2_3_1_1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1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1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1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">
  <p:cSld name="TITLE_2_3_1_1_1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 rot="10800000" flipH="1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 1">
  <p:cSld name="TITLE_2_3_1_1_1_1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3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3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ОРЕВНОВАНИЯ">
  <p:cSld name="CUSTOM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4"/>
          <p:cNvPicPr preferRelativeResize="0"/>
          <p:nvPr/>
        </p:nvPicPr>
        <p:blipFill rotWithShape="1">
          <a:blip r:embed="rId2">
            <a:alphaModFix/>
          </a:blip>
          <a:srcRect t="15612" b="902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4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sz="72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4"/>
          <p:cNvSpPr/>
          <p:nvPr/>
        </p:nvSpPr>
        <p:spPr>
          <a:xfrm rot="10800000" flipH="1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4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">
  <p:cSld name="CUSTOM_1_1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5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5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5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45"/>
          <p:cNvSpPr txBox="1">
            <a:spLocks noGrp="1"/>
          </p:cNvSpPr>
          <p:nvPr>
            <p:ph type="body" idx="1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45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4" name="Google Shape;354;p45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5" name="Google Shape;355;p45"/>
          <p:cNvSpPr txBox="1">
            <a:spLocks noGrp="1"/>
          </p:cNvSpPr>
          <p:nvPr>
            <p:ph type="subTitle" idx="4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56" name="Google Shape;356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2">
  <p:cSld name="CUSTOM_1_1_1_4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6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6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4" name="Google Shape;364;p46"/>
          <p:cNvSpPr txBox="1">
            <a:spLocks noGrp="1"/>
          </p:cNvSpPr>
          <p:nvPr>
            <p:ph type="body" idx="1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5" name="Google Shape;365;p46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66" name="Google Shape;36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1">
  <p:cSld name="CUSTOM_1_1_1_3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7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7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7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7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6" name="Google Shape;376;p47"/>
          <p:cNvSpPr txBox="1">
            <a:spLocks noGrp="1"/>
          </p:cNvSpPr>
          <p:nvPr>
            <p:ph type="body" idx="1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7" name="Google Shape;377;p47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8" name="Google Shape;378;p47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79" name="Google Shape;37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/>
          <p:nvPr/>
        </p:nvSpPr>
        <p:spPr>
          <a:xfrm rot="10800000" flipH="1">
            <a:off x="4162568" y="-72"/>
            <a:ext cx="4981500" cy="10632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8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8"/>
          <p:cNvSpPr/>
          <p:nvPr/>
        </p:nvSpPr>
        <p:spPr>
          <a:xfrm rot="10800000" flipH="1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8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48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7" name="Google Shape;387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OBJECT_2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/>
          <p:nvPr/>
        </p:nvSpPr>
        <p:spPr>
          <a:xfrm rot="-5400000" flipH="1">
            <a:off x="5963525" y="1981200"/>
            <a:ext cx="5216400" cy="11811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9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9"/>
          <p:cNvSpPr/>
          <p:nvPr/>
        </p:nvSpPr>
        <p:spPr>
          <a:xfrm rot="10800000" flipH="1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9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4" name="Google Shape;394;p49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5" name="Google Shape;395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колонки">
  <p:cSld name="OBJECT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0"/>
          <p:cNvSpPr/>
          <p:nvPr/>
        </p:nvSpPr>
        <p:spPr>
          <a:xfrm rot="10800000" flipH="1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1" name="Google Shape;401;p50"/>
          <p:cNvSpPr txBox="1">
            <a:spLocks noGrp="1"/>
          </p:cNvSpPr>
          <p:nvPr>
            <p:ph type="body" idx="1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2" name="Google Shape;402;p50"/>
          <p:cNvSpPr txBox="1">
            <a:spLocks noGrp="1"/>
          </p:cNvSpPr>
          <p:nvPr>
            <p:ph type="body" idx="2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3" name="Google Shape;403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">
  <p:cSld name="CUSTOM_3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1"/>
          <p:cNvPicPr preferRelativeResize="0"/>
          <p:nvPr/>
        </p:nvPicPr>
        <p:blipFill rotWithShape="1">
          <a:blip r:embed="rId2">
            <a:alphaModFix/>
          </a:blip>
          <a:srcRect t="5875" b="10910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1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1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1"/>
          <p:cNvSpPr/>
          <p:nvPr/>
        </p:nvSpPr>
        <p:spPr>
          <a:xfrm rot="10800000" flipH="1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6.xml"/><Relationship Id="rId21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49.xml"/><Relationship Id="rId2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50" y="1884938"/>
            <a:ext cx="2484000" cy="585900"/>
          </a:xfrm>
        </p:spPr>
        <p:txBody>
          <a:bodyPr/>
          <a:lstStyle/>
          <a:p>
            <a:r>
              <a:rPr lang="en-US" dirty="0">
                <a:latin typeface="Roboto"/>
                <a:ea typeface="Roboto"/>
                <a:cs typeface="Roboto"/>
              </a:rPr>
              <a:t>ТРИЗ</a:t>
            </a:r>
            <a:endParaRPr lang="en-US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041" y="2131359"/>
            <a:ext cx="4179998" cy="669841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lang="en-US" sz="2100" dirty="0" err="1">
                <a:latin typeface="Roboto"/>
                <a:ea typeface="Roboto"/>
                <a:cs typeface="Roboto"/>
              </a:rPr>
              <a:t>теория</a:t>
            </a:r>
            <a:r>
              <a:rPr lang="en-US" sz="2100" dirty="0">
                <a:latin typeface="Roboto"/>
                <a:ea typeface="Roboto"/>
                <a:cs typeface="Roboto"/>
              </a:rPr>
              <a:t> </a:t>
            </a:r>
            <a:r>
              <a:rPr lang="en-US" sz="2100" dirty="0" err="1">
                <a:latin typeface="Roboto"/>
                <a:ea typeface="Roboto"/>
                <a:cs typeface="Roboto"/>
              </a:rPr>
              <a:t>решения</a:t>
            </a:r>
            <a:endParaRPr lang="en-US" sz="2100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r>
              <a:rPr lang="en-US" sz="2100" dirty="0" err="1">
                <a:latin typeface="Roboto"/>
                <a:ea typeface="Roboto"/>
                <a:cs typeface="Roboto"/>
              </a:rPr>
              <a:t>изобретательских</a:t>
            </a:r>
            <a:r>
              <a:rPr lang="en-US" sz="2100" dirty="0">
                <a:latin typeface="Roboto"/>
                <a:ea typeface="Roboto"/>
                <a:cs typeface="Roboto"/>
              </a:rPr>
              <a:t> </a:t>
            </a:r>
            <a:r>
              <a:rPr lang="en-US" sz="2100" dirty="0" err="1">
                <a:latin typeface="Roboto"/>
                <a:ea typeface="Roboto"/>
                <a:cs typeface="Roboto"/>
              </a:rPr>
              <a:t>задач</a:t>
            </a:r>
            <a:endParaRPr lang="en-US" sz="2100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План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занятия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45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61612" y="938230"/>
            <a:ext cx="9217532" cy="3056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1. Разминка «Юный изобретатель»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3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2. Кто такой изобретатель?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2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3. Теория: ТРИЗ, Альтшуллер, противоречие, ИКР, приёмы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10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4. Практика №1: рюкзак и продукты в походе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8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5. Практика №2: «Бумажный мост»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7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6. Защита идей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4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7. Рефлексия и домашнее задание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2 мин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Кто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такой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изобретатель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?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22559" y="685118"/>
            <a:ext cx="8173743" cy="515513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Roboto"/>
              </a:rPr>
              <a:t>Задание: за 30 секунд придумайте как можно больше способов использования обычной скрепки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480947"/>
            <a:ext cx="7255671" cy="1994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Работаем командами.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Каждая команда записывает идеи на свой листочек.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Правило изобретателей: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идеи не критикуем — записываем всё, даже самое необычное.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Скрепка — это «ресурс».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Уметь видеть ресурсы в обычных вещах — главный навык изобретателя.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7914" y="3796619"/>
            <a:ext cx="7700000" cy="52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Запомните: изобретатель смотрит на обычную вещь и видит в ней новые возможности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Раньше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изобретатели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перебирали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варианты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707678"/>
            <a:ext cx="7910552" cy="578071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Roboto"/>
              </a:rPr>
              <a:t>10 000 материалов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перепробовал Томас Эдисон, прежде чем нашёл нить для лампочки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276" y="1393112"/>
            <a:ext cx="7000000" cy="2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0" i="0">
                <a:solidFill>
                  <a:srgbClr val="262626"/>
                </a:solidFill>
                <a:latin typeface="Roboto"/>
              </a:rPr>
              <a:t>Метод «проб и ошибок» работает, но это долго и дорого: сотни и тысячи вариантов, годы труда.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Эдисон о неудачах: </a:t>
            </a:r>
            <a:r>
              <a:rPr sz="1800" b="0" i="1">
                <a:solidFill>
                  <a:srgbClr val="262626"/>
                </a:solidFill>
                <a:latin typeface="Roboto"/>
              </a:rPr>
              <a:t>«Я не ошибался — я нашёл 10 000 способов, которые не работают».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ТРИЗ предлагает другое: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перебирать вслепую, а решать по правилам — за минуты, а не за годы.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245" y="3803664"/>
            <a:ext cx="7910551" cy="46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Вывод: </a:t>
            </a:r>
            <a:r>
              <a:rPr sz="1700" b="0" i="0">
                <a:solidFill>
                  <a:srgbClr val="262626"/>
                </a:solidFill>
                <a:latin typeface="Roboto"/>
              </a:rPr>
              <a:t>сильные решения не ищут перебором — их строят по законам ТРИЗ.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Что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такое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49606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Т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Теория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7283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Р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Решения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05118" y="699999"/>
            <a:ext cx="1887995" cy="11000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И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Изобретательских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0947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З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080000"/>
            <a:ext cx="7000000" cy="1587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ТРИЗ — это наука о том, как решать задачи без слепого перебора вариантов.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Сильные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решения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строятся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повторяющимся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законам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 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Эти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законы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можно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выучить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применять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Сегодня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освоим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три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инструмента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противоречие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, ИКР и 4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приёма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849" y="3828624"/>
            <a:ext cx="7700000" cy="50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ТРИЗ = Теория Решения Изобретательских Задач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Как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появилась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-80947" y="3353993"/>
            <a:ext cx="3250520" cy="1152515"/>
          </a:xfrm>
          <a:prstGeom prst="ellips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50800" rIns="254000" bIns="50800" rtlCol="0" anchor="ctr"/>
          <a:lstStyle/>
          <a:p>
            <a:pPr algn="ctr">
              <a:spcAft>
                <a:spcPts val="400"/>
              </a:spcAft>
            </a:pPr>
            <a:r>
              <a:rPr sz="1800" b="1" i="0" dirty="0">
                <a:solidFill>
                  <a:srgbClr val="FFFFFF"/>
                </a:solidFill>
                <a:latin typeface="Roboto"/>
              </a:rPr>
              <a:t>Г. Альтшуллер</a:t>
            </a:r>
            <a:endParaRPr lang="ru-RU" sz="1800" b="1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ctr">
              <a:spcAft>
                <a:spcPts val="600"/>
              </a:spcAft>
            </a:pPr>
            <a:r>
              <a:rPr sz="1800" b="0" i="0" dirty="0">
                <a:solidFill>
                  <a:srgbClr val="FFFFFF"/>
                </a:solidFill>
                <a:latin typeface="Roboto"/>
              </a:rPr>
              <a:t>1926–1998</a:t>
            </a:r>
            <a:endParaRPr sz="1800" b="0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ctr">
              <a:spcAft>
                <a:spcPts val="0"/>
              </a:spcAft>
            </a:pPr>
            <a:r>
              <a:rPr sz="1800" b="0" i="0" dirty="0" err="1">
                <a:solidFill>
                  <a:srgbClr val="FFFFFF"/>
                </a:solidFill>
                <a:latin typeface="Roboto"/>
              </a:rPr>
              <a:t>создатель</a:t>
            </a:r>
            <a:r>
              <a:rPr sz="1800" b="0" i="0" dirty="0">
                <a:solidFill>
                  <a:srgbClr val="FFFFFF"/>
                </a:solidFill>
                <a:latin typeface="Roboto"/>
              </a:rPr>
              <a:t> ТРИЗ</a:t>
            </a:r>
            <a:endParaRPr sz="1800" b="0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72954" y="712322"/>
            <a:ext cx="5900000" cy="3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В 17 лет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Альтшуллер изобрёл «мотокар» — машину, которая струёй воздуха спасает записку от огня, не туша его.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Изучив десятки тысяч патентов,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заметил: самые сильные решения повторяются.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В 1946 году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собрал эти закономерности в систему — и назвал её ТРИЗ.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Он учил изобретать каждого: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его книги и сейчас учат думать нестандартно.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82414A-A045-408F-BF91-F24C7D08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48" y="714374"/>
            <a:ext cx="1756086" cy="25115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Противоречие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—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главный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инструмент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94724" y="624960"/>
            <a:ext cx="7993269" cy="710869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ПРОТИВОРЕЧИЕ —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когда одно и то же должно быть «таким» И «не таким» одновременно.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559" y="1485592"/>
            <a:ext cx="372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Хотим: зонт БОЛЬШОЙ</a:t>
            </a:r>
          </a:p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Roboto"/>
              </a:rPr>
              <a:t>чтобы спрятаться от ливня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0000" y="1485592"/>
            <a:ext cx="372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Хотим: зонт МАЛЕНЬКИЙ</a:t>
            </a:r>
          </a:p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Roboto"/>
              </a:rPr>
              <a:t>чтобы помещался в рюкзак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99" y="3260553"/>
            <a:ext cx="7700000" cy="11500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262626"/>
                </a:solidFill>
                <a:latin typeface="Roboto"/>
              </a:rPr>
              <a:t>Одновременно и большой, и маленький?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Это и есть противоречие.</a:t>
            </a:r>
          </a:p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EA621"/>
                </a:solidFill>
                <a:latin typeface="Roboto"/>
              </a:rPr>
              <a:t>Решение ТРИЗ: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зонт-складышка — большой, когда нужен, и маленький, когда в рюкзаке.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ИКР —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Идеальный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Конечный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Результат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40000"/>
            <a:ext cx="7797756" cy="580473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ИКР: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представь, как задача решается САМА — «по идеалу», без затрат.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377914"/>
            <a:ext cx="70000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Системы нет, а результат есть: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посуда моется сама, свет зажигается без щелчка.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Чем ближе твоё решение к ИКР —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тем оно сильнее и проще.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0" i="0">
                <a:solidFill>
                  <a:srgbClr val="262626"/>
                </a:solidFill>
                <a:latin typeface="Roboto"/>
              </a:rPr>
              <a:t>ИКР почти никогда не выполняется на 100%, </a:t>
            </a:r>
            <a:r>
              <a:rPr sz="1800" b="1" i="0">
                <a:solidFill>
                  <a:srgbClr val="262626"/>
                </a:solidFill>
                <a:latin typeface="Roboto"/>
              </a:rPr>
              <a:t>но он показывает верное направление.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3681105"/>
            <a:ext cx="7700000" cy="52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Roboto"/>
              </a:rPr>
              <a:t>Помни: сначала сформулируй ИКР — и только потом ищи ответ!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приёма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которые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решают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: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1691" y="825276"/>
            <a:ext cx="3720000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ДРОБЛЕНИЕ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Раздели объект на части: шоколад на дольки, лист на полоски.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6967" y="825276"/>
            <a:ext cx="3915513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ОБЪЕДИНЕНИЕ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Соедини полезное в одном: ручка с ластиком, мост из слоёв бумаги.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691" y="2570632"/>
            <a:ext cx="3720000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МАТРЁШКА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Вложи одно в другое: стопка бумаг, складная мебель.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7" y="2570632"/>
            <a:ext cx="3915513" cy="136736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НАОБОРОТ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Сделай наоборот: груз не тащим — пусть катится сам.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Задача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Тяжёлый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рюкзак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24961"/>
            <a:ext cx="8316617" cy="9401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FEA621"/>
                </a:solidFill>
                <a:latin typeface="Roboto"/>
              </a:rPr>
              <a:t>Ситуация</a:t>
            </a:r>
            <a:r>
              <a:rPr lang="ru-RU" sz="1700" b="1" dirty="0">
                <a:solidFill>
                  <a:srgbClr val="FEA621"/>
                </a:solidFill>
                <a:latin typeface="Roboto"/>
              </a:rPr>
              <a:t>:</a:t>
            </a:r>
            <a:endParaRPr lang="ru-RU" sz="1700" b="1" i="0" dirty="0">
              <a:solidFill>
                <a:srgbClr val="FEA621"/>
              </a:solidFill>
              <a:latin typeface="Roboto"/>
              <a:ea typeface="Roboto"/>
              <a:cs typeface="Roboto"/>
            </a:endParaRPr>
          </a:p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262626"/>
                </a:solidFill>
                <a:latin typeface="Roboto"/>
              </a:rPr>
              <a:t>Каждое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утро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ученик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тащит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в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школу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тяжёлый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рюкзак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там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все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учебники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 А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выбросить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ничего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нельзя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—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всё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нужно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</a:t>
            </a:r>
            <a:endParaRPr sz="1800" b="0" i="0" dirty="0">
              <a:solidFill>
                <a:srgbClr val="262626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0000" y="1620000"/>
            <a:ext cx="8316617" cy="600473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сделай рюкзак лёгким так, чтобы всё нужное осталось под рукой.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243" y="2295196"/>
            <a:ext cx="7210553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Подумай: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что на самом деле делает рюкзак тяжёлым? Какие учебники нужны сегодня, а какие нет?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Какие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приёмы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помогут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ДРОБЛЕНИЕ, ОБЪЕДИНЕНИЕ, НАОБОРОТ?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ИКР: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рюкзак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становится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лёгким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как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только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что-то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перестаёт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быть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нужным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243" y="3920947"/>
            <a:ext cx="8316617" cy="595356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Сильное решение найдёт та команда, которая сначала сформулирует ИКР, а потом будет искать приёмы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Задача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Продукты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в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походе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40000"/>
            <a:ext cx="77000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FEA621"/>
                </a:solidFill>
                <a:latin typeface="Roboto"/>
              </a:rPr>
              <a:t>Ситуация</a:t>
            </a:r>
            <a:r>
              <a:rPr lang="ru-RU" sz="1700" b="1" dirty="0">
                <a:solidFill>
                  <a:srgbClr val="FEA621"/>
                </a:solidFill>
                <a:latin typeface="Roboto"/>
              </a:rPr>
              <a:t>:</a:t>
            </a:r>
            <a:endParaRPr lang="ru-RU" sz="1700" b="1" i="0" dirty="0">
              <a:solidFill>
                <a:srgbClr val="FEA621"/>
              </a:solidFill>
              <a:latin typeface="Roboto"/>
              <a:ea typeface="Roboto"/>
              <a:cs typeface="Roboto"/>
            </a:endParaRPr>
          </a:p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262626"/>
                </a:solidFill>
                <a:latin typeface="Roboto"/>
              </a:rPr>
              <a:t>Семья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идёт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в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однодневный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поход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 Хочется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есть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вкусно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полезно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нести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тяжело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, а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продукты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портятся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</a:t>
            </a:r>
            <a:endParaRPr sz="1800" b="0" i="0" dirty="0">
              <a:solidFill>
                <a:srgbClr val="262626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0000" y="1620000"/>
            <a:ext cx="7700000" cy="610394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собери обед на день так, чтобы было и вкусно, и легко, и ничего не испортилось.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240000"/>
            <a:ext cx="7000000" cy="178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Выбирай лёгкое и сытное: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орехи, сухофрукты, батончики, бутерброды.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Свежее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быстро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портится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бери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что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переживёт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день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Горячее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— в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термосе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ИКР: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еда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сохраняется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утоляет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голод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почти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ничего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весит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243" y="4023664"/>
            <a:ext cx="7700000" cy="44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Вспомни приёмы: ОБЪЕДИНЕНИЕ и НАОБОРОТ — лучшие друзья туриста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Практика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№2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Бумажный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мост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7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60000"/>
            <a:ext cx="1095236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лист А4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7797" y="660000"/>
            <a:ext cx="1275709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ножницы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3586" y="660000"/>
            <a:ext cx="1000592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скотч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01697" y="660000"/>
            <a:ext cx="1695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2 книги-опоры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24296" y="660000"/>
            <a:ext cx="1465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ластик-груз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1120000"/>
            <a:ext cx="7700000" cy="640000"/>
          </a:xfrm>
          <a:prstGeom prst="roundRect">
            <a:avLst>
              <a:gd name="adj" fmla="val 10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построй мост из ОДНОГО листа А4 между двумя книгами, который выдержит ластик не меньше 5 секунд.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888" y="2090552"/>
            <a:ext cx="880540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EA621"/>
                </a:solidFill>
                <a:latin typeface="Roboto"/>
              </a:rPr>
              <a:t>Проверка: </a:t>
            </a:r>
            <a:r>
              <a:rPr sz="1700" b="0" i="0">
                <a:solidFill>
                  <a:srgbClr val="262626"/>
                </a:solidFill>
                <a:latin typeface="Roboto"/>
              </a:rPr>
              <a:t>пролёт не меньше 8 см · мост стоит сам · только выданные материалы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402" y="2966224"/>
            <a:ext cx="8443789" cy="1165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Сложи лист «гармошкой» —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станет жёсткой балкой.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Сделай рёбра жёсткости: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загни края, как у гофрокартона.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Приём «наоборот»: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ищем толстый материал — усиливаем форму.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Как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докладывать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решение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3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36809" y="680000"/>
            <a:ext cx="182319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1 Проблема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30000" y="680000"/>
            <a:ext cx="2071341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2 Противоречие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6382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3 ИКР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1342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4 Приёмы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9020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5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620632"/>
            <a:ext cx="7000000" cy="1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За 1 минуту команда проходит шаги 1–5: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так получается короткий и понятный рассказ о решении.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Говорят все, кто придумал.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читают листочек, а рассказывают своими словами.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Побеждает не «правильный ответ»,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а ход мысли — ТРИЗ-алгоритм.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3841264"/>
            <a:ext cx="7782717" cy="527677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1 минута на команду · слушаем всех · обязательный дежурный вопрос: «Где здесь противоречие?»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Рефлексия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: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чему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мы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научились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2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5118" y="1497092"/>
            <a:ext cx="8774656" cy="1260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1. 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Объясни соседу своими словами, что такое противоречие.</a:t>
            </a:r>
            <a:endParaRPr lang="ru-RU" sz="20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2.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Назови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два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ТРИЗ-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приёма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из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сегодняшнего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урока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3.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Придумай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где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дома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ты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уже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сегодня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применишь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ТРИЗ.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1500000"/>
            <a:ext cx="7700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EA621"/>
                </a:solidFill>
                <a:latin typeface="Roboto"/>
              </a:rPr>
              <a:t>Спасибо за идеи!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60000"/>
            <a:ext cx="62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2626"/>
                </a:solidFill>
                <a:latin typeface="Roboto"/>
              </a:rPr>
              <a:t>ТРИЗ — это не магия, а навык: находи противоречие, рисуй ИКР, применяй приёмы.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3400000"/>
            <a:ext cx="6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Roboto"/>
              </a:rPr>
              <a:t>Школа изобретателей «Эра Инженеров» · era.obraz.pro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(16:9)</PresentationFormat>
  <Slides>19</Slides>
  <Notes>0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Тема Office</vt:lpstr>
      <vt:lpstr>Тема Office</vt:lpstr>
      <vt:lpstr>ТРИЗ </vt:lpstr>
      <vt:lpstr>План занятия · 45 минут </vt:lpstr>
      <vt:lpstr>Презентация PowerPoint</vt:lpstr>
      <vt:lpstr>Кто такой изобретатель? </vt:lpstr>
      <vt:lpstr>Презентация PowerPoint</vt:lpstr>
      <vt:lpstr>Раньше изобретатели перебирали варианты </vt:lpstr>
      <vt:lpstr>Что такое ТРИЗ </vt:lpstr>
      <vt:lpstr>Как появилась ТРИЗ </vt:lpstr>
      <vt:lpstr>Противоречие — главный инструмент ТРИЗ </vt:lpstr>
      <vt:lpstr>ИКР — Идеальный Конечный Результат </vt:lpstr>
      <vt:lpstr>4 приёма, которые решают задачи: </vt:lpstr>
      <vt:lpstr>Презентация PowerPoint</vt:lpstr>
      <vt:lpstr>Задача «Тяжёлый рюкзак» · 4 минуты </vt:lpstr>
      <vt:lpstr>Задача «Продукты в походе» · 4 минуты </vt:lpstr>
      <vt:lpstr>Практика №2 «Бумажный мост» · 7 минут </vt:lpstr>
      <vt:lpstr>Презентация PowerPoint</vt:lpstr>
      <vt:lpstr>Как докладывать решение · 3 минуты </vt:lpstr>
      <vt:lpstr>Рефлексия: чему мы научились · 2 минуты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110</cp:revision>
  <dcterms:modified xsi:type="dcterms:W3CDTF">2026-09-18T08:53:16Z</dcterms:modified>
</cp:coreProperties>
</file>